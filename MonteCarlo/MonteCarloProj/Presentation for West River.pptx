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3" r:id="rId3"/>
    <p:sldId id="264" r:id="rId4"/>
    <p:sldId id="265" r:id="rId5"/>
    <p:sldId id="266" r:id="rId6"/>
    <p:sldId id="269" r:id="rId7"/>
    <p:sldId id="271" r:id="rId8"/>
    <p:sldId id="272" r:id="rId9"/>
    <p:sldId id="273" r:id="rId10"/>
    <p:sldId id="274" r:id="rId11"/>
    <p:sldId id="275" r:id="rId12"/>
    <p:sldId id="268" r:id="rId13"/>
    <p:sldId id="270" r:id="rId14"/>
    <p:sldId id="267" r:id="rId15"/>
    <p:sldId id="258" r:id="rId16"/>
    <p:sldId id="260" r:id="rId17"/>
    <p:sldId id="261" r:id="rId18"/>
    <p:sldId id="262" r:id="rId19"/>
    <p:sldId id="259" r:id="rId20"/>
    <p:sldId id="257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7" autoAdjust="0"/>
    <p:restoredTop sz="94660"/>
  </p:normalViewPr>
  <p:slideViewPr>
    <p:cSldViewPr snapToGrid="0">
      <p:cViewPr>
        <p:scale>
          <a:sx n="66" d="100"/>
          <a:sy n="66" d="100"/>
        </p:scale>
        <p:origin x="225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41016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11663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55873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45662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06385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41732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59058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70166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85590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18727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329183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84531369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67032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724315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820488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153114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58695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658E1C9A-47F7-4494-B9B8-0D060B88ACB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429870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7C83FD-EB31-5518-6A59-7C2E9A326F1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Presentation for West River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B891836-D58B-5389-0008-54551E15A12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58677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51885E-7E45-1838-C5CE-F10B02BE33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Experimental Setup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7979D269-78B7-1CB2-DED0-0A47B66C735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67246" y="2736970"/>
            <a:ext cx="4010054" cy="299087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AB91F91-4097-493D-65AB-5A166AFFB7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6568" y="2979859"/>
            <a:ext cx="3562376" cy="2505093"/>
          </a:xfrm>
          <a:prstGeom prst="rect">
            <a:avLst/>
          </a:prstGeom>
        </p:spPr>
      </p:pic>
      <p:sp>
        <p:nvSpPr>
          <p:cNvPr id="10" name="Oval 9">
            <a:extLst>
              <a:ext uri="{FF2B5EF4-FFF2-40B4-BE49-F238E27FC236}">
                <a16:creationId xmlns:a16="http://schemas.microsoft.com/office/drawing/2014/main" id="{A1E60410-D2D2-80E1-8BB0-68BD9497A657}"/>
              </a:ext>
            </a:extLst>
          </p:cNvPr>
          <p:cNvSpPr/>
          <p:nvPr/>
        </p:nvSpPr>
        <p:spPr>
          <a:xfrm>
            <a:off x="2406649" y="4013199"/>
            <a:ext cx="212725" cy="244475"/>
          </a:xfrm>
          <a:prstGeom prst="ellipse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E91E650-593F-1E09-81AB-496D0BD94930}"/>
              </a:ext>
            </a:extLst>
          </p:cNvPr>
          <p:cNvSpPr txBox="1"/>
          <p:nvPr/>
        </p:nvSpPr>
        <p:spPr>
          <a:xfrm>
            <a:off x="4013199" y="2295525"/>
            <a:ext cx="14541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The source</a:t>
            </a:r>
          </a:p>
        </p:txBody>
      </p:sp>
      <p:cxnSp>
        <p:nvCxnSpPr>
          <p:cNvPr id="15" name="Connector: Curved 14">
            <a:extLst>
              <a:ext uri="{FF2B5EF4-FFF2-40B4-BE49-F238E27FC236}">
                <a16:creationId xmlns:a16="http://schemas.microsoft.com/office/drawing/2014/main" id="{80FD5669-7FE1-BA61-9F4F-F229D21DB396}"/>
              </a:ext>
            </a:extLst>
          </p:cNvPr>
          <p:cNvCxnSpPr>
            <a:cxnSpLocks/>
            <a:stCxn id="10" idx="6"/>
            <a:endCxn id="11" idx="1"/>
          </p:cNvCxnSpPr>
          <p:nvPr/>
        </p:nvCxnSpPr>
        <p:spPr>
          <a:xfrm flipV="1">
            <a:off x="2619374" y="2464802"/>
            <a:ext cx="1393825" cy="1670635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344CB1B2-1D9D-7F03-DCF9-43633DE715E9}"/>
              </a:ext>
            </a:extLst>
          </p:cNvPr>
          <p:cNvSpPr txBox="1"/>
          <p:nvPr/>
        </p:nvSpPr>
        <p:spPr>
          <a:xfrm>
            <a:off x="4743449" y="4197350"/>
            <a:ext cx="146356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Domain Boundary</a:t>
            </a:r>
          </a:p>
        </p:txBody>
      </p:sp>
      <p:cxnSp>
        <p:nvCxnSpPr>
          <p:cNvPr id="19" name="Connector: Curved 18">
            <a:extLst>
              <a:ext uri="{FF2B5EF4-FFF2-40B4-BE49-F238E27FC236}">
                <a16:creationId xmlns:a16="http://schemas.microsoft.com/office/drawing/2014/main" id="{B28DB5EB-C3BF-1505-4C8D-69869071366C}"/>
              </a:ext>
            </a:extLst>
          </p:cNvPr>
          <p:cNvCxnSpPr>
            <a:cxnSpLocks/>
            <a:endCxn id="17" idx="1"/>
          </p:cNvCxnSpPr>
          <p:nvPr/>
        </p:nvCxnSpPr>
        <p:spPr>
          <a:xfrm>
            <a:off x="4378325" y="4314825"/>
            <a:ext cx="365124" cy="174913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34597057-9281-2B75-01EC-8ACEAC1FCDEC}"/>
              </a:ext>
            </a:extLst>
          </p:cNvPr>
          <p:cNvSpPr/>
          <p:nvPr/>
        </p:nvSpPr>
        <p:spPr>
          <a:xfrm>
            <a:off x="7294077" y="3484562"/>
            <a:ext cx="1425575" cy="1425575"/>
          </a:xfrm>
          <a:prstGeom prst="ellipse">
            <a:avLst/>
          </a:prstGeom>
          <a:noFill/>
          <a:ln w="9525" cap="flat" cmpd="sng" algn="ctr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680CB751-AAB9-858F-647A-4FA0D7604A12}"/>
              </a:ext>
            </a:extLst>
          </p:cNvPr>
          <p:cNvSpPr/>
          <p:nvPr/>
        </p:nvSpPr>
        <p:spPr>
          <a:xfrm>
            <a:off x="7322926" y="3513411"/>
            <a:ext cx="1367875" cy="1367875"/>
          </a:xfrm>
          <a:prstGeom prst="ellipse">
            <a:avLst/>
          </a:prstGeom>
          <a:noFill/>
          <a:ln w="9525" cap="flat" cmpd="sng" algn="ctr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28882FF-07FF-6165-7054-61A776DFEDB0}"/>
              </a:ext>
            </a:extLst>
          </p:cNvPr>
          <p:cNvSpPr txBox="1"/>
          <p:nvPr/>
        </p:nvSpPr>
        <p:spPr>
          <a:xfrm>
            <a:off x="7896224" y="2531528"/>
            <a:ext cx="23114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Zone(1) of interest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A62EA7DA-8570-1224-F1F7-B0127DC73EF8}"/>
              </a:ext>
            </a:extLst>
          </p:cNvPr>
          <p:cNvCxnSpPr/>
          <p:nvPr/>
        </p:nvCxnSpPr>
        <p:spPr>
          <a:xfrm flipV="1">
            <a:off x="8197756" y="3984625"/>
            <a:ext cx="1270095" cy="21272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F5A34D47-6D1C-904F-88DE-F7CB0E4DF642}"/>
              </a:ext>
            </a:extLst>
          </p:cNvPr>
          <p:cNvCxnSpPr>
            <a:cxnSpLocks/>
          </p:cNvCxnSpPr>
          <p:nvPr/>
        </p:nvCxnSpPr>
        <p:spPr>
          <a:xfrm>
            <a:off x="8197755" y="4220232"/>
            <a:ext cx="1270095" cy="21272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F8164D63-2122-6D15-236F-8CBCB67ABA74}"/>
              </a:ext>
            </a:extLst>
          </p:cNvPr>
          <p:cNvCxnSpPr/>
          <p:nvPr/>
        </p:nvCxnSpPr>
        <p:spPr>
          <a:xfrm>
            <a:off x="9467850" y="3984625"/>
            <a:ext cx="0" cy="44833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36340BF6-8631-0EEE-55D3-9397A3FE36EE}"/>
              </a:ext>
            </a:extLst>
          </p:cNvPr>
          <p:cNvSpPr txBox="1"/>
          <p:nvPr/>
        </p:nvSpPr>
        <p:spPr>
          <a:xfrm>
            <a:off x="10216048" y="4740860"/>
            <a:ext cx="21305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Zone(2) of interest</a:t>
            </a:r>
          </a:p>
        </p:txBody>
      </p:sp>
      <p:cxnSp>
        <p:nvCxnSpPr>
          <p:cNvPr id="33" name="Connector: Curved 32">
            <a:extLst>
              <a:ext uri="{FF2B5EF4-FFF2-40B4-BE49-F238E27FC236}">
                <a16:creationId xmlns:a16="http://schemas.microsoft.com/office/drawing/2014/main" id="{4987ABB5-9CA5-8241-A4DD-D8F94585A0BA}"/>
              </a:ext>
            </a:extLst>
          </p:cNvPr>
          <p:cNvCxnSpPr>
            <a:cxnSpLocks/>
            <a:endCxn id="25" idx="1"/>
          </p:cNvCxnSpPr>
          <p:nvPr/>
        </p:nvCxnSpPr>
        <p:spPr>
          <a:xfrm rot="5400000" flipH="1" flipV="1">
            <a:off x="7193989" y="3012516"/>
            <a:ext cx="1013946" cy="39052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36" name="Connector: Curved 35">
            <a:extLst>
              <a:ext uri="{FF2B5EF4-FFF2-40B4-BE49-F238E27FC236}">
                <a16:creationId xmlns:a16="http://schemas.microsoft.com/office/drawing/2014/main" id="{C105E3A2-5B12-362D-2BBD-41ADEDE4416A}"/>
              </a:ext>
            </a:extLst>
          </p:cNvPr>
          <p:cNvCxnSpPr>
            <a:cxnSpLocks/>
            <a:endCxn id="31" idx="0"/>
          </p:cNvCxnSpPr>
          <p:nvPr/>
        </p:nvCxnSpPr>
        <p:spPr>
          <a:xfrm>
            <a:off x="9239250" y="4283075"/>
            <a:ext cx="2042058" cy="457785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7FA885E1-9B3B-36F2-C04E-BF29C9BB9DF5}"/>
              </a:ext>
            </a:extLst>
          </p:cNvPr>
          <p:cNvSpPr txBox="1"/>
          <p:nvPr/>
        </p:nvSpPr>
        <p:spPr>
          <a:xfrm>
            <a:off x="647922" y="5792896"/>
            <a:ext cx="42487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3D image of the experimental setup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4F7F0FB-27E7-7596-EC56-19CA6574F7A4}"/>
              </a:ext>
            </a:extLst>
          </p:cNvPr>
          <p:cNvSpPr txBox="1"/>
          <p:nvPr/>
        </p:nvSpPr>
        <p:spPr>
          <a:xfrm>
            <a:off x="6073404" y="5551505"/>
            <a:ext cx="42487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X-Z plane of the experimental setup</a:t>
            </a:r>
          </a:p>
        </p:txBody>
      </p:sp>
    </p:spTree>
    <p:extLst>
      <p:ext uri="{BB962C8B-B14F-4D97-AF65-F5344CB8AC3E}">
        <p14:creationId xmlns:p14="http://schemas.microsoft.com/office/powerpoint/2010/main" val="28675577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3843A8-74B2-78E6-FCA9-17B2EACE42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Simulation Innerworkings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13BAC1-1CF2-92D1-B9E7-C497CD6672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dirty="0"/>
              <a:t>Photon launches with a packet weight 1 and direction v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Based on an exponential distribution based on the scattering coefficient (</a:t>
            </a:r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μ</a:t>
            </a:r>
            <a:r>
              <a:rPr lang="en-US" baseline="-25000" dirty="0">
                <a:latin typeface="Cambria Math" panose="02040503050406030204" pitchFamily="18" charset="0"/>
                <a:ea typeface="Cambria Math" panose="02040503050406030204" pitchFamily="18" charset="0"/>
              </a:rPr>
              <a:t>s</a:t>
            </a:r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</a:rPr>
              <a:t>) of the current voxel, it  decides how many voxels to travel in v direction.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</a:rPr>
              <a:t>Steps 1 voxel in v direction and looses packet weight based on the absorption coefficient </a:t>
            </a:r>
            <a:r>
              <a:rPr lang="en-US" dirty="0"/>
              <a:t>(</a:t>
            </a:r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μ</a:t>
            </a:r>
            <a:r>
              <a:rPr lang="en-US" baseline="-25000" dirty="0">
                <a:latin typeface="Cambria Math" panose="02040503050406030204" pitchFamily="18" charset="0"/>
                <a:ea typeface="Cambria Math" panose="02040503050406030204" pitchFamily="18" charset="0"/>
              </a:rPr>
              <a:t>a</a:t>
            </a:r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</a:rPr>
              <a:t>) 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</a:rPr>
              <a:t>The packet weight is added to its current voxel’s raw probability,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</a:rPr>
              <a:t>The previous 2 steps are repeated until the package reaches the next scattering voxel decided in the second step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</a:rPr>
              <a:t>Calculate a new scattering direction vector: the azimuth and zenith scattering angles are computed, respectively, by a random number uniformly distributed in [0,2pi] and a random number between [0,pi) following an assigned phase function.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</a:rPr>
              <a:t>Repeat from step 2 until the max time is reached or the photon exits the domain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</a:rPr>
              <a:t>Repeat all steps for next photon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94446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E5E6297A-D824-851D-1682-E7DB224153CD}"/>
              </a:ext>
            </a:extLst>
          </p:cNvPr>
          <p:cNvSpPr/>
          <p:nvPr/>
        </p:nvSpPr>
        <p:spPr>
          <a:xfrm>
            <a:off x="53009" y="1358348"/>
            <a:ext cx="11940208" cy="4671391"/>
          </a:xfrm>
          <a:prstGeom prst="rect">
            <a:avLst/>
          </a:prstGeom>
          <a:noFill/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A58B961-E562-FC88-8A0E-3FC06955C401}"/>
              </a:ext>
            </a:extLst>
          </p:cNvPr>
          <p:cNvSpPr/>
          <p:nvPr/>
        </p:nvSpPr>
        <p:spPr>
          <a:xfrm>
            <a:off x="114504" y="1842052"/>
            <a:ext cx="1881809" cy="1152940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Photon Launches with weight 1 in v </a:t>
            </a:r>
            <a:r>
              <a:rPr lang="en-US" dirty="0" err="1"/>
              <a:t>dir</a:t>
            </a:r>
            <a:endParaRPr lang="en-US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FA17908-4E4A-2C7B-8F3E-38AE0389FF97}"/>
              </a:ext>
            </a:extLst>
          </p:cNvPr>
          <p:cNvSpPr/>
          <p:nvPr/>
        </p:nvSpPr>
        <p:spPr>
          <a:xfrm>
            <a:off x="3730895" y="2803461"/>
            <a:ext cx="1129340" cy="1152940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E99E545-9608-7184-1081-9E7EC5F60C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0816" y="2746514"/>
            <a:ext cx="1543061" cy="1266834"/>
          </a:xfrm>
          <a:prstGeom prst="rect">
            <a:avLst/>
          </a:prstGeom>
        </p:spPr>
      </p:pic>
      <p:sp>
        <p:nvSpPr>
          <p:cNvPr id="11" name="Arrow: Right 10">
            <a:extLst>
              <a:ext uri="{FF2B5EF4-FFF2-40B4-BE49-F238E27FC236}">
                <a16:creationId xmlns:a16="http://schemas.microsoft.com/office/drawing/2014/main" id="{519AE099-0597-5E63-4686-68D2FB27CCD5}"/>
              </a:ext>
            </a:extLst>
          </p:cNvPr>
          <p:cNvSpPr/>
          <p:nvPr/>
        </p:nvSpPr>
        <p:spPr>
          <a:xfrm>
            <a:off x="2110816" y="1842052"/>
            <a:ext cx="6096006" cy="1152940"/>
          </a:xfrm>
          <a:prstGeom prst="righ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Based on </a:t>
            </a:r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μ</a:t>
            </a:r>
            <a:r>
              <a:rPr lang="en-US" baseline="-25000" dirty="0">
                <a:latin typeface="Cambria Math" panose="02040503050406030204" pitchFamily="18" charset="0"/>
                <a:ea typeface="Cambria Math" panose="02040503050406030204" pitchFamily="18" charset="0"/>
              </a:rPr>
              <a:t>s</a:t>
            </a:r>
            <a:r>
              <a:rPr lang="en-US" dirty="0"/>
              <a:t>, photon travels n voxels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C05261AD-26CE-077F-A73A-9E0CAB08E63D}"/>
              </a:ext>
            </a:extLst>
          </p:cNvPr>
          <p:cNvSpPr/>
          <p:nvPr/>
        </p:nvSpPr>
        <p:spPr>
          <a:xfrm>
            <a:off x="4046930" y="3131296"/>
            <a:ext cx="497269" cy="497269"/>
          </a:xfrm>
          <a:prstGeom prst="ellipse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B3E8AE43-0D28-F6DC-0FC1-3121AEBF9B70}"/>
              </a:ext>
            </a:extLst>
          </p:cNvPr>
          <p:cNvSpPr/>
          <p:nvPr/>
        </p:nvSpPr>
        <p:spPr>
          <a:xfrm>
            <a:off x="4937253" y="2803461"/>
            <a:ext cx="1129340" cy="1152940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CED25659-77B4-9FF8-C456-39935DD55A9C}"/>
              </a:ext>
            </a:extLst>
          </p:cNvPr>
          <p:cNvSpPr/>
          <p:nvPr/>
        </p:nvSpPr>
        <p:spPr>
          <a:xfrm>
            <a:off x="5326176" y="3209766"/>
            <a:ext cx="319252" cy="319252"/>
          </a:xfrm>
          <a:prstGeom prst="ellipse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7870FDC6-969A-4902-83E7-BDBF27EDAC0E}"/>
              </a:ext>
            </a:extLst>
          </p:cNvPr>
          <p:cNvSpPr/>
          <p:nvPr/>
        </p:nvSpPr>
        <p:spPr>
          <a:xfrm>
            <a:off x="6143611" y="2776801"/>
            <a:ext cx="1129340" cy="1152940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DA79CE46-865E-A188-6C39-74E03E74C1B4}"/>
              </a:ext>
            </a:extLst>
          </p:cNvPr>
          <p:cNvSpPr/>
          <p:nvPr/>
        </p:nvSpPr>
        <p:spPr>
          <a:xfrm>
            <a:off x="6532533" y="3226958"/>
            <a:ext cx="242479" cy="242479"/>
          </a:xfrm>
          <a:prstGeom prst="ellipse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Connector: Curved 26">
            <a:extLst>
              <a:ext uri="{FF2B5EF4-FFF2-40B4-BE49-F238E27FC236}">
                <a16:creationId xmlns:a16="http://schemas.microsoft.com/office/drawing/2014/main" id="{7EF43584-8A09-DF8D-E946-B0FE437CAA09}"/>
              </a:ext>
            </a:extLst>
          </p:cNvPr>
          <p:cNvCxnSpPr>
            <a:stCxn id="8" idx="2"/>
            <a:endCxn id="15" idx="2"/>
          </p:cNvCxnSpPr>
          <p:nvPr/>
        </p:nvCxnSpPr>
        <p:spPr>
          <a:xfrm rot="16200000" flipH="1">
            <a:off x="4898744" y="3353222"/>
            <a:ext cx="12700" cy="1206358"/>
          </a:xfrm>
          <a:prstGeom prst="curvedConnector3">
            <a:avLst>
              <a:gd name="adj1" fmla="val 180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Connector: Curved 27">
            <a:extLst>
              <a:ext uri="{FF2B5EF4-FFF2-40B4-BE49-F238E27FC236}">
                <a16:creationId xmlns:a16="http://schemas.microsoft.com/office/drawing/2014/main" id="{A0717F08-B786-FF34-5EAC-26C9DA0DB85C}"/>
              </a:ext>
            </a:extLst>
          </p:cNvPr>
          <p:cNvCxnSpPr/>
          <p:nvPr/>
        </p:nvCxnSpPr>
        <p:spPr>
          <a:xfrm rot="16200000" flipH="1">
            <a:off x="6097142" y="3334171"/>
            <a:ext cx="12700" cy="1206358"/>
          </a:xfrm>
          <a:prstGeom prst="curvedConnector3">
            <a:avLst>
              <a:gd name="adj1" fmla="val 180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Oval 28">
            <a:extLst>
              <a:ext uri="{FF2B5EF4-FFF2-40B4-BE49-F238E27FC236}">
                <a16:creationId xmlns:a16="http://schemas.microsoft.com/office/drawing/2014/main" id="{614E54FC-995B-9FD9-B4D0-A9CFAEA84012}"/>
              </a:ext>
            </a:extLst>
          </p:cNvPr>
          <p:cNvSpPr/>
          <p:nvPr/>
        </p:nvSpPr>
        <p:spPr>
          <a:xfrm>
            <a:off x="7427844" y="3348197"/>
            <a:ext cx="92765" cy="92765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26E07292-A4D4-72BA-E678-155CB70D2120}"/>
              </a:ext>
            </a:extLst>
          </p:cNvPr>
          <p:cNvSpPr/>
          <p:nvPr/>
        </p:nvSpPr>
        <p:spPr>
          <a:xfrm>
            <a:off x="7661873" y="3348197"/>
            <a:ext cx="92765" cy="92765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258315BD-41CC-6F90-B553-8AE5999C2239}"/>
              </a:ext>
            </a:extLst>
          </p:cNvPr>
          <p:cNvSpPr/>
          <p:nvPr/>
        </p:nvSpPr>
        <p:spPr>
          <a:xfrm>
            <a:off x="7895902" y="3348197"/>
            <a:ext cx="92765" cy="92765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A54670A-1960-82BB-9C71-DF05F66283AB}"/>
              </a:ext>
            </a:extLst>
          </p:cNvPr>
          <p:cNvSpPr txBox="1"/>
          <p:nvPr/>
        </p:nvSpPr>
        <p:spPr>
          <a:xfrm>
            <a:off x="7609733" y="3469437"/>
            <a:ext cx="492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n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AEE55A7-84BF-6E4B-6CB7-FBDF4CC8589A}"/>
              </a:ext>
            </a:extLst>
          </p:cNvPr>
          <p:cNvSpPr txBox="1"/>
          <p:nvPr/>
        </p:nvSpPr>
        <p:spPr>
          <a:xfrm>
            <a:off x="3637150" y="4161015"/>
            <a:ext cx="35999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Weight is reduced based on </a:t>
            </a:r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μ</a:t>
            </a:r>
            <a:r>
              <a:rPr lang="en-US" baseline="-25000" dirty="0">
                <a:latin typeface="Cambria Math" panose="02040503050406030204" pitchFamily="18" charset="0"/>
                <a:ea typeface="Cambria Math" panose="02040503050406030204" pitchFamily="18" charset="0"/>
              </a:rPr>
              <a:t>a</a:t>
            </a:r>
            <a:r>
              <a:rPr lang="en-US" dirty="0"/>
              <a:t>  </a:t>
            </a: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2CED0CBE-4FA2-0A39-27D5-62030A9E7494}"/>
              </a:ext>
            </a:extLst>
          </p:cNvPr>
          <p:cNvSpPr/>
          <p:nvPr/>
        </p:nvSpPr>
        <p:spPr>
          <a:xfrm>
            <a:off x="8335618" y="1795669"/>
            <a:ext cx="1663148" cy="1152940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New scatter direction is determined</a:t>
            </a:r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53483FE8-D6C3-9B74-285A-09BD500A65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156" y="265467"/>
            <a:ext cx="9446193" cy="615176"/>
          </a:xfrm>
          <a:prstGeom prst="rect">
            <a:avLst/>
          </a:prstGeom>
          <a:ln>
            <a:solidFill>
              <a:schemeClr val="bg1"/>
            </a:solidFill>
          </a:ln>
        </p:spPr>
      </p:pic>
      <p:cxnSp>
        <p:nvCxnSpPr>
          <p:cNvPr id="43" name="Connector: Curved 42">
            <a:extLst>
              <a:ext uri="{FF2B5EF4-FFF2-40B4-BE49-F238E27FC236}">
                <a16:creationId xmlns:a16="http://schemas.microsoft.com/office/drawing/2014/main" id="{0E84804B-640A-9B18-7608-E5DB48BBBEBE}"/>
              </a:ext>
            </a:extLst>
          </p:cNvPr>
          <p:cNvCxnSpPr>
            <a:cxnSpLocks/>
          </p:cNvCxnSpPr>
          <p:nvPr/>
        </p:nvCxnSpPr>
        <p:spPr>
          <a:xfrm rot="16200000" flipV="1">
            <a:off x="6562551" y="-776815"/>
            <a:ext cx="915026" cy="4229939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6" name="Arrow: Right 45">
            <a:extLst>
              <a:ext uri="{FF2B5EF4-FFF2-40B4-BE49-F238E27FC236}">
                <a16:creationId xmlns:a16="http://schemas.microsoft.com/office/drawing/2014/main" id="{55D8F6E7-FEDD-F497-CCD5-4F9E8ABF1236}"/>
              </a:ext>
            </a:extLst>
          </p:cNvPr>
          <p:cNvSpPr/>
          <p:nvPr/>
        </p:nvSpPr>
        <p:spPr>
          <a:xfrm rot="5400000">
            <a:off x="7776604" y="3979996"/>
            <a:ext cx="2883454" cy="1018356"/>
          </a:xfrm>
          <a:prstGeom prst="righ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8A415F6-6CC3-DBFF-FDCE-3E7E211DC316}"/>
              </a:ext>
            </a:extLst>
          </p:cNvPr>
          <p:cNvSpPr txBox="1"/>
          <p:nvPr/>
        </p:nvSpPr>
        <p:spPr>
          <a:xfrm>
            <a:off x="9672340" y="3253547"/>
            <a:ext cx="178241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Previous steps are repeated until the boundary is left or no more time is left</a:t>
            </a:r>
          </a:p>
        </p:txBody>
      </p:sp>
    </p:spTree>
    <p:extLst>
      <p:ext uri="{BB962C8B-B14F-4D97-AF65-F5344CB8AC3E}">
        <p14:creationId xmlns:p14="http://schemas.microsoft.com/office/powerpoint/2010/main" val="16016363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BD9C3D-8F83-B489-ED20-32DC9A49B5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Deciding the Parameters for Fornier Forand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EB621F94-919A-F061-AEFA-DCA454A0C88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960398" y="2517503"/>
            <a:ext cx="6138895" cy="3011966"/>
          </a:xfrm>
          <a:prstGeom prst="rect">
            <a:avLst/>
          </a:prstGeo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7EF4266-C469-7D12-1BBE-C95523C3392C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342900" indent="-342900">
              <a:buAutoNum type="arabicPeriod"/>
            </a:pPr>
            <a:r>
              <a:rPr lang="en-US" dirty="0"/>
              <a:t>0.015–0.025  from Characterization of Particle Backscattering of Global </a:t>
            </a:r>
            <a:r>
              <a:rPr lang="en-US" dirty="0" err="1"/>
              <a:t>HighlyTurbid</a:t>
            </a:r>
            <a:r>
              <a:rPr lang="en-US" dirty="0"/>
              <a:t> Waters From VIIRS Ocean Color Observations</a:t>
            </a:r>
          </a:p>
          <a:p>
            <a:pPr marL="342900" indent="-342900">
              <a:buAutoNum type="arabicPeriod"/>
            </a:pPr>
            <a:r>
              <a:rPr lang="en-US" dirty="0"/>
              <a:t>Picture to the left from Comparison of reflectance with backscatter and absorption parameters for turbid waters</a:t>
            </a:r>
          </a:p>
        </p:txBody>
      </p:sp>
    </p:spTree>
    <p:extLst>
      <p:ext uri="{BB962C8B-B14F-4D97-AF65-F5344CB8AC3E}">
        <p14:creationId xmlns:p14="http://schemas.microsoft.com/office/powerpoint/2010/main" val="35801564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BB6C8-2B20-F7A7-DA70-2F191D990E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Monte Carlo Simulation Result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7086805-400A-E772-78E2-27D8B555203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7800" y="1413405"/>
            <a:ext cx="6655835" cy="4991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1655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6ED232-3F5E-61B1-E61F-8DA9383163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Angle test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1FBCCF5-06D0-4A88-D221-08B91CAB6B39}"/>
              </a:ext>
            </a:extLst>
          </p:cNvPr>
          <p:cNvSpPr txBox="1"/>
          <p:nvPr/>
        </p:nvSpPr>
        <p:spPr>
          <a:xfrm>
            <a:off x="6894394" y="1606477"/>
            <a:ext cx="4386470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For smaller radius the difference between the peak and bottom </a:t>
            </a:r>
            <a:r>
              <a:rPr lang="en-US" dirty="0" err="1"/>
              <a:t>plateu</a:t>
            </a:r>
            <a:r>
              <a:rPr lang="en-US" dirty="0"/>
              <a:t> become smaller from 4 times to 3 times the difference.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The issue is that these voxels have no min acceptance angle, so this is not an accurate representation of what the detector would see. </a:t>
            </a:r>
          </a:p>
          <a:p>
            <a:endParaRPr lang="en-US" dirty="0"/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BC47EA91-0DF6-26FD-0684-6A5A7A09E81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707" y="1606477"/>
            <a:ext cx="6398406" cy="4798805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3D733DC3-FC48-DED9-C563-138E8D47F0E9}"/>
              </a:ext>
            </a:extLst>
          </p:cNvPr>
          <p:cNvSpPr/>
          <p:nvPr/>
        </p:nvSpPr>
        <p:spPr>
          <a:xfrm>
            <a:off x="9173028" y="4943094"/>
            <a:ext cx="616857" cy="616857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446E7BA-52AF-AEB3-B765-9984E3705A58}"/>
              </a:ext>
            </a:extLst>
          </p:cNvPr>
          <p:cNvCxnSpPr>
            <a:endCxn id="11" idx="1"/>
          </p:cNvCxnSpPr>
          <p:nvPr/>
        </p:nvCxnSpPr>
        <p:spPr>
          <a:xfrm flipV="1">
            <a:off x="8040914" y="5251523"/>
            <a:ext cx="1132114" cy="6775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74B5380-F88C-9EC7-2CB3-440884F34EB8}"/>
              </a:ext>
            </a:extLst>
          </p:cNvPr>
          <p:cNvCxnSpPr>
            <a:cxnSpLocks/>
          </p:cNvCxnSpPr>
          <p:nvPr/>
        </p:nvCxnSpPr>
        <p:spPr>
          <a:xfrm flipV="1">
            <a:off x="8040914" y="5405737"/>
            <a:ext cx="1197429" cy="52334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C23572D7-8C16-97AE-799F-DF6FF2D7D816}"/>
              </a:ext>
            </a:extLst>
          </p:cNvPr>
          <p:cNvCxnSpPr>
            <a:cxnSpLocks/>
            <a:endCxn id="11" idx="2"/>
          </p:cNvCxnSpPr>
          <p:nvPr/>
        </p:nvCxnSpPr>
        <p:spPr>
          <a:xfrm flipV="1">
            <a:off x="8040914" y="5559951"/>
            <a:ext cx="1440543" cy="3396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8E1BEBB-D3BD-C788-116B-BCD1B5B370CA}"/>
              </a:ext>
            </a:extLst>
          </p:cNvPr>
          <p:cNvCxnSpPr>
            <a:cxnSpLocks/>
          </p:cNvCxnSpPr>
          <p:nvPr/>
        </p:nvCxnSpPr>
        <p:spPr>
          <a:xfrm flipV="1">
            <a:off x="8073571" y="5559951"/>
            <a:ext cx="1716314" cy="3839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29942EB-0800-16DC-8273-AB7DE88DBC9B}"/>
              </a:ext>
            </a:extLst>
          </p:cNvPr>
          <p:cNvCxnSpPr>
            <a:cxnSpLocks/>
          </p:cNvCxnSpPr>
          <p:nvPr/>
        </p:nvCxnSpPr>
        <p:spPr>
          <a:xfrm flipV="1">
            <a:off x="8073571" y="5899557"/>
            <a:ext cx="1338943" cy="517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96844AB8-9997-FC6E-4794-B6455324B225}"/>
              </a:ext>
            </a:extLst>
          </p:cNvPr>
          <p:cNvCxnSpPr>
            <a:cxnSpLocks/>
          </p:cNvCxnSpPr>
          <p:nvPr/>
        </p:nvCxnSpPr>
        <p:spPr>
          <a:xfrm flipV="1">
            <a:off x="9412514" y="5590304"/>
            <a:ext cx="246743" cy="30925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10AC60BB-30F4-3A48-AF82-7AA1061789CA}"/>
              </a:ext>
            </a:extLst>
          </p:cNvPr>
          <p:cNvCxnSpPr>
            <a:cxnSpLocks/>
          </p:cNvCxnSpPr>
          <p:nvPr/>
        </p:nvCxnSpPr>
        <p:spPr>
          <a:xfrm flipV="1">
            <a:off x="8073571" y="5054227"/>
            <a:ext cx="1132114" cy="81415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FF38CD91-A5D7-367E-43E5-D329AB265129}"/>
              </a:ext>
            </a:extLst>
          </p:cNvPr>
          <p:cNvCxnSpPr>
            <a:cxnSpLocks/>
          </p:cNvCxnSpPr>
          <p:nvPr/>
        </p:nvCxnSpPr>
        <p:spPr>
          <a:xfrm flipV="1">
            <a:off x="8048235" y="4738823"/>
            <a:ext cx="1364279" cy="118659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CF50F66-9F1C-938E-AD51-AA349E8002A1}"/>
              </a:ext>
            </a:extLst>
          </p:cNvPr>
          <p:cNvCxnSpPr/>
          <p:nvPr/>
        </p:nvCxnSpPr>
        <p:spPr>
          <a:xfrm>
            <a:off x="9376073" y="4760199"/>
            <a:ext cx="210766" cy="1382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44C35404-9943-BE1E-3971-914160D3CB93}"/>
              </a:ext>
            </a:extLst>
          </p:cNvPr>
          <p:cNvCxnSpPr>
            <a:cxnSpLocks/>
          </p:cNvCxnSpPr>
          <p:nvPr/>
        </p:nvCxnSpPr>
        <p:spPr>
          <a:xfrm flipV="1">
            <a:off x="8113713" y="5575466"/>
            <a:ext cx="1149966" cy="3343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70607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84CFD2-76F1-1597-7B39-73FFC0739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better way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7072D75-58DA-AFAC-2D07-4EE315537E29}"/>
              </a:ext>
            </a:extLst>
          </p:cNvPr>
          <p:cNvSpPr/>
          <p:nvPr/>
        </p:nvSpPr>
        <p:spPr>
          <a:xfrm>
            <a:off x="827314" y="4459514"/>
            <a:ext cx="6618515" cy="1817914"/>
          </a:xfrm>
          <a:prstGeom prst="rect">
            <a:avLst/>
          </a:prstGeom>
          <a:noFill/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43B7DBEE-7FE6-A02F-E309-880E801FC400}"/>
              </a:ext>
            </a:extLst>
          </p:cNvPr>
          <p:cNvCxnSpPr>
            <a:cxnSpLocks/>
            <a:stCxn id="3" idx="1"/>
          </p:cNvCxnSpPr>
          <p:nvPr/>
        </p:nvCxnSpPr>
        <p:spPr>
          <a:xfrm>
            <a:off x="827314" y="5368471"/>
            <a:ext cx="384629" cy="0"/>
          </a:xfrm>
          <a:prstGeom prst="straightConnector1">
            <a:avLst/>
          </a:prstGeom>
          <a:ln w="19050" cap="flat" cmpd="sng" algn="ctr">
            <a:solidFill>
              <a:schemeClr val="accent3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2803698B-C0FC-2CAC-79F9-6AD0D8BFB308}"/>
              </a:ext>
            </a:extLst>
          </p:cNvPr>
          <p:cNvSpPr txBox="1"/>
          <p:nvPr/>
        </p:nvSpPr>
        <p:spPr>
          <a:xfrm>
            <a:off x="827314" y="1625600"/>
            <a:ext cx="851262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Imagine the image below is the x-z slice where the source is. The idea is to measure the light exiting the top boundary. Represent the intensity at the boundary along the y direction in a bar graph. Hence we know the best position to place the detector. The same can be done at the front face.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AB3B4D9-A9EE-1180-F1CC-6E2D50CF76F5}"/>
              </a:ext>
            </a:extLst>
          </p:cNvPr>
          <p:cNvSpPr/>
          <p:nvPr/>
        </p:nvSpPr>
        <p:spPr>
          <a:xfrm>
            <a:off x="2525485" y="3563256"/>
            <a:ext cx="232229" cy="8962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3B9092F-5634-F7AE-58B4-2605DFB23955}"/>
              </a:ext>
            </a:extLst>
          </p:cNvPr>
          <p:cNvSpPr/>
          <p:nvPr/>
        </p:nvSpPr>
        <p:spPr>
          <a:xfrm>
            <a:off x="2902857" y="3252332"/>
            <a:ext cx="232229" cy="12010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2EEF5C7-0D8E-F0F6-504C-9655EBBA1B34}"/>
              </a:ext>
            </a:extLst>
          </p:cNvPr>
          <p:cNvSpPr/>
          <p:nvPr/>
        </p:nvSpPr>
        <p:spPr>
          <a:xfrm>
            <a:off x="2148114" y="4005263"/>
            <a:ext cx="232229" cy="4542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B2E9B13-5574-815C-1E73-7C70740B0DC2}"/>
              </a:ext>
            </a:extLst>
          </p:cNvPr>
          <p:cNvSpPr/>
          <p:nvPr/>
        </p:nvSpPr>
        <p:spPr>
          <a:xfrm>
            <a:off x="1654628" y="4034707"/>
            <a:ext cx="232229" cy="4542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74F71CE-270D-F875-EE01-F5396BDF4131}"/>
              </a:ext>
            </a:extLst>
          </p:cNvPr>
          <p:cNvSpPr/>
          <p:nvPr/>
        </p:nvSpPr>
        <p:spPr>
          <a:xfrm>
            <a:off x="3388387" y="3095626"/>
            <a:ext cx="232229" cy="136388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E3F898B-6839-AE58-A385-0CACC6C548C3}"/>
              </a:ext>
            </a:extLst>
          </p:cNvPr>
          <p:cNvSpPr/>
          <p:nvPr/>
        </p:nvSpPr>
        <p:spPr>
          <a:xfrm>
            <a:off x="3860690" y="3081888"/>
            <a:ext cx="232229" cy="136388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0E11BCD-4A77-1753-95B5-191FD6C2127C}"/>
              </a:ext>
            </a:extLst>
          </p:cNvPr>
          <p:cNvSpPr/>
          <p:nvPr/>
        </p:nvSpPr>
        <p:spPr>
          <a:xfrm>
            <a:off x="4318157" y="3319461"/>
            <a:ext cx="232229" cy="11257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7E6074D-1F23-EA3C-B866-8AD3F231C066}"/>
              </a:ext>
            </a:extLst>
          </p:cNvPr>
          <p:cNvSpPr/>
          <p:nvPr/>
        </p:nvSpPr>
        <p:spPr>
          <a:xfrm>
            <a:off x="4914422" y="3548969"/>
            <a:ext cx="232229" cy="8962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7416182-E633-2210-5390-12AB57314715}"/>
              </a:ext>
            </a:extLst>
          </p:cNvPr>
          <p:cNvSpPr/>
          <p:nvPr/>
        </p:nvSpPr>
        <p:spPr>
          <a:xfrm>
            <a:off x="5461679" y="3635819"/>
            <a:ext cx="232229" cy="8175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BCC69295-87F7-9907-EC07-BD0F3FDC64FA}"/>
              </a:ext>
            </a:extLst>
          </p:cNvPr>
          <p:cNvSpPr/>
          <p:nvPr/>
        </p:nvSpPr>
        <p:spPr>
          <a:xfrm>
            <a:off x="5302066" y="4053229"/>
            <a:ext cx="1799771" cy="508000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Detector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727C8728-98BD-D133-1C9F-D16EDBD6043E}"/>
              </a:ext>
            </a:extLst>
          </p:cNvPr>
          <p:cNvSpPr/>
          <p:nvPr/>
        </p:nvSpPr>
        <p:spPr>
          <a:xfrm>
            <a:off x="3515363" y="4070666"/>
            <a:ext cx="1799771" cy="508000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Detector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E0124D9B-A28A-B64A-05C2-84CFAD1C5FBC}"/>
              </a:ext>
            </a:extLst>
          </p:cNvPr>
          <p:cNvSpPr/>
          <p:nvPr/>
        </p:nvSpPr>
        <p:spPr>
          <a:xfrm>
            <a:off x="1654628" y="4070666"/>
            <a:ext cx="1799771" cy="508000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Detector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983F79C-7AA7-23F4-31D4-6DD263900530}"/>
              </a:ext>
            </a:extLst>
          </p:cNvPr>
          <p:cNvSpPr/>
          <p:nvPr/>
        </p:nvSpPr>
        <p:spPr>
          <a:xfrm rot="5400000">
            <a:off x="7781313" y="4939730"/>
            <a:ext cx="232229" cy="8175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DFE40C5-9AA7-54A5-AF84-0EF622F49558}"/>
              </a:ext>
            </a:extLst>
          </p:cNvPr>
          <p:cNvSpPr/>
          <p:nvPr/>
        </p:nvSpPr>
        <p:spPr>
          <a:xfrm rot="5400000">
            <a:off x="7694487" y="4747973"/>
            <a:ext cx="232230" cy="59125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9764218F-F695-1655-8B32-047384F002B3}"/>
              </a:ext>
            </a:extLst>
          </p:cNvPr>
          <p:cNvSpPr/>
          <p:nvPr/>
        </p:nvSpPr>
        <p:spPr>
          <a:xfrm rot="5400000">
            <a:off x="7539256" y="4570853"/>
            <a:ext cx="190518" cy="37737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FBDEBEE8-F4CB-F001-CA5E-2FE33C094105}"/>
              </a:ext>
            </a:extLst>
          </p:cNvPr>
          <p:cNvSpPr/>
          <p:nvPr/>
        </p:nvSpPr>
        <p:spPr>
          <a:xfrm rot="5400000">
            <a:off x="7694487" y="5375887"/>
            <a:ext cx="232230" cy="59125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B9591057-B4D9-347A-7B43-03C7292C335F}"/>
              </a:ext>
            </a:extLst>
          </p:cNvPr>
          <p:cNvSpPr/>
          <p:nvPr/>
        </p:nvSpPr>
        <p:spPr>
          <a:xfrm rot="5400000">
            <a:off x="7543609" y="5813883"/>
            <a:ext cx="190518" cy="37737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703904B2-931C-4EB7-0677-0CB8714306B6}"/>
              </a:ext>
            </a:extLst>
          </p:cNvPr>
          <p:cNvSpPr/>
          <p:nvPr/>
        </p:nvSpPr>
        <p:spPr>
          <a:xfrm rot="5400000">
            <a:off x="7069485" y="5152932"/>
            <a:ext cx="838315" cy="43107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Det</a:t>
            </a:r>
          </a:p>
        </p:txBody>
      </p:sp>
    </p:spTree>
    <p:extLst>
      <p:ext uri="{BB962C8B-B14F-4D97-AF65-F5344CB8AC3E}">
        <p14:creationId xmlns:p14="http://schemas.microsoft.com/office/powerpoint/2010/main" val="365937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C8AB86-2DBC-0B06-22E7-36DC67501C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 for the off beam detector </a:t>
            </a:r>
            <a:r>
              <a:rPr lang="en-US"/>
              <a:t>at 50 </a:t>
            </a:r>
            <a:r>
              <a:rPr lang="en-US" dirty="0"/>
              <a:t>mm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FA60738-074D-CE49-AABC-8098EA7175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3600" y="2220686"/>
            <a:ext cx="4538133" cy="34036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089C81D-21B9-E6C4-633F-D8BFC46DCBE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5276" y="2220686"/>
            <a:ext cx="4538133" cy="34036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242F019C-A6E9-513E-0DC8-D355A11CB504}"/>
              </a:ext>
            </a:extLst>
          </p:cNvPr>
          <p:cNvSpPr/>
          <p:nvPr/>
        </p:nvSpPr>
        <p:spPr>
          <a:xfrm>
            <a:off x="1734457" y="1853248"/>
            <a:ext cx="8498114" cy="577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35201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714353-51EB-52A8-831C-C3B35976DF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 for the off beam detector at 50 mm continued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CF6A7D8-BF7F-B10E-F428-7255E2F8EA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38361" y="1952070"/>
            <a:ext cx="6100839" cy="4575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06245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0A4619-7D3B-529C-5753-894E1F0D39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 on the face perpendicular to the beamline at 100mm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D3A0969-9A81-1DC8-873A-2335A282355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1651" y="2292123"/>
            <a:ext cx="5594349" cy="419576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AD234F4-79D5-3A6E-CDEB-2BE150ECE53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14623" y="2292123"/>
            <a:ext cx="5594350" cy="4195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46534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56E126-C1BE-85E8-459F-D92815FAC6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Analysis Methods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72FA01-4DD5-7264-9B6F-4CC46B83B2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AFD19D3-F098-B794-A2BA-0DAB398D30C8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Overall Picture</a:t>
            </a:r>
          </a:p>
          <a:p>
            <a:r>
              <a:rPr lang="en-US" dirty="0"/>
              <a:t>Angle Dependent Analysis</a:t>
            </a:r>
          </a:p>
          <a:p>
            <a:r>
              <a:rPr lang="en-US" dirty="0"/>
              <a:t>Goldie Zone Given Some Min</a:t>
            </a:r>
          </a:p>
          <a:p>
            <a:r>
              <a:rPr lang="en-US" dirty="0"/>
              <a:t>Curve</a:t>
            </a:r>
          </a:p>
        </p:txBody>
      </p:sp>
    </p:spTree>
    <p:extLst>
      <p:ext uri="{BB962C8B-B14F-4D97-AF65-F5344CB8AC3E}">
        <p14:creationId xmlns:p14="http://schemas.microsoft.com/office/powerpoint/2010/main" val="13100600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172958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40326F-948C-8CD6-61AF-24B753B4D2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Parameters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FB0220-23E7-8FF9-3EFB-50936F2D4F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1" y="2052918"/>
            <a:ext cx="9630950" cy="4195481"/>
          </a:xfrm>
        </p:spPr>
        <p:txBody>
          <a:bodyPr/>
          <a:lstStyle/>
          <a:p>
            <a:r>
              <a:rPr lang="en-US" dirty="0"/>
              <a:t>Domain: 500mm by 500mm by 500mm ( Can be reduced to 100mm for some tests)</a:t>
            </a:r>
          </a:p>
          <a:p>
            <a:r>
              <a:rPr lang="en-US" dirty="0"/>
              <a:t>Back Scatter Fraction 0.024 (May be tuned in via Petzold)(n=1.1,u=3.4)</a:t>
            </a:r>
          </a:p>
          <a:p>
            <a:r>
              <a:rPr lang="en-US" dirty="0"/>
              <a:t>Mua:0.003</a:t>
            </a:r>
          </a:p>
          <a:p>
            <a:r>
              <a:rPr lang="en-US" dirty="0"/>
              <a:t>Mus: 0.015 to 0.05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470799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CDE3B1-A1D1-CD63-EFDA-1AE7F26FA8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Sanity Checks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67A8ED-E292-CF61-9F53-B9DCD8CEFC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D46CF0A-A784-9712-C2C8-FC454923D163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 fontScale="55000" lnSpcReduction="20000"/>
          </a:bodyPr>
          <a:lstStyle/>
          <a:p>
            <a:pPr marL="342900" indent="-342900">
              <a:buAutoNum type="arabicPeriod"/>
            </a:pPr>
            <a:r>
              <a:rPr lang="en-US" dirty="0"/>
              <a:t>Under 0 scattering:</a:t>
            </a:r>
          </a:p>
          <a:p>
            <a:pPr marL="800100" lvl="1" indent="-342900">
              <a:buAutoNum type="arabicPeriod"/>
            </a:pPr>
            <a:r>
              <a:rPr lang="en-US" dirty="0"/>
              <a:t>Peak at zero degrees</a:t>
            </a:r>
          </a:p>
          <a:p>
            <a:pPr marL="800100" lvl="1" indent="-342900">
              <a:buAutoNum type="arabicPeriod"/>
            </a:pPr>
            <a:r>
              <a:rPr lang="en-US" dirty="0"/>
              <a:t>Absorption dependance must recover the beer lambert law</a:t>
            </a:r>
          </a:p>
          <a:p>
            <a:pPr marL="342900" indent="-342900">
              <a:buAutoNum type="arabicPeriod"/>
            </a:pPr>
            <a:r>
              <a:rPr lang="en-US" dirty="0"/>
              <a:t>Under conditions where 1 scattering event per photon on average occurs:</a:t>
            </a:r>
          </a:p>
          <a:p>
            <a:pPr marL="800100" lvl="1" indent="-342900">
              <a:buAutoNum type="arabicPeriod"/>
            </a:pPr>
            <a:r>
              <a:rPr lang="en-US" dirty="0"/>
              <a:t>We must recover the Fornier Forand distribution</a:t>
            </a:r>
          </a:p>
          <a:p>
            <a:pPr marL="800100" lvl="1" indent="-342900">
              <a:buAutoNum type="arabicPeriod"/>
            </a:pPr>
            <a:r>
              <a:rPr lang="en-US" dirty="0"/>
              <a:t>HG and FF must be close</a:t>
            </a:r>
          </a:p>
          <a:p>
            <a:pPr marL="342900" indent="-342900">
              <a:buAutoNum type="arabicPeriod"/>
            </a:pPr>
            <a:r>
              <a:rPr lang="en-US" dirty="0"/>
              <a:t>Under reasonable scattering:</a:t>
            </a:r>
          </a:p>
          <a:p>
            <a:pPr marL="800100" lvl="1" indent="-342900">
              <a:buAutoNum type="arabicPeriod"/>
            </a:pPr>
            <a:r>
              <a:rPr lang="en-US" dirty="0"/>
              <a:t>Increasing photon number must reduce std of solutions</a:t>
            </a:r>
          </a:p>
          <a:p>
            <a:pPr marL="800100" lvl="1" indent="-342900">
              <a:buAutoNum type="arabicPeriod"/>
            </a:pPr>
            <a:r>
              <a:rPr lang="en-US" dirty="0"/>
              <a:t>HG and FF must </a:t>
            </a:r>
            <a:r>
              <a:rPr lang="en-US" dirty="0" err="1"/>
              <a:t>divarge</a:t>
            </a: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 Under very large scattering:</a:t>
            </a:r>
          </a:p>
          <a:p>
            <a:pPr marL="800100" lvl="1" indent="-342900">
              <a:buAutoNum type="arabicPeriod"/>
            </a:pPr>
            <a:r>
              <a:rPr lang="en-US" dirty="0"/>
              <a:t>Source must look isotropic at a distance with no forward bias</a:t>
            </a:r>
          </a:p>
          <a:p>
            <a:pPr marL="800100" lvl="1" indent="-342900">
              <a:buAutoNum type="arabicPeriod"/>
            </a:pPr>
            <a:r>
              <a:rPr lang="en-US" dirty="0"/>
              <a:t>HG and FF must converge</a:t>
            </a:r>
          </a:p>
          <a:p>
            <a:pPr marL="342900" indent="-342900"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11070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1577E8-C58B-D8E1-A3AD-F4FA7A6F76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Zero Scattering Check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51E261-3E13-2E5E-33EF-D6FD51D80B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X-Y Slice of Monte Carlo Sim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EC8ECB81-F538-BEF0-3CDD-5EF1CB03CF55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3313" y="2737049"/>
            <a:ext cx="4395787" cy="3296840"/>
          </a:xfrm>
          <a:prstGeom prst="rect">
            <a:avLst/>
          </a:prstGeo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D8E22DB-48CA-CC3E-4860-A85544A964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Fluence measured at angles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AFF93458-1A9C-97F1-32B3-696333D6E3FE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54675" y="2737048"/>
            <a:ext cx="4395788" cy="3296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26192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B7EC54-3F47-EEB3-F49C-6ADDCD5448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8"/>
            <a:ext cx="9675342" cy="1400530"/>
          </a:xfrm>
        </p:spPr>
        <p:txBody>
          <a:bodyPr/>
          <a:lstStyle/>
          <a:p>
            <a:r>
              <a:rPr lang="en-US" dirty="0"/>
              <a:t>Absorption/Beer-Lambert Crosscheck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C9BBE854-CF5E-5F60-728F-58D0ED728690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3313" y="2510036"/>
            <a:ext cx="4395787" cy="3296840"/>
          </a:xfrm>
          <a:prstGeom prst="rect">
            <a:avLst/>
          </a:prstGeom>
        </p:spPr>
      </p:pic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88D83059-441A-03D2-BE01-4CCFDE08CAAB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131740297"/>
              </p:ext>
            </p:extLst>
          </p:nvPr>
        </p:nvGraphicFramePr>
        <p:xfrm>
          <a:off x="7212496" y="2441851"/>
          <a:ext cx="3108957" cy="302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6319">
                  <a:extLst>
                    <a:ext uri="{9D8B030D-6E8A-4147-A177-3AD203B41FA5}">
                      <a16:colId xmlns:a16="http://schemas.microsoft.com/office/drawing/2014/main" val="1730474470"/>
                    </a:ext>
                  </a:extLst>
                </a:gridCol>
                <a:gridCol w="1040959">
                  <a:extLst>
                    <a:ext uri="{9D8B030D-6E8A-4147-A177-3AD203B41FA5}">
                      <a16:colId xmlns:a16="http://schemas.microsoft.com/office/drawing/2014/main" val="567074295"/>
                    </a:ext>
                  </a:extLst>
                </a:gridCol>
                <a:gridCol w="1031679">
                  <a:extLst>
                    <a:ext uri="{9D8B030D-6E8A-4147-A177-3AD203B41FA5}">
                      <a16:colId xmlns:a16="http://schemas.microsoft.com/office/drawing/2014/main" val="10919342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100" dirty="0"/>
                        <a:t>Absorption Coeff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Normalized Fluence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Beer-Lambert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500018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1e-7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52239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1e-5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1.007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0.999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23460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1e-4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0.990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0.990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54745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1e-3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0.904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0.904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678469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1e-2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0.366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0.367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04466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4.32e-5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4.54e-5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66423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~0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~0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56146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7225650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A8B833-A627-EF0D-80E8-9139A89545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Validation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2029C07-C905-3A77-FA6C-DA96735E126E}"/>
              </a:ext>
            </a:extLst>
          </p:cNvPr>
          <p:cNvSpPr>
            <a:spLocks noGrp="1"/>
          </p:cNvSpPr>
          <p:nvPr>
            <p:ph type="pic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39F6216-FE26-A01B-8564-DFA27F4EA6F6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For proper verification, I will use an analytic solver</a:t>
            </a:r>
          </a:p>
        </p:txBody>
      </p:sp>
    </p:spTree>
    <p:extLst>
      <p:ext uri="{BB962C8B-B14F-4D97-AF65-F5344CB8AC3E}">
        <p14:creationId xmlns:p14="http://schemas.microsoft.com/office/powerpoint/2010/main" val="234793662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892E64-2938-2E72-3704-0B2F214CA4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7E48B6-D143-64CD-E99F-B83C8C90B8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025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A35A90-343A-331E-F423-28D767CCB9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2F2B44-79DC-9756-4DB0-9D4EFB36E4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AA88F27-8EE8-783C-5CB9-DD3F9E6A24A7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910614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TM03457485[[fn=Mesh]]</Template>
  <TotalTime>1975</TotalTime>
  <Words>625</Words>
  <Application>Microsoft Office PowerPoint</Application>
  <PresentationFormat>Widescreen</PresentationFormat>
  <Paragraphs>95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Cambria Math</vt:lpstr>
      <vt:lpstr>Century Gothic</vt:lpstr>
      <vt:lpstr>Wingdings 3</vt:lpstr>
      <vt:lpstr>Ion</vt:lpstr>
      <vt:lpstr>Presentation for West River</vt:lpstr>
      <vt:lpstr>The Experimental Setup</vt:lpstr>
      <vt:lpstr>Simulation Innerworkings</vt:lpstr>
      <vt:lpstr>PowerPoint Presentation</vt:lpstr>
      <vt:lpstr>Deciding the Parameters for Fornier Forand</vt:lpstr>
      <vt:lpstr>Monte Carlo Simulation Result</vt:lpstr>
      <vt:lpstr>Angle test</vt:lpstr>
      <vt:lpstr>A better way</vt:lpstr>
      <vt:lpstr>Results for the off beam detector at 50 mm </vt:lpstr>
      <vt:lpstr>Results for the off beam detector at 50 mm continued</vt:lpstr>
      <vt:lpstr>Results on the face perpendicular to the beamline at 100mm</vt:lpstr>
      <vt:lpstr>Analysis Methods</vt:lpstr>
      <vt:lpstr>PowerPoint Presentation</vt:lpstr>
      <vt:lpstr>Other Parameters</vt:lpstr>
      <vt:lpstr>Sanity Checks</vt:lpstr>
      <vt:lpstr>Zero Scattering Check</vt:lpstr>
      <vt:lpstr>Absorption/Beer-Lambert Crosscheck</vt:lpstr>
      <vt:lpstr>Validation</vt:lpstr>
      <vt:lpstr>PowerPoint Presentation</vt:lpstr>
      <vt:lpstr>Structure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Kaan Volkan</dc:creator>
  <cp:lastModifiedBy>Kaan Volkan</cp:lastModifiedBy>
  <cp:revision>5</cp:revision>
  <dcterms:created xsi:type="dcterms:W3CDTF">2026-08-17T19:46:41Z</dcterms:created>
  <dcterms:modified xsi:type="dcterms:W3CDTF">2026-08-19T04:43:28Z</dcterms:modified>
</cp:coreProperties>
</file>