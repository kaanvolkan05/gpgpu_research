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3" r:id="rId3"/>
    <p:sldId id="264" r:id="rId4"/>
    <p:sldId id="265" r:id="rId5"/>
    <p:sldId id="266" r:id="rId6"/>
    <p:sldId id="268" r:id="rId7"/>
    <p:sldId id="269" r:id="rId8"/>
    <p:sldId id="271" r:id="rId9"/>
    <p:sldId id="270" r:id="rId10"/>
    <p:sldId id="267" r:id="rId11"/>
    <p:sldId id="258" r:id="rId12"/>
    <p:sldId id="260" r:id="rId13"/>
    <p:sldId id="261" r:id="rId14"/>
    <p:sldId id="262" r:id="rId15"/>
    <p:sldId id="259" r:id="rId16"/>
    <p:sldId id="257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>
        <p:scale>
          <a:sx n="100" d="100"/>
          <a:sy n="100" d="100"/>
        </p:scale>
        <p:origin x="-489" y="-12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101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166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587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566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638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1732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9058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0166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5590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8727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2918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453136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7032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2431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2048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5311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869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29870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C83FD-EB31-5518-6A59-7C2E9A326F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for West River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891836-D58B-5389-0008-54551E15A1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58677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1885E-7E45-1838-C5CE-F10B02BE3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Experimental Setup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979D269-78B7-1CB2-DED0-0A47B66C73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7246" y="2736970"/>
            <a:ext cx="4010054" cy="29908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B91F91-4097-493D-65AB-5A166AFFB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568" y="2979859"/>
            <a:ext cx="3562376" cy="2505093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A1E60410-D2D2-80E1-8BB0-68BD9497A657}"/>
              </a:ext>
            </a:extLst>
          </p:cNvPr>
          <p:cNvSpPr/>
          <p:nvPr/>
        </p:nvSpPr>
        <p:spPr>
          <a:xfrm>
            <a:off x="2406649" y="4013199"/>
            <a:ext cx="212725" cy="244475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91E650-593F-1E09-81AB-496D0BD94930}"/>
              </a:ext>
            </a:extLst>
          </p:cNvPr>
          <p:cNvSpPr txBox="1"/>
          <p:nvPr/>
        </p:nvSpPr>
        <p:spPr>
          <a:xfrm>
            <a:off x="4013199" y="2295525"/>
            <a:ext cx="14541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source</a:t>
            </a:r>
          </a:p>
        </p:txBody>
      </p: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80FD5669-7FE1-BA61-9F4F-F229D21DB396}"/>
              </a:ext>
            </a:extLst>
          </p:cNvPr>
          <p:cNvCxnSpPr>
            <a:cxnSpLocks/>
            <a:stCxn id="10" idx="6"/>
            <a:endCxn id="11" idx="1"/>
          </p:cNvCxnSpPr>
          <p:nvPr/>
        </p:nvCxnSpPr>
        <p:spPr>
          <a:xfrm flipV="1">
            <a:off x="2619374" y="2464802"/>
            <a:ext cx="1393825" cy="1670635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44CB1B2-1D9D-7F03-DCF9-43633DE715E9}"/>
              </a:ext>
            </a:extLst>
          </p:cNvPr>
          <p:cNvSpPr txBox="1"/>
          <p:nvPr/>
        </p:nvSpPr>
        <p:spPr>
          <a:xfrm>
            <a:off x="4743449" y="4197350"/>
            <a:ext cx="14635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Domain Boundary</a:t>
            </a:r>
          </a:p>
        </p:txBody>
      </p: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B28DB5EB-C3BF-1505-4C8D-69869071366C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4378325" y="4314825"/>
            <a:ext cx="365124" cy="174913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34597057-9281-2B75-01EC-8ACEAC1FCDEC}"/>
              </a:ext>
            </a:extLst>
          </p:cNvPr>
          <p:cNvSpPr/>
          <p:nvPr/>
        </p:nvSpPr>
        <p:spPr>
          <a:xfrm>
            <a:off x="7294077" y="3484562"/>
            <a:ext cx="1425575" cy="1425575"/>
          </a:xfrm>
          <a:prstGeom prst="ellipse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80CB751-AAB9-858F-647A-4FA0D7604A12}"/>
              </a:ext>
            </a:extLst>
          </p:cNvPr>
          <p:cNvSpPr/>
          <p:nvPr/>
        </p:nvSpPr>
        <p:spPr>
          <a:xfrm>
            <a:off x="7322926" y="3513411"/>
            <a:ext cx="1367875" cy="1367875"/>
          </a:xfrm>
          <a:prstGeom prst="ellipse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8882FF-07FF-6165-7054-61A776DFEDB0}"/>
              </a:ext>
            </a:extLst>
          </p:cNvPr>
          <p:cNvSpPr txBox="1"/>
          <p:nvPr/>
        </p:nvSpPr>
        <p:spPr>
          <a:xfrm>
            <a:off x="7896224" y="2531528"/>
            <a:ext cx="23114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Zone(1) of interest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62EA7DA-8570-1224-F1F7-B0127DC73EF8}"/>
              </a:ext>
            </a:extLst>
          </p:cNvPr>
          <p:cNvCxnSpPr/>
          <p:nvPr/>
        </p:nvCxnSpPr>
        <p:spPr>
          <a:xfrm flipV="1">
            <a:off x="8197756" y="3984625"/>
            <a:ext cx="1270095" cy="2127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5A34D47-6D1C-904F-88DE-F7CB0E4DF642}"/>
              </a:ext>
            </a:extLst>
          </p:cNvPr>
          <p:cNvCxnSpPr>
            <a:cxnSpLocks/>
          </p:cNvCxnSpPr>
          <p:nvPr/>
        </p:nvCxnSpPr>
        <p:spPr>
          <a:xfrm>
            <a:off x="8197755" y="4220232"/>
            <a:ext cx="1270095" cy="2127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8164D63-2122-6D15-236F-8CBCB67ABA74}"/>
              </a:ext>
            </a:extLst>
          </p:cNvPr>
          <p:cNvCxnSpPr/>
          <p:nvPr/>
        </p:nvCxnSpPr>
        <p:spPr>
          <a:xfrm>
            <a:off x="9467850" y="3984625"/>
            <a:ext cx="0" cy="4483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6340BF6-8631-0EEE-55D3-9397A3FE36EE}"/>
              </a:ext>
            </a:extLst>
          </p:cNvPr>
          <p:cNvSpPr txBox="1"/>
          <p:nvPr/>
        </p:nvSpPr>
        <p:spPr>
          <a:xfrm>
            <a:off x="10216048" y="4740860"/>
            <a:ext cx="21305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Zone(2) of interest</a:t>
            </a:r>
          </a:p>
        </p:txBody>
      </p: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4987ABB5-9CA5-8241-A4DD-D8F94585A0BA}"/>
              </a:ext>
            </a:extLst>
          </p:cNvPr>
          <p:cNvCxnSpPr>
            <a:cxnSpLocks/>
            <a:endCxn id="25" idx="1"/>
          </p:cNvCxnSpPr>
          <p:nvPr/>
        </p:nvCxnSpPr>
        <p:spPr>
          <a:xfrm rot="5400000" flipH="1" flipV="1">
            <a:off x="7193989" y="3012516"/>
            <a:ext cx="1013946" cy="39052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C105E3A2-5B12-362D-2BBD-41ADEDE4416A}"/>
              </a:ext>
            </a:extLst>
          </p:cNvPr>
          <p:cNvCxnSpPr>
            <a:cxnSpLocks/>
            <a:endCxn id="31" idx="0"/>
          </p:cNvCxnSpPr>
          <p:nvPr/>
        </p:nvCxnSpPr>
        <p:spPr>
          <a:xfrm>
            <a:off x="9239250" y="4283075"/>
            <a:ext cx="2042058" cy="45778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FA885E1-9B3B-36F2-C04E-BF29C9BB9DF5}"/>
              </a:ext>
            </a:extLst>
          </p:cNvPr>
          <p:cNvSpPr txBox="1"/>
          <p:nvPr/>
        </p:nvSpPr>
        <p:spPr>
          <a:xfrm>
            <a:off x="647922" y="5792896"/>
            <a:ext cx="4248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3D image of the experimental setup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4F7F0FB-27E7-7596-EC56-19CA6574F7A4}"/>
              </a:ext>
            </a:extLst>
          </p:cNvPr>
          <p:cNvSpPr txBox="1"/>
          <p:nvPr/>
        </p:nvSpPr>
        <p:spPr>
          <a:xfrm>
            <a:off x="6073404" y="5551505"/>
            <a:ext cx="4248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X-Z plane of the experimental setup</a:t>
            </a:r>
          </a:p>
        </p:txBody>
      </p:sp>
    </p:spTree>
    <p:extLst>
      <p:ext uri="{BB962C8B-B14F-4D97-AF65-F5344CB8AC3E}">
        <p14:creationId xmlns:p14="http://schemas.microsoft.com/office/powerpoint/2010/main" val="2867557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843A8-74B2-78E6-FCA9-17B2EACE4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Innerworkings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3BAC1-1CF2-92D1-B9E7-C497CD6672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Photon launches with a packet weight 1 and direction v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Based on an exponential distribution based on the scattering coefficient (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s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) of the current voxel, it  decides how many voxels to travel in v direction.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Steps 1 voxel in v direction and looses packet weight based on the absorption coefficient </a:t>
            </a:r>
            <a:r>
              <a:rPr lang="en-US" dirty="0"/>
              <a:t>(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)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The packet weight is added to its current voxel’s raw probability,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The previous 2 steps are repeated until the package reaches the next scattering voxel decided in the second step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Calculate a new scattering direction vector: the azimuth and zenith scattering angles are computed, respectively, by a random number uniformly distributed in [0,2pi] and a random number between [0,pi) following an assigned phase function.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Repeat from step 2 until the max time is reached or the photon exits the domain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Repeat all steps for next photon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444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E5E6297A-D824-851D-1682-E7DB224153CD}"/>
              </a:ext>
            </a:extLst>
          </p:cNvPr>
          <p:cNvSpPr/>
          <p:nvPr/>
        </p:nvSpPr>
        <p:spPr>
          <a:xfrm>
            <a:off x="53009" y="1358348"/>
            <a:ext cx="11940208" cy="4671391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A58B961-E562-FC88-8A0E-3FC06955C401}"/>
              </a:ext>
            </a:extLst>
          </p:cNvPr>
          <p:cNvSpPr/>
          <p:nvPr/>
        </p:nvSpPr>
        <p:spPr>
          <a:xfrm>
            <a:off x="114504" y="1842052"/>
            <a:ext cx="1881809" cy="115294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Photon Launches with weight 1 in v </a:t>
            </a:r>
            <a:r>
              <a:rPr lang="en-US" dirty="0" err="1"/>
              <a:t>dir</a:t>
            </a:r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FA17908-4E4A-2C7B-8F3E-38AE0389FF97}"/>
              </a:ext>
            </a:extLst>
          </p:cNvPr>
          <p:cNvSpPr/>
          <p:nvPr/>
        </p:nvSpPr>
        <p:spPr>
          <a:xfrm>
            <a:off x="3730895" y="2803461"/>
            <a:ext cx="1129340" cy="115294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99E545-9608-7184-1081-9E7EC5F60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816" y="2746514"/>
            <a:ext cx="1543061" cy="1266834"/>
          </a:xfrm>
          <a:prstGeom prst="rect">
            <a:avLst/>
          </a:prstGeom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519AE099-0597-5E63-4686-68D2FB27CCD5}"/>
              </a:ext>
            </a:extLst>
          </p:cNvPr>
          <p:cNvSpPr/>
          <p:nvPr/>
        </p:nvSpPr>
        <p:spPr>
          <a:xfrm>
            <a:off x="2110816" y="1842052"/>
            <a:ext cx="6096006" cy="1152940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Based on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s</a:t>
            </a:r>
            <a:r>
              <a:rPr lang="en-US" dirty="0"/>
              <a:t>, photon travels n voxels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05261AD-26CE-077F-A73A-9E0CAB08E63D}"/>
              </a:ext>
            </a:extLst>
          </p:cNvPr>
          <p:cNvSpPr/>
          <p:nvPr/>
        </p:nvSpPr>
        <p:spPr>
          <a:xfrm>
            <a:off x="4046930" y="3131296"/>
            <a:ext cx="497269" cy="497269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3E8AE43-0D28-F6DC-0FC1-3121AEBF9B70}"/>
              </a:ext>
            </a:extLst>
          </p:cNvPr>
          <p:cNvSpPr/>
          <p:nvPr/>
        </p:nvSpPr>
        <p:spPr>
          <a:xfrm>
            <a:off x="4937253" y="2803461"/>
            <a:ext cx="1129340" cy="115294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ED25659-77B4-9FF8-C456-39935DD55A9C}"/>
              </a:ext>
            </a:extLst>
          </p:cNvPr>
          <p:cNvSpPr/>
          <p:nvPr/>
        </p:nvSpPr>
        <p:spPr>
          <a:xfrm>
            <a:off x="5326176" y="3209766"/>
            <a:ext cx="319252" cy="319252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870FDC6-969A-4902-83E7-BDBF27EDAC0E}"/>
              </a:ext>
            </a:extLst>
          </p:cNvPr>
          <p:cNvSpPr/>
          <p:nvPr/>
        </p:nvSpPr>
        <p:spPr>
          <a:xfrm>
            <a:off x="6143611" y="2776801"/>
            <a:ext cx="1129340" cy="115294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A79CE46-865E-A188-6C39-74E03E74C1B4}"/>
              </a:ext>
            </a:extLst>
          </p:cNvPr>
          <p:cNvSpPr/>
          <p:nvPr/>
        </p:nvSpPr>
        <p:spPr>
          <a:xfrm>
            <a:off x="6532533" y="3226958"/>
            <a:ext cx="242479" cy="242479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7EF43584-8A09-DF8D-E946-B0FE437CAA09}"/>
              </a:ext>
            </a:extLst>
          </p:cNvPr>
          <p:cNvCxnSpPr>
            <a:stCxn id="8" idx="2"/>
            <a:endCxn id="15" idx="2"/>
          </p:cNvCxnSpPr>
          <p:nvPr/>
        </p:nvCxnSpPr>
        <p:spPr>
          <a:xfrm rot="16200000" flipH="1">
            <a:off x="4898744" y="3353222"/>
            <a:ext cx="12700" cy="1206358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Connector: Curved 27">
            <a:extLst>
              <a:ext uri="{FF2B5EF4-FFF2-40B4-BE49-F238E27FC236}">
                <a16:creationId xmlns:a16="http://schemas.microsoft.com/office/drawing/2014/main" id="{A0717F08-B786-FF34-5EAC-26C9DA0DB85C}"/>
              </a:ext>
            </a:extLst>
          </p:cNvPr>
          <p:cNvCxnSpPr/>
          <p:nvPr/>
        </p:nvCxnSpPr>
        <p:spPr>
          <a:xfrm rot="16200000" flipH="1">
            <a:off x="6097142" y="3334171"/>
            <a:ext cx="12700" cy="1206358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614E54FC-995B-9FD9-B4D0-A9CFAEA84012}"/>
              </a:ext>
            </a:extLst>
          </p:cNvPr>
          <p:cNvSpPr/>
          <p:nvPr/>
        </p:nvSpPr>
        <p:spPr>
          <a:xfrm>
            <a:off x="7427844" y="3348197"/>
            <a:ext cx="92765" cy="927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6E07292-A4D4-72BA-E678-155CB70D2120}"/>
              </a:ext>
            </a:extLst>
          </p:cNvPr>
          <p:cNvSpPr/>
          <p:nvPr/>
        </p:nvSpPr>
        <p:spPr>
          <a:xfrm>
            <a:off x="7661873" y="3348197"/>
            <a:ext cx="92765" cy="927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58315BD-41CC-6F90-B553-8AE5999C2239}"/>
              </a:ext>
            </a:extLst>
          </p:cNvPr>
          <p:cNvSpPr/>
          <p:nvPr/>
        </p:nvSpPr>
        <p:spPr>
          <a:xfrm>
            <a:off x="7895902" y="3348197"/>
            <a:ext cx="92765" cy="927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54670A-1960-82BB-9C71-DF05F66283AB}"/>
              </a:ext>
            </a:extLst>
          </p:cNvPr>
          <p:cNvSpPr txBox="1"/>
          <p:nvPr/>
        </p:nvSpPr>
        <p:spPr>
          <a:xfrm>
            <a:off x="7609733" y="3469437"/>
            <a:ext cx="49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AEE55A7-84BF-6E4B-6CB7-FBDF4CC8589A}"/>
              </a:ext>
            </a:extLst>
          </p:cNvPr>
          <p:cNvSpPr txBox="1"/>
          <p:nvPr/>
        </p:nvSpPr>
        <p:spPr>
          <a:xfrm>
            <a:off x="3637150" y="4161015"/>
            <a:ext cx="35999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Weight is reduced based on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  <a:r>
              <a:rPr lang="en-US" dirty="0"/>
              <a:t>  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2CED0CBE-4FA2-0A39-27D5-62030A9E7494}"/>
              </a:ext>
            </a:extLst>
          </p:cNvPr>
          <p:cNvSpPr/>
          <p:nvPr/>
        </p:nvSpPr>
        <p:spPr>
          <a:xfrm>
            <a:off x="8335618" y="1795669"/>
            <a:ext cx="1663148" cy="115294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New scatter direction is determined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53483FE8-D6C3-9B74-285A-09BD500A6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156" y="265467"/>
            <a:ext cx="9446193" cy="615176"/>
          </a:xfrm>
          <a:prstGeom prst="rect">
            <a:avLst/>
          </a:prstGeom>
          <a:ln>
            <a:solidFill>
              <a:schemeClr val="bg1"/>
            </a:solidFill>
          </a:ln>
        </p:spPr>
      </p:pic>
      <p:cxnSp>
        <p:nvCxnSpPr>
          <p:cNvPr id="43" name="Connector: Curved 42">
            <a:extLst>
              <a:ext uri="{FF2B5EF4-FFF2-40B4-BE49-F238E27FC236}">
                <a16:creationId xmlns:a16="http://schemas.microsoft.com/office/drawing/2014/main" id="{0E84804B-640A-9B18-7608-E5DB48BBBEBE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62551" y="-776815"/>
            <a:ext cx="915026" cy="4229939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55D8F6E7-FEDD-F497-CCD5-4F9E8ABF1236}"/>
              </a:ext>
            </a:extLst>
          </p:cNvPr>
          <p:cNvSpPr/>
          <p:nvPr/>
        </p:nvSpPr>
        <p:spPr>
          <a:xfrm rot="5400000">
            <a:off x="7776604" y="3979996"/>
            <a:ext cx="2883454" cy="1018356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8A415F6-6CC3-DBFF-FDCE-3E7E211DC316}"/>
              </a:ext>
            </a:extLst>
          </p:cNvPr>
          <p:cNvSpPr txBox="1"/>
          <p:nvPr/>
        </p:nvSpPr>
        <p:spPr>
          <a:xfrm>
            <a:off x="9672340" y="3253547"/>
            <a:ext cx="178241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Previous steps are repeated until the boundary is left or no more time is left</a:t>
            </a:r>
          </a:p>
        </p:txBody>
      </p:sp>
    </p:spTree>
    <p:extLst>
      <p:ext uri="{BB962C8B-B14F-4D97-AF65-F5344CB8AC3E}">
        <p14:creationId xmlns:p14="http://schemas.microsoft.com/office/powerpoint/2010/main" val="1601636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D9C3D-8F83-B489-ED20-32DC9A49B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Deciding the Parameters for Fornier Forand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B621F94-919A-F061-AEFA-DCA454A0C8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60398" y="2517503"/>
            <a:ext cx="6138895" cy="3011966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EF4266-C469-7D12-1BBE-C95523C3392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en-US" dirty="0"/>
              <a:t>0.015–0.025  from Characterization of Particle Backscattering of Global </a:t>
            </a:r>
            <a:r>
              <a:rPr lang="en-US" dirty="0" err="1"/>
              <a:t>HighlyTurbid</a:t>
            </a:r>
            <a:r>
              <a:rPr lang="en-US" dirty="0"/>
              <a:t> Waters From VIIRS Ocean Color Observations</a:t>
            </a:r>
          </a:p>
          <a:p>
            <a:pPr marL="342900" indent="-342900">
              <a:buAutoNum type="arabicPeriod"/>
            </a:pPr>
            <a:r>
              <a:rPr lang="en-US" dirty="0"/>
              <a:t>Picture to the left from Comparison of reflectance with backscatter and absorption parameters for turbid waters</a:t>
            </a:r>
          </a:p>
        </p:txBody>
      </p:sp>
    </p:spTree>
    <p:extLst>
      <p:ext uri="{BB962C8B-B14F-4D97-AF65-F5344CB8AC3E}">
        <p14:creationId xmlns:p14="http://schemas.microsoft.com/office/powerpoint/2010/main" val="3580156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6E126-C1BE-85E8-459F-D92815FAC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2FA01-4DD5-7264-9B6F-4CC46B83B2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FD19D3-F098-B794-A2BA-0DAB398D30C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Overall Picture</a:t>
            </a:r>
          </a:p>
          <a:p>
            <a:r>
              <a:rPr lang="en-US" dirty="0"/>
              <a:t>Angle Dependent Analysis</a:t>
            </a:r>
          </a:p>
          <a:p>
            <a:r>
              <a:rPr lang="en-US" dirty="0"/>
              <a:t>Goldie Zone Given Some Min</a:t>
            </a:r>
          </a:p>
          <a:p>
            <a:r>
              <a:rPr lang="en-US" dirty="0"/>
              <a:t>Curve</a:t>
            </a:r>
          </a:p>
        </p:txBody>
      </p:sp>
    </p:spTree>
    <p:extLst>
      <p:ext uri="{BB962C8B-B14F-4D97-AF65-F5344CB8AC3E}">
        <p14:creationId xmlns:p14="http://schemas.microsoft.com/office/powerpoint/2010/main" val="1310060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BB6C8-2B20-F7A7-DA70-2F191D990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Simulation Result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086805-400A-E772-78E2-27D8B55520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800" y="1413405"/>
            <a:ext cx="6655835" cy="4991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655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ED232-3F5E-61B1-E61F-8DA938316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Angle test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FBCCF5-06D0-4A88-D221-08B91CAB6B39}"/>
              </a:ext>
            </a:extLst>
          </p:cNvPr>
          <p:cNvSpPr txBox="1"/>
          <p:nvPr/>
        </p:nvSpPr>
        <p:spPr>
          <a:xfrm>
            <a:off x="6894394" y="1606477"/>
            <a:ext cx="438647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smaller radius the difference between the peak and bottom </a:t>
            </a:r>
            <a:r>
              <a:rPr lang="en-US" dirty="0" err="1"/>
              <a:t>plateu</a:t>
            </a:r>
            <a:r>
              <a:rPr lang="en-US" dirty="0"/>
              <a:t> become smaller from 4 times to 3 times the difference.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issue is that these voxels have no min acceptance angle, so this is not an accurate representation of what the detector would see. </a:t>
            </a:r>
          </a:p>
          <a:p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C47EA91-0DF6-26FD-0684-6A5A7A09E8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707" y="1606477"/>
            <a:ext cx="6398406" cy="479880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D733DC3-FC48-DED9-C563-138E8D47F0E9}"/>
              </a:ext>
            </a:extLst>
          </p:cNvPr>
          <p:cNvSpPr/>
          <p:nvPr/>
        </p:nvSpPr>
        <p:spPr>
          <a:xfrm>
            <a:off x="9173028" y="4943094"/>
            <a:ext cx="616857" cy="616857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46E7BA-52AF-AEB3-B765-9984E3705A58}"/>
              </a:ext>
            </a:extLst>
          </p:cNvPr>
          <p:cNvCxnSpPr>
            <a:endCxn id="11" idx="1"/>
          </p:cNvCxnSpPr>
          <p:nvPr/>
        </p:nvCxnSpPr>
        <p:spPr>
          <a:xfrm flipV="1">
            <a:off x="8040914" y="5251523"/>
            <a:ext cx="1132114" cy="6775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74B5380-F88C-9EC7-2CB3-440884F34EB8}"/>
              </a:ext>
            </a:extLst>
          </p:cNvPr>
          <p:cNvCxnSpPr>
            <a:cxnSpLocks/>
          </p:cNvCxnSpPr>
          <p:nvPr/>
        </p:nvCxnSpPr>
        <p:spPr>
          <a:xfrm flipV="1">
            <a:off x="8040914" y="5405737"/>
            <a:ext cx="1197429" cy="5233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23572D7-8C16-97AE-799F-DF6FF2D7D816}"/>
              </a:ext>
            </a:extLst>
          </p:cNvPr>
          <p:cNvCxnSpPr>
            <a:cxnSpLocks/>
            <a:endCxn id="11" idx="2"/>
          </p:cNvCxnSpPr>
          <p:nvPr/>
        </p:nvCxnSpPr>
        <p:spPr>
          <a:xfrm flipV="1">
            <a:off x="8040914" y="5559951"/>
            <a:ext cx="1440543" cy="3396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8E1BEBB-D3BD-C788-116B-BCD1B5B370CA}"/>
              </a:ext>
            </a:extLst>
          </p:cNvPr>
          <p:cNvCxnSpPr>
            <a:cxnSpLocks/>
          </p:cNvCxnSpPr>
          <p:nvPr/>
        </p:nvCxnSpPr>
        <p:spPr>
          <a:xfrm flipV="1">
            <a:off x="8073571" y="5559951"/>
            <a:ext cx="1716314" cy="3839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29942EB-0800-16DC-8273-AB7DE88DBC9B}"/>
              </a:ext>
            </a:extLst>
          </p:cNvPr>
          <p:cNvCxnSpPr>
            <a:cxnSpLocks/>
          </p:cNvCxnSpPr>
          <p:nvPr/>
        </p:nvCxnSpPr>
        <p:spPr>
          <a:xfrm flipV="1">
            <a:off x="8073571" y="5899557"/>
            <a:ext cx="1338943" cy="517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6844AB8-9997-FC6E-4794-B6455324B225}"/>
              </a:ext>
            </a:extLst>
          </p:cNvPr>
          <p:cNvCxnSpPr>
            <a:cxnSpLocks/>
          </p:cNvCxnSpPr>
          <p:nvPr/>
        </p:nvCxnSpPr>
        <p:spPr>
          <a:xfrm flipV="1">
            <a:off x="9412514" y="5590304"/>
            <a:ext cx="246743" cy="309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0AC60BB-30F4-3A48-AF82-7AA1061789CA}"/>
              </a:ext>
            </a:extLst>
          </p:cNvPr>
          <p:cNvCxnSpPr>
            <a:cxnSpLocks/>
          </p:cNvCxnSpPr>
          <p:nvPr/>
        </p:nvCxnSpPr>
        <p:spPr>
          <a:xfrm flipV="1">
            <a:off x="8073571" y="5054227"/>
            <a:ext cx="1132114" cy="8141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F38CD91-A5D7-367E-43E5-D329AB265129}"/>
              </a:ext>
            </a:extLst>
          </p:cNvPr>
          <p:cNvCxnSpPr>
            <a:cxnSpLocks/>
          </p:cNvCxnSpPr>
          <p:nvPr/>
        </p:nvCxnSpPr>
        <p:spPr>
          <a:xfrm flipV="1">
            <a:off x="8048235" y="4738823"/>
            <a:ext cx="1364279" cy="11865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CF50F66-9F1C-938E-AD51-AA349E8002A1}"/>
              </a:ext>
            </a:extLst>
          </p:cNvPr>
          <p:cNvCxnSpPr/>
          <p:nvPr/>
        </p:nvCxnSpPr>
        <p:spPr>
          <a:xfrm>
            <a:off x="9376073" y="4760199"/>
            <a:ext cx="210766" cy="138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4C35404-9943-BE1E-3971-914160D3CB93}"/>
              </a:ext>
            </a:extLst>
          </p:cNvPr>
          <p:cNvCxnSpPr>
            <a:cxnSpLocks/>
          </p:cNvCxnSpPr>
          <p:nvPr/>
        </p:nvCxnSpPr>
        <p:spPr>
          <a:xfrm flipV="1">
            <a:off x="8113713" y="5575466"/>
            <a:ext cx="1149966" cy="3343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7060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72958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0326F-948C-8CD6-61AF-24B753B4D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FB0220-23E7-8FF9-3EFB-50936F2D4F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1" y="2052918"/>
            <a:ext cx="9630950" cy="4195481"/>
          </a:xfrm>
        </p:spPr>
        <p:txBody>
          <a:bodyPr/>
          <a:lstStyle/>
          <a:p>
            <a:r>
              <a:rPr lang="en-US" dirty="0"/>
              <a:t>Domain: 500mm by 500mm by 500mm ( Can be reduced to 100mm for some tests)</a:t>
            </a:r>
          </a:p>
          <a:p>
            <a:r>
              <a:rPr lang="en-US" dirty="0"/>
              <a:t>Back Scatter Fraction 0.024 (May be tuned in via Petzold)(n=1.1,u=3.4)</a:t>
            </a:r>
          </a:p>
          <a:p>
            <a:r>
              <a:rPr lang="en-US" dirty="0"/>
              <a:t>Mua:0.003</a:t>
            </a:r>
          </a:p>
          <a:p>
            <a:r>
              <a:rPr lang="en-US" dirty="0"/>
              <a:t>Mus: 0.015 to 0.05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47079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DE3B1-A1D1-CD63-EFDA-1AE7F26FA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Sanity Checks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7A8ED-E292-CF61-9F53-B9DCD8CEF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46CF0A-A784-9712-C2C8-FC454923D16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55000" lnSpcReduction="20000"/>
          </a:bodyPr>
          <a:lstStyle/>
          <a:p>
            <a:pPr marL="342900" indent="-342900">
              <a:buAutoNum type="arabicPeriod"/>
            </a:pPr>
            <a:r>
              <a:rPr lang="en-US" dirty="0"/>
              <a:t>Under 0 scattering:</a:t>
            </a:r>
          </a:p>
          <a:p>
            <a:pPr marL="800100" lvl="1" indent="-342900">
              <a:buAutoNum type="arabicPeriod"/>
            </a:pPr>
            <a:r>
              <a:rPr lang="en-US" dirty="0"/>
              <a:t>Peak at zero degrees</a:t>
            </a:r>
          </a:p>
          <a:p>
            <a:pPr marL="800100" lvl="1" indent="-342900">
              <a:buAutoNum type="arabicPeriod"/>
            </a:pPr>
            <a:r>
              <a:rPr lang="en-US" dirty="0"/>
              <a:t>Absorption dependance must recover the beer lambert law</a:t>
            </a:r>
          </a:p>
          <a:p>
            <a:pPr marL="342900" indent="-342900">
              <a:buAutoNum type="arabicPeriod"/>
            </a:pPr>
            <a:r>
              <a:rPr lang="en-US" dirty="0"/>
              <a:t>Under conditions where 1 scattering event per photon on average occurs:</a:t>
            </a:r>
          </a:p>
          <a:p>
            <a:pPr marL="800100" lvl="1" indent="-342900">
              <a:buAutoNum type="arabicPeriod"/>
            </a:pPr>
            <a:r>
              <a:rPr lang="en-US" dirty="0"/>
              <a:t>We must recover the Fornier Forand distribution</a:t>
            </a:r>
          </a:p>
          <a:p>
            <a:pPr marL="800100" lvl="1" indent="-342900">
              <a:buAutoNum type="arabicPeriod"/>
            </a:pPr>
            <a:r>
              <a:rPr lang="en-US" dirty="0"/>
              <a:t>HG and FF must be close</a:t>
            </a:r>
          </a:p>
          <a:p>
            <a:pPr marL="342900" indent="-342900">
              <a:buAutoNum type="arabicPeriod"/>
            </a:pPr>
            <a:r>
              <a:rPr lang="en-US" dirty="0"/>
              <a:t>Under reasonable scattering:</a:t>
            </a:r>
          </a:p>
          <a:p>
            <a:pPr marL="800100" lvl="1" indent="-342900">
              <a:buAutoNum type="arabicPeriod"/>
            </a:pPr>
            <a:r>
              <a:rPr lang="en-US" dirty="0"/>
              <a:t>Increasing photon number must reduce std of solutions</a:t>
            </a:r>
          </a:p>
          <a:p>
            <a:pPr marL="800100" lvl="1" indent="-342900">
              <a:buAutoNum type="arabicPeriod"/>
            </a:pPr>
            <a:r>
              <a:rPr lang="en-US" dirty="0"/>
              <a:t>HG and FF must </a:t>
            </a:r>
            <a:r>
              <a:rPr lang="en-US" dirty="0" err="1"/>
              <a:t>divarge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 Under very large scattering:</a:t>
            </a:r>
          </a:p>
          <a:p>
            <a:pPr marL="800100" lvl="1" indent="-342900">
              <a:buAutoNum type="arabicPeriod"/>
            </a:pPr>
            <a:r>
              <a:rPr lang="en-US" dirty="0"/>
              <a:t>Source must look isotropic at a distance with no forward bias</a:t>
            </a:r>
          </a:p>
          <a:p>
            <a:pPr marL="800100" lvl="1" indent="-342900">
              <a:buAutoNum type="arabicPeriod"/>
            </a:pPr>
            <a:r>
              <a:rPr lang="en-US" dirty="0"/>
              <a:t>HG and FF must converge</a:t>
            </a:r>
          </a:p>
          <a:p>
            <a:pPr marL="342900" indent="-34290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1070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77E8-C58B-D8E1-A3AD-F4FA7A6F7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Zero Scattering Check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1E261-3E13-2E5E-33EF-D6FD51D80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X-Y Slice of Monte Carlo Sim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C8ECB81-F538-BEF0-3CDD-5EF1CB03CF5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313" y="2737049"/>
            <a:ext cx="4395787" cy="329684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8E22DB-48CA-CC3E-4860-A85544A964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Fluence measured at angles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AFF93458-1A9C-97F1-32B3-696333D6E3F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4675" y="2737048"/>
            <a:ext cx="4395788" cy="3296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6192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7EC54-3F47-EEB3-F49C-6ADDCD544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675342" cy="1400530"/>
          </a:xfrm>
        </p:spPr>
        <p:txBody>
          <a:bodyPr/>
          <a:lstStyle/>
          <a:p>
            <a:r>
              <a:rPr lang="en-US" dirty="0"/>
              <a:t>Absorption/Beer-Lambert Crosscheck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BBE854-CF5E-5F60-728F-58D0ED72869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313" y="2510036"/>
            <a:ext cx="4395787" cy="3296840"/>
          </a:xfrm>
          <a:prstGeom prst="rect">
            <a:avLst/>
          </a:prstGeom>
        </p:spPr>
      </p:pic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8D83059-441A-03D2-BE01-4CCFDE08CAA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131740297"/>
              </p:ext>
            </p:extLst>
          </p:nvPr>
        </p:nvGraphicFramePr>
        <p:xfrm>
          <a:off x="7212496" y="2441851"/>
          <a:ext cx="3108957" cy="302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1730474470"/>
                    </a:ext>
                  </a:extLst>
                </a:gridCol>
                <a:gridCol w="1040959">
                  <a:extLst>
                    <a:ext uri="{9D8B030D-6E8A-4147-A177-3AD203B41FA5}">
                      <a16:colId xmlns:a16="http://schemas.microsoft.com/office/drawing/2014/main" val="567074295"/>
                    </a:ext>
                  </a:extLst>
                </a:gridCol>
                <a:gridCol w="1031679">
                  <a:extLst>
                    <a:ext uri="{9D8B030D-6E8A-4147-A177-3AD203B41FA5}">
                      <a16:colId xmlns:a16="http://schemas.microsoft.com/office/drawing/2014/main" val="1091934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Absorption Coeff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Normalized Fluence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Beer-Lambert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0001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52239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346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5474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7846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0446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4.32e-5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4.54e-5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642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5614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22565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8B833-A627-EF0D-80E8-9139A8954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Validation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029C07-C905-3A77-FA6C-DA96735E126E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9F6216-FE26-A01B-8564-DFA27F4EA6F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For proper verification, I will use an analytic solver</a:t>
            </a:r>
          </a:p>
        </p:txBody>
      </p:sp>
    </p:spTree>
    <p:extLst>
      <p:ext uri="{BB962C8B-B14F-4D97-AF65-F5344CB8AC3E}">
        <p14:creationId xmlns:p14="http://schemas.microsoft.com/office/powerpoint/2010/main" val="23479366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92E64-2938-2E72-3704-0B2F214CA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E48B6-D143-64CD-E99F-B83C8C90B8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2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35A90-343A-331E-F423-28D767CCB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2F2B44-79DC-9756-4DB0-9D4EFB36E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A88F27-8EE8-783C-5CB9-DD3F9E6A2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910614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1717</TotalTime>
  <Words>528</Words>
  <Application>Microsoft Office PowerPoint</Application>
  <PresentationFormat>Widescreen</PresentationFormat>
  <Paragraphs>86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Cambria Math</vt:lpstr>
      <vt:lpstr>Century Gothic</vt:lpstr>
      <vt:lpstr>Wingdings 3</vt:lpstr>
      <vt:lpstr>Ion</vt:lpstr>
      <vt:lpstr>Presentation for West River</vt:lpstr>
      <vt:lpstr>The Experimental Setup</vt:lpstr>
      <vt:lpstr>Simulation Innerworkings</vt:lpstr>
      <vt:lpstr>PowerPoint Presentation</vt:lpstr>
      <vt:lpstr>Deciding the Parameters for Fornier Forand</vt:lpstr>
      <vt:lpstr>Analysis Methods</vt:lpstr>
      <vt:lpstr>Monte Carlo Simulation Result</vt:lpstr>
      <vt:lpstr>Angle test</vt:lpstr>
      <vt:lpstr>PowerPoint Presentation</vt:lpstr>
      <vt:lpstr>Other Parameters</vt:lpstr>
      <vt:lpstr>Sanity Checks</vt:lpstr>
      <vt:lpstr>Zero Scattering Check</vt:lpstr>
      <vt:lpstr>Absorption/Beer-Lambert Crosscheck</vt:lpstr>
      <vt:lpstr>Validation</vt:lpstr>
      <vt:lpstr>PowerPoint Presentation</vt:lpstr>
      <vt:lpstr>Structure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Kaan Volkan</dc:creator>
  <cp:lastModifiedBy>Kaan Volkan</cp:lastModifiedBy>
  <cp:revision>4</cp:revision>
  <dcterms:created xsi:type="dcterms:W3CDTF">2026-08-17T19:46:41Z</dcterms:created>
  <dcterms:modified xsi:type="dcterms:W3CDTF">2026-08-19T00:24:51Z</dcterms:modified>
</cp:coreProperties>
</file>