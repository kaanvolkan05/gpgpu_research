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4" r:id="rId4"/>
    <p:sldId id="265" r:id="rId5"/>
    <p:sldId id="269" r:id="rId6"/>
    <p:sldId id="278" r:id="rId7"/>
    <p:sldId id="271" r:id="rId8"/>
    <p:sldId id="272" r:id="rId9"/>
    <p:sldId id="273" r:id="rId10"/>
    <p:sldId id="274" r:id="rId11"/>
    <p:sldId id="275" r:id="rId12"/>
    <p:sldId id="276" r:id="rId13"/>
    <p:sldId id="258" r:id="rId14"/>
    <p:sldId id="260" r:id="rId15"/>
    <p:sldId id="26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68" d="100"/>
          <a:sy n="68" d="100"/>
        </p:scale>
        <p:origin x="1014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101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166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587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6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638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73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905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016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5590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72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2918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53136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7032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431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2048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5311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869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658E1C9A-47F7-4494-B9B8-0D060B88ACB1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2987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C83FD-EB31-5518-6A59-7C2E9A326F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Turbidity Meter Simulation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891836-D58B-5389-0008-54551E15A1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Pre-Results Meeting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637CC8-38DA-8ECC-FE91-146B615A8A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962" y="3875315"/>
            <a:ext cx="3880152" cy="291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867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1885E-7E45-1838-C5CE-F10B02BE3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Experimental Setup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979D269-78B7-1CB2-DED0-0A47B66C73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7246" y="2736970"/>
            <a:ext cx="4010054" cy="29908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B91F91-4097-493D-65AB-5A166AFFB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568" y="2979859"/>
            <a:ext cx="3562376" cy="2505093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A1E60410-D2D2-80E1-8BB0-68BD9497A657}"/>
              </a:ext>
            </a:extLst>
          </p:cNvPr>
          <p:cNvSpPr/>
          <p:nvPr/>
        </p:nvSpPr>
        <p:spPr>
          <a:xfrm>
            <a:off x="2406649" y="4013199"/>
            <a:ext cx="212725" cy="244475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91E650-593F-1E09-81AB-496D0BD94930}"/>
              </a:ext>
            </a:extLst>
          </p:cNvPr>
          <p:cNvSpPr txBox="1"/>
          <p:nvPr/>
        </p:nvSpPr>
        <p:spPr>
          <a:xfrm>
            <a:off x="4013199" y="2295525"/>
            <a:ext cx="14541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source</a:t>
            </a:r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0FD5669-7FE1-BA61-9F4F-F229D21DB396}"/>
              </a:ext>
            </a:extLst>
          </p:cNvPr>
          <p:cNvCxnSpPr>
            <a:cxnSpLocks/>
            <a:stCxn id="10" idx="6"/>
            <a:endCxn id="11" idx="1"/>
          </p:cNvCxnSpPr>
          <p:nvPr/>
        </p:nvCxnSpPr>
        <p:spPr>
          <a:xfrm flipV="1">
            <a:off x="2619374" y="2464802"/>
            <a:ext cx="1393825" cy="167063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44CB1B2-1D9D-7F03-DCF9-43633DE715E9}"/>
              </a:ext>
            </a:extLst>
          </p:cNvPr>
          <p:cNvSpPr txBox="1"/>
          <p:nvPr/>
        </p:nvSpPr>
        <p:spPr>
          <a:xfrm>
            <a:off x="4743449" y="4197350"/>
            <a:ext cx="14635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Domain Boundary</a:t>
            </a:r>
          </a:p>
        </p:txBody>
      </p: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B28DB5EB-C3BF-1505-4C8D-69869071366C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4378325" y="4314825"/>
            <a:ext cx="365124" cy="17491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4597057-9281-2B75-01EC-8ACEAC1FCDEC}"/>
              </a:ext>
            </a:extLst>
          </p:cNvPr>
          <p:cNvSpPr/>
          <p:nvPr/>
        </p:nvSpPr>
        <p:spPr>
          <a:xfrm>
            <a:off x="7294077" y="3484562"/>
            <a:ext cx="1425575" cy="14255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0CB751-AAB9-858F-647A-4FA0D7604A12}"/>
              </a:ext>
            </a:extLst>
          </p:cNvPr>
          <p:cNvSpPr/>
          <p:nvPr/>
        </p:nvSpPr>
        <p:spPr>
          <a:xfrm>
            <a:off x="7322926" y="3513411"/>
            <a:ext cx="1367875" cy="13678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8882FF-07FF-6165-7054-61A776DFEDB0}"/>
              </a:ext>
            </a:extLst>
          </p:cNvPr>
          <p:cNvSpPr txBox="1"/>
          <p:nvPr/>
        </p:nvSpPr>
        <p:spPr>
          <a:xfrm>
            <a:off x="7896224" y="2531528"/>
            <a:ext cx="23114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Zone(1) of interest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2EA7DA-8570-1224-F1F7-B0127DC73EF8}"/>
              </a:ext>
            </a:extLst>
          </p:cNvPr>
          <p:cNvCxnSpPr/>
          <p:nvPr/>
        </p:nvCxnSpPr>
        <p:spPr>
          <a:xfrm flipV="1">
            <a:off x="8197756" y="3984625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5A34D47-6D1C-904F-88DE-F7CB0E4DF642}"/>
              </a:ext>
            </a:extLst>
          </p:cNvPr>
          <p:cNvCxnSpPr>
            <a:cxnSpLocks/>
          </p:cNvCxnSpPr>
          <p:nvPr/>
        </p:nvCxnSpPr>
        <p:spPr>
          <a:xfrm>
            <a:off x="8197755" y="4220232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8164D63-2122-6D15-236F-8CBCB67ABA74}"/>
              </a:ext>
            </a:extLst>
          </p:cNvPr>
          <p:cNvCxnSpPr/>
          <p:nvPr/>
        </p:nvCxnSpPr>
        <p:spPr>
          <a:xfrm>
            <a:off x="9467850" y="3984625"/>
            <a:ext cx="0" cy="4483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6340BF6-8631-0EEE-55D3-9397A3FE36EE}"/>
              </a:ext>
            </a:extLst>
          </p:cNvPr>
          <p:cNvSpPr txBox="1"/>
          <p:nvPr/>
        </p:nvSpPr>
        <p:spPr>
          <a:xfrm>
            <a:off x="10216048" y="4740860"/>
            <a:ext cx="21305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Zone(2) of interest</a:t>
            </a:r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4987ABB5-9CA5-8241-A4DD-D8F94585A0BA}"/>
              </a:ext>
            </a:extLst>
          </p:cNvPr>
          <p:cNvCxnSpPr>
            <a:cxnSpLocks/>
            <a:endCxn id="25" idx="1"/>
          </p:cNvCxnSpPr>
          <p:nvPr/>
        </p:nvCxnSpPr>
        <p:spPr>
          <a:xfrm rot="5400000" flipH="1" flipV="1">
            <a:off x="7193989" y="3012516"/>
            <a:ext cx="1013946" cy="3905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C105E3A2-5B12-362D-2BBD-41ADEDE4416A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9239250" y="4283075"/>
            <a:ext cx="2042058" cy="45778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FA885E1-9B3B-36F2-C04E-BF29C9BB9DF5}"/>
              </a:ext>
            </a:extLst>
          </p:cNvPr>
          <p:cNvSpPr txBox="1"/>
          <p:nvPr/>
        </p:nvSpPr>
        <p:spPr>
          <a:xfrm>
            <a:off x="647922" y="5792896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3D image of the experimental setup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F7F0FB-27E7-7596-EC56-19CA6574F7A4}"/>
              </a:ext>
            </a:extLst>
          </p:cNvPr>
          <p:cNvSpPr txBox="1"/>
          <p:nvPr/>
        </p:nvSpPr>
        <p:spPr>
          <a:xfrm>
            <a:off x="6073404" y="5551505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X-Z plane of the experimental setup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044F69-07BD-2751-24FF-8652B93A6368}"/>
              </a:ext>
            </a:extLst>
          </p:cNvPr>
          <p:cNvSpPr txBox="1"/>
          <p:nvPr/>
        </p:nvSpPr>
        <p:spPr>
          <a:xfrm>
            <a:off x="1066800" y="1320800"/>
            <a:ext cx="8912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setup(1) consists of a source in the middle of out domain. The domain boundary is </a:t>
            </a:r>
            <a:r>
              <a:rPr lang="en-US" dirty="0" err="1"/>
              <a:t>absorbant</a:t>
            </a:r>
            <a:r>
              <a:rPr lang="en-US" dirty="0"/>
              <a:t>, and the source is a pencil source. </a:t>
            </a:r>
          </a:p>
        </p:txBody>
      </p:sp>
    </p:spTree>
    <p:extLst>
      <p:ext uri="{BB962C8B-B14F-4D97-AF65-F5344CB8AC3E}">
        <p14:creationId xmlns:p14="http://schemas.microsoft.com/office/powerpoint/2010/main" val="2867557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843A8-74B2-78E6-FCA9-17B2EACE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Innerworkings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3BAC1-1CF2-92D1-B9E7-C497CD667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Photon launches with a packet weight 1 and direction v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Based on an exponential distribution based on the scattering coefficient 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of the current voxel, it  decides how many voxels to travel in v direction.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Steps 1 voxel in v direction and looses packet weight based on the absorption coefficient </a:t>
            </a:r>
            <a:r>
              <a:rPr lang="en-US" dirty="0"/>
              <a:t>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packet weight is added to its current voxel’s raw probability,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previous 2 steps are repeated until the package reaches the next scattering voxel decided in the second step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Calculate a new scattering direction vector: the azimuth and zenith scattering angles are computed, respectively, by a random number uniformly distributed in [0,2pi] and a random number between [0,pi) following an assigned phase function.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from step 2 until the max time is reached or the photon exits the domain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all steps for next photon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44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E5E6297A-D824-851D-1682-E7DB224153CD}"/>
              </a:ext>
            </a:extLst>
          </p:cNvPr>
          <p:cNvSpPr/>
          <p:nvPr/>
        </p:nvSpPr>
        <p:spPr>
          <a:xfrm>
            <a:off x="53009" y="1358348"/>
            <a:ext cx="11940208" cy="4671391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A58B961-E562-FC88-8A0E-3FC06955C401}"/>
              </a:ext>
            </a:extLst>
          </p:cNvPr>
          <p:cNvSpPr/>
          <p:nvPr/>
        </p:nvSpPr>
        <p:spPr>
          <a:xfrm>
            <a:off x="114504" y="1842052"/>
            <a:ext cx="1881809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Photon Launches with weight 1 in v </a:t>
            </a:r>
            <a:r>
              <a:rPr lang="en-US" dirty="0" err="1"/>
              <a:t>dir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FA17908-4E4A-2C7B-8F3E-38AE0389FF97}"/>
              </a:ext>
            </a:extLst>
          </p:cNvPr>
          <p:cNvSpPr/>
          <p:nvPr/>
        </p:nvSpPr>
        <p:spPr>
          <a:xfrm>
            <a:off x="3730895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99E545-9608-7184-1081-9E7EC5F60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816" y="2746514"/>
            <a:ext cx="1543061" cy="1266834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519AE099-0597-5E63-4686-68D2FB27CCD5}"/>
              </a:ext>
            </a:extLst>
          </p:cNvPr>
          <p:cNvSpPr/>
          <p:nvPr/>
        </p:nvSpPr>
        <p:spPr>
          <a:xfrm>
            <a:off x="2110816" y="1842052"/>
            <a:ext cx="6096006" cy="1152940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/>
              <a:t>, photon travels n voxels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05261AD-26CE-077F-A73A-9E0CAB08E63D}"/>
              </a:ext>
            </a:extLst>
          </p:cNvPr>
          <p:cNvSpPr/>
          <p:nvPr/>
        </p:nvSpPr>
        <p:spPr>
          <a:xfrm>
            <a:off x="4046930" y="3131296"/>
            <a:ext cx="497269" cy="49726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3E8AE43-0D28-F6DC-0FC1-3121AEBF9B70}"/>
              </a:ext>
            </a:extLst>
          </p:cNvPr>
          <p:cNvSpPr/>
          <p:nvPr/>
        </p:nvSpPr>
        <p:spPr>
          <a:xfrm>
            <a:off x="4937253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ED25659-77B4-9FF8-C456-39935DD55A9C}"/>
              </a:ext>
            </a:extLst>
          </p:cNvPr>
          <p:cNvSpPr/>
          <p:nvPr/>
        </p:nvSpPr>
        <p:spPr>
          <a:xfrm>
            <a:off x="5326176" y="3209766"/>
            <a:ext cx="319252" cy="319252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870FDC6-969A-4902-83E7-BDBF27EDAC0E}"/>
              </a:ext>
            </a:extLst>
          </p:cNvPr>
          <p:cNvSpPr/>
          <p:nvPr/>
        </p:nvSpPr>
        <p:spPr>
          <a:xfrm>
            <a:off x="6143611" y="277680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A79CE46-865E-A188-6C39-74E03E74C1B4}"/>
              </a:ext>
            </a:extLst>
          </p:cNvPr>
          <p:cNvSpPr/>
          <p:nvPr/>
        </p:nvSpPr>
        <p:spPr>
          <a:xfrm>
            <a:off x="6532533" y="3226958"/>
            <a:ext cx="242479" cy="24247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7EF43584-8A09-DF8D-E946-B0FE437CAA09}"/>
              </a:ext>
            </a:extLst>
          </p:cNvPr>
          <p:cNvCxnSpPr>
            <a:stCxn id="8" idx="2"/>
            <a:endCxn id="15" idx="2"/>
          </p:cNvCxnSpPr>
          <p:nvPr/>
        </p:nvCxnSpPr>
        <p:spPr>
          <a:xfrm rot="16200000" flipH="1">
            <a:off x="4898744" y="3353222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A0717F08-B786-FF34-5EAC-26C9DA0DB85C}"/>
              </a:ext>
            </a:extLst>
          </p:cNvPr>
          <p:cNvCxnSpPr/>
          <p:nvPr/>
        </p:nvCxnSpPr>
        <p:spPr>
          <a:xfrm rot="16200000" flipH="1">
            <a:off x="6097142" y="3334171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614E54FC-995B-9FD9-B4D0-A9CFAEA84012}"/>
              </a:ext>
            </a:extLst>
          </p:cNvPr>
          <p:cNvSpPr/>
          <p:nvPr/>
        </p:nvSpPr>
        <p:spPr>
          <a:xfrm>
            <a:off x="7427844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6E07292-A4D4-72BA-E678-155CB70D2120}"/>
              </a:ext>
            </a:extLst>
          </p:cNvPr>
          <p:cNvSpPr/>
          <p:nvPr/>
        </p:nvSpPr>
        <p:spPr>
          <a:xfrm>
            <a:off x="7661873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58315BD-41CC-6F90-B553-8AE5999C2239}"/>
              </a:ext>
            </a:extLst>
          </p:cNvPr>
          <p:cNvSpPr/>
          <p:nvPr/>
        </p:nvSpPr>
        <p:spPr>
          <a:xfrm>
            <a:off x="7895902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54670A-1960-82BB-9C71-DF05F66283AB}"/>
              </a:ext>
            </a:extLst>
          </p:cNvPr>
          <p:cNvSpPr txBox="1"/>
          <p:nvPr/>
        </p:nvSpPr>
        <p:spPr>
          <a:xfrm>
            <a:off x="7609733" y="3469437"/>
            <a:ext cx="49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EE55A7-84BF-6E4B-6CB7-FBDF4CC8589A}"/>
              </a:ext>
            </a:extLst>
          </p:cNvPr>
          <p:cNvSpPr txBox="1"/>
          <p:nvPr/>
        </p:nvSpPr>
        <p:spPr>
          <a:xfrm>
            <a:off x="3637150" y="4161015"/>
            <a:ext cx="3599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Weight is reduced 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/>
              <a:t> 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CED0CBE-4FA2-0A39-27D5-62030A9E7494}"/>
              </a:ext>
            </a:extLst>
          </p:cNvPr>
          <p:cNvSpPr/>
          <p:nvPr/>
        </p:nvSpPr>
        <p:spPr>
          <a:xfrm>
            <a:off x="8335618" y="1795669"/>
            <a:ext cx="1663148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scatter direction is determined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53483FE8-D6C3-9B74-285A-09BD500A6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156" y="1353608"/>
            <a:ext cx="9446193" cy="615176"/>
          </a:xfrm>
          <a:prstGeom prst="rect">
            <a:avLst/>
          </a:prstGeom>
          <a:ln>
            <a:solidFill>
              <a:schemeClr val="bg1"/>
            </a:solidFill>
          </a:ln>
        </p:spPr>
      </p:pic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0E84804B-640A-9B18-7608-E5DB48BBBEBE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62551" y="-776815"/>
            <a:ext cx="915026" cy="4229939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55D8F6E7-FEDD-F497-CCD5-4F9E8ABF1236}"/>
              </a:ext>
            </a:extLst>
          </p:cNvPr>
          <p:cNvSpPr/>
          <p:nvPr/>
        </p:nvSpPr>
        <p:spPr>
          <a:xfrm rot="5400000">
            <a:off x="7776604" y="3979996"/>
            <a:ext cx="2883454" cy="1018356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8A415F6-6CC3-DBFF-FDCE-3E7E211DC316}"/>
              </a:ext>
            </a:extLst>
          </p:cNvPr>
          <p:cNvSpPr txBox="1"/>
          <p:nvPr/>
        </p:nvSpPr>
        <p:spPr>
          <a:xfrm>
            <a:off x="9672340" y="3253547"/>
            <a:ext cx="178241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Previous steps are repeated until the boundary is left or no more time is left</a:t>
            </a:r>
          </a:p>
        </p:txBody>
      </p:sp>
    </p:spTree>
    <p:extLst>
      <p:ext uri="{BB962C8B-B14F-4D97-AF65-F5344CB8AC3E}">
        <p14:creationId xmlns:p14="http://schemas.microsoft.com/office/powerpoint/2010/main" val="1601636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BB6C8-2B20-F7A7-DA70-2F191D990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Simulation Result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086805-400A-E772-78E2-27D8B55520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800" y="1413405"/>
            <a:ext cx="6655835" cy="4991877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389F85F-5017-D968-1F54-7D29472F73B0}"/>
              </a:ext>
            </a:extLst>
          </p:cNvPr>
          <p:cNvSpPr/>
          <p:nvPr/>
        </p:nvSpPr>
        <p:spPr>
          <a:xfrm>
            <a:off x="4426857" y="2106309"/>
            <a:ext cx="3338286" cy="3338286"/>
          </a:xfrm>
          <a:prstGeom prst="ellips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65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E138A7-AEAD-B31A-FEC5-F6B9386AB1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943" y="2256971"/>
            <a:ext cx="5302550" cy="39769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890A62-0952-860A-ECD3-D3095D3E36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07" y="1995714"/>
            <a:ext cx="5863768" cy="439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02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ED232-3F5E-61B1-E61F-8DA938316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Angle test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FBCCF5-06D0-4A88-D221-08B91CAB6B39}"/>
              </a:ext>
            </a:extLst>
          </p:cNvPr>
          <p:cNvSpPr txBox="1"/>
          <p:nvPr/>
        </p:nvSpPr>
        <p:spPr>
          <a:xfrm>
            <a:off x="6894394" y="1606477"/>
            <a:ext cx="438647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smaller radius the difference between the peak and bottom </a:t>
            </a:r>
            <a:r>
              <a:rPr lang="en-US" dirty="0" err="1"/>
              <a:t>plateu</a:t>
            </a:r>
            <a:r>
              <a:rPr lang="en-US" dirty="0"/>
              <a:t> become smaller from 4 times to 3 times the difference.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issue is that these voxels have no min acceptance angle, so this is not an accurate representation of what the detector would see. </a:t>
            </a:r>
          </a:p>
          <a:p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C47EA91-0DF6-26FD-0684-6A5A7A09E8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707" y="1606477"/>
            <a:ext cx="6398406" cy="479880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D733DC3-FC48-DED9-C563-138E8D47F0E9}"/>
              </a:ext>
            </a:extLst>
          </p:cNvPr>
          <p:cNvSpPr/>
          <p:nvPr/>
        </p:nvSpPr>
        <p:spPr>
          <a:xfrm>
            <a:off x="9173028" y="4943094"/>
            <a:ext cx="616857" cy="616857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46E7BA-52AF-AEB3-B765-9984E3705A58}"/>
              </a:ext>
            </a:extLst>
          </p:cNvPr>
          <p:cNvCxnSpPr>
            <a:endCxn id="11" idx="1"/>
          </p:cNvCxnSpPr>
          <p:nvPr/>
        </p:nvCxnSpPr>
        <p:spPr>
          <a:xfrm flipV="1">
            <a:off x="8040914" y="5251523"/>
            <a:ext cx="1132114" cy="6775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74B5380-F88C-9EC7-2CB3-440884F34EB8}"/>
              </a:ext>
            </a:extLst>
          </p:cNvPr>
          <p:cNvCxnSpPr>
            <a:cxnSpLocks/>
          </p:cNvCxnSpPr>
          <p:nvPr/>
        </p:nvCxnSpPr>
        <p:spPr>
          <a:xfrm flipV="1">
            <a:off x="8040914" y="5405737"/>
            <a:ext cx="1197429" cy="523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3572D7-8C16-97AE-799F-DF6FF2D7D816}"/>
              </a:ext>
            </a:extLst>
          </p:cNvPr>
          <p:cNvCxnSpPr>
            <a:cxnSpLocks/>
            <a:endCxn id="11" idx="2"/>
          </p:cNvCxnSpPr>
          <p:nvPr/>
        </p:nvCxnSpPr>
        <p:spPr>
          <a:xfrm flipV="1">
            <a:off x="8040914" y="5559951"/>
            <a:ext cx="1440543" cy="3396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8E1BEBB-D3BD-C788-116B-BCD1B5B370CA}"/>
              </a:ext>
            </a:extLst>
          </p:cNvPr>
          <p:cNvCxnSpPr>
            <a:cxnSpLocks/>
          </p:cNvCxnSpPr>
          <p:nvPr/>
        </p:nvCxnSpPr>
        <p:spPr>
          <a:xfrm flipV="1">
            <a:off x="8073571" y="5559951"/>
            <a:ext cx="1716314" cy="383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29942EB-0800-16DC-8273-AB7DE88DBC9B}"/>
              </a:ext>
            </a:extLst>
          </p:cNvPr>
          <p:cNvCxnSpPr>
            <a:cxnSpLocks/>
          </p:cNvCxnSpPr>
          <p:nvPr/>
        </p:nvCxnSpPr>
        <p:spPr>
          <a:xfrm flipV="1">
            <a:off x="8073571" y="5899557"/>
            <a:ext cx="1338943" cy="517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6844AB8-9997-FC6E-4794-B6455324B225}"/>
              </a:ext>
            </a:extLst>
          </p:cNvPr>
          <p:cNvCxnSpPr>
            <a:cxnSpLocks/>
          </p:cNvCxnSpPr>
          <p:nvPr/>
        </p:nvCxnSpPr>
        <p:spPr>
          <a:xfrm flipV="1">
            <a:off x="9412514" y="5590304"/>
            <a:ext cx="246743" cy="309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AC60BB-30F4-3A48-AF82-7AA1061789CA}"/>
              </a:ext>
            </a:extLst>
          </p:cNvPr>
          <p:cNvCxnSpPr>
            <a:cxnSpLocks/>
          </p:cNvCxnSpPr>
          <p:nvPr/>
        </p:nvCxnSpPr>
        <p:spPr>
          <a:xfrm flipV="1">
            <a:off x="8073571" y="5054227"/>
            <a:ext cx="1132114" cy="8141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F38CD91-A5D7-367E-43E5-D329AB265129}"/>
              </a:ext>
            </a:extLst>
          </p:cNvPr>
          <p:cNvCxnSpPr>
            <a:cxnSpLocks/>
          </p:cNvCxnSpPr>
          <p:nvPr/>
        </p:nvCxnSpPr>
        <p:spPr>
          <a:xfrm flipV="1">
            <a:off x="8048235" y="4738823"/>
            <a:ext cx="1364279" cy="1186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CF50F66-9F1C-938E-AD51-AA349E8002A1}"/>
              </a:ext>
            </a:extLst>
          </p:cNvPr>
          <p:cNvCxnSpPr/>
          <p:nvPr/>
        </p:nvCxnSpPr>
        <p:spPr>
          <a:xfrm>
            <a:off x="9376073" y="4760199"/>
            <a:ext cx="210766" cy="138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4C35404-9943-BE1E-3971-914160D3CB93}"/>
              </a:ext>
            </a:extLst>
          </p:cNvPr>
          <p:cNvCxnSpPr>
            <a:cxnSpLocks/>
          </p:cNvCxnSpPr>
          <p:nvPr/>
        </p:nvCxnSpPr>
        <p:spPr>
          <a:xfrm flipV="1">
            <a:off x="8113713" y="5575466"/>
            <a:ext cx="1149966" cy="334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7060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4CFD2-76F1-1597-7B39-73FFC073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better way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072D75-58DA-AFAC-2D07-4EE315537E29}"/>
              </a:ext>
            </a:extLst>
          </p:cNvPr>
          <p:cNvSpPr/>
          <p:nvPr/>
        </p:nvSpPr>
        <p:spPr>
          <a:xfrm>
            <a:off x="827314" y="4459514"/>
            <a:ext cx="6618515" cy="1817914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3B7DBEE-7FE6-A02F-E309-880E801FC400}"/>
              </a:ext>
            </a:extLst>
          </p:cNvPr>
          <p:cNvCxnSpPr>
            <a:cxnSpLocks/>
            <a:stCxn id="3" idx="1"/>
          </p:cNvCxnSpPr>
          <p:nvPr/>
        </p:nvCxnSpPr>
        <p:spPr>
          <a:xfrm>
            <a:off x="827314" y="5368471"/>
            <a:ext cx="384629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803698B-C0FC-2CAC-79F9-6AD0D8BFB308}"/>
              </a:ext>
            </a:extLst>
          </p:cNvPr>
          <p:cNvSpPr txBox="1"/>
          <p:nvPr/>
        </p:nvSpPr>
        <p:spPr>
          <a:xfrm>
            <a:off x="827314" y="1625600"/>
            <a:ext cx="85126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Imagine the image below is the x-y slice where the source is. The idea is to measure the light exiting the top boundary. Represent the intensity at the boundary along the y direction in a bar graph. Hence we know the best position to place the detector. The same can be done at the front face.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B3B4D9-A9EE-1180-F1CC-6E2D50CF76F5}"/>
              </a:ext>
            </a:extLst>
          </p:cNvPr>
          <p:cNvSpPr/>
          <p:nvPr/>
        </p:nvSpPr>
        <p:spPr>
          <a:xfrm>
            <a:off x="2525485" y="3563256"/>
            <a:ext cx="232229" cy="8962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B9092F-5634-F7AE-58B4-2605DFB23955}"/>
              </a:ext>
            </a:extLst>
          </p:cNvPr>
          <p:cNvSpPr/>
          <p:nvPr/>
        </p:nvSpPr>
        <p:spPr>
          <a:xfrm>
            <a:off x="2902857" y="3252332"/>
            <a:ext cx="232229" cy="1201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EEF5C7-0D8E-F0F6-504C-9655EBBA1B34}"/>
              </a:ext>
            </a:extLst>
          </p:cNvPr>
          <p:cNvSpPr/>
          <p:nvPr/>
        </p:nvSpPr>
        <p:spPr>
          <a:xfrm>
            <a:off x="2148114" y="4005263"/>
            <a:ext cx="232229" cy="454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2E9B13-5574-815C-1E73-7C70740B0DC2}"/>
              </a:ext>
            </a:extLst>
          </p:cNvPr>
          <p:cNvSpPr/>
          <p:nvPr/>
        </p:nvSpPr>
        <p:spPr>
          <a:xfrm>
            <a:off x="1654628" y="4034707"/>
            <a:ext cx="232229" cy="454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4F71CE-270D-F875-EE01-F5396BDF4131}"/>
              </a:ext>
            </a:extLst>
          </p:cNvPr>
          <p:cNvSpPr/>
          <p:nvPr/>
        </p:nvSpPr>
        <p:spPr>
          <a:xfrm>
            <a:off x="3388387" y="3095626"/>
            <a:ext cx="232229" cy="13638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3F898B-6839-AE58-A385-0CACC6C548C3}"/>
              </a:ext>
            </a:extLst>
          </p:cNvPr>
          <p:cNvSpPr/>
          <p:nvPr/>
        </p:nvSpPr>
        <p:spPr>
          <a:xfrm>
            <a:off x="3860690" y="3081888"/>
            <a:ext cx="232229" cy="13638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0E11BCD-4A77-1753-95B5-191FD6C2127C}"/>
              </a:ext>
            </a:extLst>
          </p:cNvPr>
          <p:cNvSpPr/>
          <p:nvPr/>
        </p:nvSpPr>
        <p:spPr>
          <a:xfrm>
            <a:off x="4318157" y="3319461"/>
            <a:ext cx="232229" cy="11257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E6074D-1F23-EA3C-B866-8AD3F231C066}"/>
              </a:ext>
            </a:extLst>
          </p:cNvPr>
          <p:cNvSpPr/>
          <p:nvPr/>
        </p:nvSpPr>
        <p:spPr>
          <a:xfrm>
            <a:off x="4914422" y="3548969"/>
            <a:ext cx="232229" cy="8962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416182-E633-2210-5390-12AB57314715}"/>
              </a:ext>
            </a:extLst>
          </p:cNvPr>
          <p:cNvSpPr/>
          <p:nvPr/>
        </p:nvSpPr>
        <p:spPr>
          <a:xfrm>
            <a:off x="5461679" y="3635819"/>
            <a:ext cx="232229" cy="8175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983F79C-7AA7-23F4-31D4-6DD263900530}"/>
              </a:ext>
            </a:extLst>
          </p:cNvPr>
          <p:cNvSpPr/>
          <p:nvPr/>
        </p:nvSpPr>
        <p:spPr>
          <a:xfrm rot="5400000">
            <a:off x="8683210" y="4037835"/>
            <a:ext cx="232229" cy="26213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FE40C5-9AA7-54A5-AF84-0EF622F49558}"/>
              </a:ext>
            </a:extLst>
          </p:cNvPr>
          <p:cNvSpPr/>
          <p:nvPr/>
        </p:nvSpPr>
        <p:spPr>
          <a:xfrm rot="5400000">
            <a:off x="8346723" y="4095737"/>
            <a:ext cx="232230" cy="18957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764218F-F695-1655-8B32-047384F002B3}"/>
              </a:ext>
            </a:extLst>
          </p:cNvPr>
          <p:cNvSpPr/>
          <p:nvPr/>
        </p:nvSpPr>
        <p:spPr>
          <a:xfrm rot="5400000">
            <a:off x="7955550" y="4154559"/>
            <a:ext cx="190518" cy="12099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BDEBEE8-F4CB-F001-CA5E-2FE33C094105}"/>
              </a:ext>
            </a:extLst>
          </p:cNvPr>
          <p:cNvSpPr/>
          <p:nvPr/>
        </p:nvSpPr>
        <p:spPr>
          <a:xfrm rot="5400000">
            <a:off x="8346723" y="4723651"/>
            <a:ext cx="232230" cy="18957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9591057-B4D9-347A-7B43-03C7292C335F}"/>
              </a:ext>
            </a:extLst>
          </p:cNvPr>
          <p:cNvSpPr/>
          <p:nvPr/>
        </p:nvSpPr>
        <p:spPr>
          <a:xfrm rot="5400000">
            <a:off x="7959903" y="5397589"/>
            <a:ext cx="190518" cy="12099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0C608CD-2EB3-1B0A-9447-B18D20AE3BF4}"/>
              </a:ext>
            </a:extLst>
          </p:cNvPr>
          <p:cNvSpPr txBox="1"/>
          <p:nvPr/>
        </p:nvSpPr>
        <p:spPr>
          <a:xfrm>
            <a:off x="6886301" y="3331374"/>
            <a:ext cx="1635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X-</a:t>
            </a:r>
            <a:r>
              <a:rPr lang="en-US" dirty="0" err="1"/>
              <a:t>dir</a:t>
            </a:r>
            <a:endParaRPr lang="en-US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4E9CDF0-950B-B810-5AB7-D92FC297F9AC}"/>
              </a:ext>
            </a:extLst>
          </p:cNvPr>
          <p:cNvCxnSpPr>
            <a:cxnSpLocks/>
          </p:cNvCxnSpPr>
          <p:nvPr/>
        </p:nvCxnSpPr>
        <p:spPr>
          <a:xfrm>
            <a:off x="6974114" y="3777570"/>
            <a:ext cx="820057" cy="25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6B814BB-BB07-7DC4-175B-DC78E2C05023}"/>
              </a:ext>
            </a:extLst>
          </p:cNvPr>
          <p:cNvSpPr txBox="1"/>
          <p:nvPr/>
        </p:nvSpPr>
        <p:spPr>
          <a:xfrm>
            <a:off x="10580914" y="4232388"/>
            <a:ext cx="7953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Y-</a:t>
            </a:r>
            <a:r>
              <a:rPr lang="en-US" dirty="0" err="1"/>
              <a:t>dir</a:t>
            </a:r>
            <a:endParaRPr lang="en-US" dirty="0"/>
          </a:p>
          <a:p>
            <a:endParaRPr lang="en-US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2931D66-0D18-797A-2DDC-D206709F3DF1}"/>
              </a:ext>
            </a:extLst>
          </p:cNvPr>
          <p:cNvCxnSpPr>
            <a:cxnSpLocks/>
          </p:cNvCxnSpPr>
          <p:nvPr/>
        </p:nvCxnSpPr>
        <p:spPr>
          <a:xfrm flipV="1">
            <a:off x="10580914" y="4395260"/>
            <a:ext cx="0" cy="554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D504438-4BA5-B6ED-76FE-D5D33EC5C0FD}"/>
              </a:ext>
            </a:extLst>
          </p:cNvPr>
          <p:cNvCxnSpPr/>
          <p:nvPr/>
        </p:nvCxnSpPr>
        <p:spPr>
          <a:xfrm>
            <a:off x="529771" y="4453389"/>
            <a:ext cx="0" cy="77901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C2D94D5-14D0-BE1A-8498-440A1232497F}"/>
              </a:ext>
            </a:extLst>
          </p:cNvPr>
          <p:cNvSpPr txBox="1"/>
          <p:nvPr/>
        </p:nvSpPr>
        <p:spPr>
          <a:xfrm>
            <a:off x="-94863" y="4578666"/>
            <a:ext cx="9178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50mm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5792742-F6FC-9411-F113-4B2F069A449C}"/>
              </a:ext>
            </a:extLst>
          </p:cNvPr>
          <p:cNvCxnSpPr>
            <a:cxnSpLocks/>
          </p:cNvCxnSpPr>
          <p:nvPr/>
        </p:nvCxnSpPr>
        <p:spPr>
          <a:xfrm flipV="1">
            <a:off x="2811097" y="4453389"/>
            <a:ext cx="3517022" cy="3806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93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8AB86-2DBC-0B06-22E7-36DC67501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for the off beam detector at 50 mm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A60738-074D-CE49-AABC-8098EA7175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0" y="2220686"/>
            <a:ext cx="4538133" cy="3403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89C81D-21B9-E6C4-633F-D8BFC46DCB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276" y="2220686"/>
            <a:ext cx="4538133" cy="3403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42F019C-A6E9-513E-0DC8-D355A11CB504}"/>
              </a:ext>
            </a:extLst>
          </p:cNvPr>
          <p:cNvSpPr/>
          <p:nvPr/>
        </p:nvSpPr>
        <p:spPr>
          <a:xfrm>
            <a:off x="1734457" y="1853248"/>
            <a:ext cx="8498114" cy="577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520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14353-51EB-52A8-831C-C3B35976D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for the off beam detector at 50 mm continued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F6A7D8-BF7F-B10E-F428-7255E2F8E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8361" y="1952070"/>
            <a:ext cx="6100839" cy="457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624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A4619-7D3B-529C-5753-894E1F0D3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on the face perpendicular to the beamline at 100mm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D3A0969-9A81-1DC8-873A-2335A28235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651" y="2292123"/>
            <a:ext cx="5594349" cy="41957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D234F4-79D5-3A6E-CDEB-2BE150ECE5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23" y="2292123"/>
            <a:ext cx="5594350" cy="4195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653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7E78-A326-71AB-52D1-8F790BA3A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0021889" cy="1400530"/>
          </a:xfrm>
        </p:spPr>
        <p:txBody>
          <a:bodyPr/>
          <a:lstStyle/>
          <a:p>
            <a:r>
              <a:rPr lang="en-US" dirty="0"/>
              <a:t>What if we go higher off the beam?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1F9E79-446C-6EBC-81EE-831DCE3BFB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4" y="2126343"/>
            <a:ext cx="6028266" cy="4521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F7D74-F458-1217-2C14-7AF1792F06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126343"/>
            <a:ext cx="6028266" cy="4521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C38AE6-8375-C451-2760-F24FC0F6F9EC}"/>
              </a:ext>
            </a:extLst>
          </p:cNvPr>
          <p:cNvSpPr txBox="1"/>
          <p:nvPr/>
        </p:nvSpPr>
        <p:spPr>
          <a:xfrm>
            <a:off x="725714" y="1545771"/>
            <a:ext cx="4782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 100mm off beam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16EEAD-D3D3-7729-44F5-043CEBC72987}"/>
              </a:ext>
            </a:extLst>
          </p:cNvPr>
          <p:cNvSpPr txBox="1"/>
          <p:nvPr/>
        </p:nvSpPr>
        <p:spPr>
          <a:xfrm>
            <a:off x="7341809" y="1498430"/>
            <a:ext cx="4782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 50mm off beam</a:t>
            </a:r>
          </a:p>
        </p:txBody>
      </p:sp>
    </p:spTree>
    <p:extLst>
      <p:ext uri="{BB962C8B-B14F-4D97-AF65-F5344CB8AC3E}">
        <p14:creationId xmlns:p14="http://schemas.microsoft.com/office/powerpoint/2010/main" val="17936821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DE3B1-A1D1-CD63-EFDA-1AE7F26FA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268" y="257628"/>
            <a:ext cx="1668075" cy="1447800"/>
          </a:xfrm>
        </p:spPr>
        <p:txBody>
          <a:bodyPr/>
          <a:lstStyle/>
          <a:p>
            <a:r>
              <a:rPr lang="en-US" dirty="0"/>
              <a:t>Sanity Checks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46CF0A-A784-9712-C2C8-FC454923D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99143" y="2191657"/>
            <a:ext cx="10980057" cy="4521199"/>
          </a:xfrm>
        </p:spPr>
        <p:txBody>
          <a:bodyPr>
            <a:normAutofit fontScale="55000" lnSpcReduction="20000"/>
          </a:bodyPr>
          <a:lstStyle/>
          <a:p>
            <a:pPr marL="342900" indent="-342900">
              <a:buAutoNum type="arabicPeriod"/>
            </a:pPr>
            <a:r>
              <a:rPr lang="en-US" sz="3300" dirty="0"/>
              <a:t>Under 0 scattering: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Peak at zero degrees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Absorption dependance must recover the beer lambert law</a:t>
            </a:r>
          </a:p>
          <a:p>
            <a:pPr marL="342900" indent="-342900">
              <a:buAutoNum type="arabicPeriod"/>
            </a:pPr>
            <a:r>
              <a:rPr lang="en-US" sz="3300" dirty="0"/>
              <a:t>Under conditions where 1 scattering event per photon on average occurs: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We must recover the Fornier Forand distribution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HG and FF must be close</a:t>
            </a:r>
          </a:p>
          <a:p>
            <a:pPr marL="342900" indent="-342900">
              <a:buAutoNum type="arabicPeriod"/>
            </a:pPr>
            <a:r>
              <a:rPr lang="en-US" sz="3300" dirty="0"/>
              <a:t>Under reasonable scattering: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Increasing photon number must reduce std of solutions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HG and FF must </a:t>
            </a:r>
            <a:r>
              <a:rPr lang="en-US" sz="3300" dirty="0" err="1"/>
              <a:t>divarge</a:t>
            </a:r>
            <a:endParaRPr lang="en-US" sz="3300" dirty="0"/>
          </a:p>
          <a:p>
            <a:pPr marL="342900" indent="-342900">
              <a:buAutoNum type="arabicPeriod"/>
            </a:pPr>
            <a:r>
              <a:rPr lang="en-US" sz="3300" dirty="0"/>
              <a:t> Under very large scattering: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Source must look isotropic at a distance with no forward bias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HG and FF must converge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1070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77E8-C58B-D8E1-A3AD-F4FA7A6F7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 Scattering Check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1E261-3E13-2E5E-33EF-D6FD51D80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X-Y Slice of Monte Carlo Sim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C8ECB81-F538-BEF0-3CDD-5EF1CB03CF5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737049"/>
            <a:ext cx="4395787" cy="329684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8E22DB-48CA-CC3E-4860-A85544A96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Fluence measured at angles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AFF93458-1A9C-97F1-32B3-696333D6E3F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4675" y="2737048"/>
            <a:ext cx="4395788" cy="329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619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7EC54-3F47-EEB3-F49C-6ADDCD544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675342" cy="1400530"/>
          </a:xfrm>
        </p:spPr>
        <p:txBody>
          <a:bodyPr/>
          <a:lstStyle/>
          <a:p>
            <a:r>
              <a:rPr lang="en-US" dirty="0"/>
              <a:t>Absorption/Beer-Lambert Crosscheck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BBE854-CF5E-5F60-728F-58D0ED72869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510036"/>
            <a:ext cx="4395787" cy="3296840"/>
          </a:xfrm>
          <a:prstGeom prst="rect">
            <a:avLst/>
          </a:prstGeom>
        </p:spPr>
      </p:pic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8D83059-441A-03D2-BE01-4CCFDE08CAA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31740297"/>
              </p:ext>
            </p:extLst>
          </p:nvPr>
        </p:nvGraphicFramePr>
        <p:xfrm>
          <a:off x="7212496" y="2441851"/>
          <a:ext cx="3108957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1730474470"/>
                    </a:ext>
                  </a:extLst>
                </a:gridCol>
                <a:gridCol w="1040959">
                  <a:extLst>
                    <a:ext uri="{9D8B030D-6E8A-4147-A177-3AD203B41FA5}">
                      <a16:colId xmlns:a16="http://schemas.microsoft.com/office/drawing/2014/main" val="567074295"/>
                    </a:ext>
                  </a:extLst>
                </a:gridCol>
                <a:gridCol w="1031679">
                  <a:extLst>
                    <a:ext uri="{9D8B030D-6E8A-4147-A177-3AD203B41FA5}">
                      <a16:colId xmlns:a16="http://schemas.microsoft.com/office/drawing/2014/main" val="1091934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Absorption Coeff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Normalized Fluence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Beer-Lambert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0001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5223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346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474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7846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446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4.32e-5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4.54e-5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42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5614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225650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2481</TotalTime>
  <Words>563</Words>
  <Application>Microsoft Office PowerPoint</Application>
  <PresentationFormat>Widescreen</PresentationFormat>
  <Paragraphs>83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Cambria Math</vt:lpstr>
      <vt:lpstr>Century Gothic</vt:lpstr>
      <vt:lpstr>Wingdings 3</vt:lpstr>
      <vt:lpstr>Ion</vt:lpstr>
      <vt:lpstr>Turbidity Meter Simulation</vt:lpstr>
      <vt:lpstr>The Experimental Setup</vt:lpstr>
      <vt:lpstr>Simulation Innerworkings</vt:lpstr>
      <vt:lpstr>PowerPoint Presentation</vt:lpstr>
      <vt:lpstr>Monte Carlo Simulation Result</vt:lpstr>
      <vt:lpstr>PowerPoint Presentation</vt:lpstr>
      <vt:lpstr>Angle test</vt:lpstr>
      <vt:lpstr>A better way</vt:lpstr>
      <vt:lpstr>Results for the off beam detector at 50 mm </vt:lpstr>
      <vt:lpstr>Results for the off beam detector at 50 mm continued</vt:lpstr>
      <vt:lpstr>Results on the face perpendicular to the beamline at 100mm</vt:lpstr>
      <vt:lpstr>What if we go higher off the beam?</vt:lpstr>
      <vt:lpstr>Sanity Checks</vt:lpstr>
      <vt:lpstr>Zero Scattering Check</vt:lpstr>
      <vt:lpstr>Absorption/Beer-Lambert Crosscheck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Kaan Volkan</dc:creator>
  <cp:lastModifiedBy>Kaan Volkan</cp:lastModifiedBy>
  <cp:revision>13</cp:revision>
  <dcterms:created xsi:type="dcterms:W3CDTF">2026-08-17T19:46:41Z</dcterms:created>
  <dcterms:modified xsi:type="dcterms:W3CDTF">2026-09-10T16:26:25Z</dcterms:modified>
</cp:coreProperties>
</file>