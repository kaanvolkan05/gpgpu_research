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9" r:id="rId6"/>
    <p:sldId id="278" r:id="rId7"/>
    <p:sldId id="271" r:id="rId8"/>
    <p:sldId id="272" r:id="rId9"/>
    <p:sldId id="273" r:id="rId10"/>
    <p:sldId id="274" r:id="rId11"/>
    <p:sldId id="275" r:id="rId12"/>
    <p:sldId id="276" r:id="rId13"/>
    <p:sldId id="258" r:id="rId14"/>
    <p:sldId id="260" r:id="rId15"/>
    <p:sldId id="26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75" d="100"/>
          <a:sy n="75" d="100"/>
        </p:scale>
        <p:origin x="735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Turbidity Meter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Pre-Results Meeting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637CC8-38DA-8ECC-FE91-146B615A8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962" y="3875315"/>
            <a:ext cx="3880152" cy="291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044F69-07BD-2751-24FF-8652B93A6368}"/>
              </a:ext>
            </a:extLst>
          </p:cNvPr>
          <p:cNvSpPr txBox="1"/>
          <p:nvPr/>
        </p:nvSpPr>
        <p:spPr>
          <a:xfrm>
            <a:off x="1066800" y="1320800"/>
            <a:ext cx="8912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setup(1) consists of a source in the middle of out domain. The domain boundary is </a:t>
            </a:r>
            <a:r>
              <a:rPr lang="en-US" dirty="0" err="1"/>
              <a:t>absorbant</a:t>
            </a:r>
            <a:r>
              <a:rPr lang="en-US" dirty="0"/>
              <a:t>, and the source is a pencil source. 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1353608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B6C8-2B20-F7A7-DA70-2F191D990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086805-400A-E772-78E2-27D8B5552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800" y="1413405"/>
            <a:ext cx="6655835" cy="4991877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389F85F-5017-D968-1F54-7D29472F73B0}"/>
              </a:ext>
            </a:extLst>
          </p:cNvPr>
          <p:cNvSpPr/>
          <p:nvPr/>
        </p:nvSpPr>
        <p:spPr>
          <a:xfrm>
            <a:off x="4426857" y="2106309"/>
            <a:ext cx="3338286" cy="3338286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65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E138A7-AEAD-B31A-FEC5-F6B9386AB1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943" y="2256971"/>
            <a:ext cx="5302550" cy="39769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890A62-0952-860A-ECD3-D3095D3E36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07" y="1995714"/>
            <a:ext cx="5863768" cy="439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0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232-3F5E-61B1-E61F-8DA938316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Angle test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BCCF5-06D0-4A88-D221-08B91CAB6B39}"/>
              </a:ext>
            </a:extLst>
          </p:cNvPr>
          <p:cNvSpPr txBox="1"/>
          <p:nvPr/>
        </p:nvSpPr>
        <p:spPr>
          <a:xfrm>
            <a:off x="6894394" y="1606477"/>
            <a:ext cx="438647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smaller radius the difference between the peak and bottom </a:t>
            </a:r>
            <a:r>
              <a:rPr lang="en-US" dirty="0" err="1"/>
              <a:t>plateu</a:t>
            </a:r>
            <a:r>
              <a:rPr lang="en-US" dirty="0"/>
              <a:t> become smaller from 4 times to 3 times the difference.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issue is that these voxels have no min acceptance angle, so this is not an accurate representation of what the detector would see. </a:t>
            </a:r>
          </a:p>
          <a:p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47EA91-0DF6-26FD-0684-6A5A7A09E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07" y="1606477"/>
            <a:ext cx="6398406" cy="47988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D733DC3-FC48-DED9-C563-138E8D47F0E9}"/>
              </a:ext>
            </a:extLst>
          </p:cNvPr>
          <p:cNvSpPr/>
          <p:nvPr/>
        </p:nvSpPr>
        <p:spPr>
          <a:xfrm>
            <a:off x="9173028" y="4943094"/>
            <a:ext cx="616857" cy="61685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46E7BA-52AF-AEB3-B765-9984E3705A58}"/>
              </a:ext>
            </a:extLst>
          </p:cNvPr>
          <p:cNvCxnSpPr>
            <a:endCxn id="11" idx="1"/>
          </p:cNvCxnSpPr>
          <p:nvPr/>
        </p:nvCxnSpPr>
        <p:spPr>
          <a:xfrm flipV="1">
            <a:off x="8040914" y="5251523"/>
            <a:ext cx="1132114" cy="6775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4B5380-F88C-9EC7-2CB3-440884F34EB8}"/>
              </a:ext>
            </a:extLst>
          </p:cNvPr>
          <p:cNvCxnSpPr>
            <a:cxnSpLocks/>
          </p:cNvCxnSpPr>
          <p:nvPr/>
        </p:nvCxnSpPr>
        <p:spPr>
          <a:xfrm flipV="1">
            <a:off x="8040914" y="5405737"/>
            <a:ext cx="1197429" cy="523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3572D7-8C16-97AE-799F-DF6FF2D7D816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8040914" y="5559951"/>
            <a:ext cx="1440543" cy="339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E1BEBB-D3BD-C788-116B-BCD1B5B370CA}"/>
              </a:ext>
            </a:extLst>
          </p:cNvPr>
          <p:cNvCxnSpPr>
            <a:cxnSpLocks/>
          </p:cNvCxnSpPr>
          <p:nvPr/>
        </p:nvCxnSpPr>
        <p:spPr>
          <a:xfrm flipV="1">
            <a:off x="8073571" y="5559951"/>
            <a:ext cx="1716314" cy="383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29942EB-0800-16DC-8273-AB7DE88DBC9B}"/>
              </a:ext>
            </a:extLst>
          </p:cNvPr>
          <p:cNvCxnSpPr>
            <a:cxnSpLocks/>
          </p:cNvCxnSpPr>
          <p:nvPr/>
        </p:nvCxnSpPr>
        <p:spPr>
          <a:xfrm flipV="1">
            <a:off x="8073571" y="5899557"/>
            <a:ext cx="1338943" cy="51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844AB8-9997-FC6E-4794-B6455324B225}"/>
              </a:ext>
            </a:extLst>
          </p:cNvPr>
          <p:cNvCxnSpPr>
            <a:cxnSpLocks/>
          </p:cNvCxnSpPr>
          <p:nvPr/>
        </p:nvCxnSpPr>
        <p:spPr>
          <a:xfrm flipV="1">
            <a:off x="9412514" y="5590304"/>
            <a:ext cx="246743" cy="309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AC60BB-30F4-3A48-AF82-7AA1061789CA}"/>
              </a:ext>
            </a:extLst>
          </p:cNvPr>
          <p:cNvCxnSpPr>
            <a:cxnSpLocks/>
          </p:cNvCxnSpPr>
          <p:nvPr/>
        </p:nvCxnSpPr>
        <p:spPr>
          <a:xfrm flipV="1">
            <a:off x="8073571" y="5054227"/>
            <a:ext cx="1132114" cy="8141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F38CD91-A5D7-367E-43E5-D329AB265129}"/>
              </a:ext>
            </a:extLst>
          </p:cNvPr>
          <p:cNvCxnSpPr>
            <a:cxnSpLocks/>
          </p:cNvCxnSpPr>
          <p:nvPr/>
        </p:nvCxnSpPr>
        <p:spPr>
          <a:xfrm flipV="1">
            <a:off x="8048235" y="4738823"/>
            <a:ext cx="1364279" cy="118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CF50F66-9F1C-938E-AD51-AA349E8002A1}"/>
              </a:ext>
            </a:extLst>
          </p:cNvPr>
          <p:cNvCxnSpPr/>
          <p:nvPr/>
        </p:nvCxnSpPr>
        <p:spPr>
          <a:xfrm>
            <a:off x="9376073" y="4760199"/>
            <a:ext cx="210766" cy="138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C35404-9943-BE1E-3971-914160D3CB93}"/>
              </a:ext>
            </a:extLst>
          </p:cNvPr>
          <p:cNvCxnSpPr>
            <a:cxnSpLocks/>
          </p:cNvCxnSpPr>
          <p:nvPr/>
        </p:nvCxnSpPr>
        <p:spPr>
          <a:xfrm flipV="1">
            <a:off x="8113713" y="5575466"/>
            <a:ext cx="1149966" cy="334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06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CFD2-76F1-1597-7B39-73FFC073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better way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72D75-58DA-AFAC-2D07-4EE315537E29}"/>
              </a:ext>
            </a:extLst>
          </p:cNvPr>
          <p:cNvSpPr/>
          <p:nvPr/>
        </p:nvSpPr>
        <p:spPr>
          <a:xfrm>
            <a:off x="827314" y="4459514"/>
            <a:ext cx="6618515" cy="181791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3B7DBEE-7FE6-A02F-E309-880E801FC400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827314" y="5368471"/>
            <a:ext cx="384629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803698B-C0FC-2CAC-79F9-6AD0D8BFB308}"/>
              </a:ext>
            </a:extLst>
          </p:cNvPr>
          <p:cNvSpPr txBox="1"/>
          <p:nvPr/>
        </p:nvSpPr>
        <p:spPr>
          <a:xfrm>
            <a:off x="827314" y="1625600"/>
            <a:ext cx="8512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Imagine the image below is the x-y slice where the source is. The idea is to measure the light exiting the top boundary. Represent the intensity at the boundary along the y direction in a bar graph. Hence we know the best position to place the detector. The same can be done at the front face.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B3B4D9-A9EE-1180-F1CC-6E2D50CF76F5}"/>
              </a:ext>
            </a:extLst>
          </p:cNvPr>
          <p:cNvSpPr/>
          <p:nvPr/>
        </p:nvSpPr>
        <p:spPr>
          <a:xfrm>
            <a:off x="2525485" y="3563256"/>
            <a:ext cx="232229" cy="896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B9092F-5634-F7AE-58B4-2605DFB23955}"/>
              </a:ext>
            </a:extLst>
          </p:cNvPr>
          <p:cNvSpPr/>
          <p:nvPr/>
        </p:nvSpPr>
        <p:spPr>
          <a:xfrm>
            <a:off x="2902857" y="3252332"/>
            <a:ext cx="232229" cy="1201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EEF5C7-0D8E-F0F6-504C-9655EBBA1B34}"/>
              </a:ext>
            </a:extLst>
          </p:cNvPr>
          <p:cNvSpPr/>
          <p:nvPr/>
        </p:nvSpPr>
        <p:spPr>
          <a:xfrm>
            <a:off x="2148114" y="4005263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2E9B13-5574-815C-1E73-7C70740B0DC2}"/>
              </a:ext>
            </a:extLst>
          </p:cNvPr>
          <p:cNvSpPr/>
          <p:nvPr/>
        </p:nvSpPr>
        <p:spPr>
          <a:xfrm>
            <a:off x="1654628" y="4034707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4F71CE-270D-F875-EE01-F5396BDF4131}"/>
              </a:ext>
            </a:extLst>
          </p:cNvPr>
          <p:cNvSpPr/>
          <p:nvPr/>
        </p:nvSpPr>
        <p:spPr>
          <a:xfrm>
            <a:off x="3388387" y="3095626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F898B-6839-AE58-A385-0CACC6C548C3}"/>
              </a:ext>
            </a:extLst>
          </p:cNvPr>
          <p:cNvSpPr/>
          <p:nvPr/>
        </p:nvSpPr>
        <p:spPr>
          <a:xfrm>
            <a:off x="3860690" y="3081888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E11BCD-4A77-1753-95B5-191FD6C2127C}"/>
              </a:ext>
            </a:extLst>
          </p:cNvPr>
          <p:cNvSpPr/>
          <p:nvPr/>
        </p:nvSpPr>
        <p:spPr>
          <a:xfrm>
            <a:off x="4318157" y="3319461"/>
            <a:ext cx="232229" cy="11257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E6074D-1F23-EA3C-B866-8AD3F231C066}"/>
              </a:ext>
            </a:extLst>
          </p:cNvPr>
          <p:cNvSpPr/>
          <p:nvPr/>
        </p:nvSpPr>
        <p:spPr>
          <a:xfrm>
            <a:off x="4914422" y="3548969"/>
            <a:ext cx="232229" cy="896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16182-E633-2210-5390-12AB57314715}"/>
              </a:ext>
            </a:extLst>
          </p:cNvPr>
          <p:cNvSpPr/>
          <p:nvPr/>
        </p:nvSpPr>
        <p:spPr>
          <a:xfrm>
            <a:off x="5461679" y="3635819"/>
            <a:ext cx="232229" cy="8175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CC69295-87F7-9907-EC07-BD0F3FDC64FA}"/>
              </a:ext>
            </a:extLst>
          </p:cNvPr>
          <p:cNvSpPr/>
          <p:nvPr/>
        </p:nvSpPr>
        <p:spPr>
          <a:xfrm>
            <a:off x="5428233" y="3945389"/>
            <a:ext cx="1799771" cy="50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Detector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27C8728-98BD-D133-1C9F-D16EDBD6043E}"/>
              </a:ext>
            </a:extLst>
          </p:cNvPr>
          <p:cNvSpPr/>
          <p:nvPr/>
        </p:nvSpPr>
        <p:spPr>
          <a:xfrm>
            <a:off x="3515363" y="4070666"/>
            <a:ext cx="1799771" cy="508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Detector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0124D9B-A28A-B64A-05C2-84CFAD1C5FBC}"/>
              </a:ext>
            </a:extLst>
          </p:cNvPr>
          <p:cNvSpPr/>
          <p:nvPr/>
        </p:nvSpPr>
        <p:spPr>
          <a:xfrm>
            <a:off x="1654628" y="4070666"/>
            <a:ext cx="1799771" cy="508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Detector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83F79C-7AA7-23F4-31D4-6DD263900530}"/>
              </a:ext>
            </a:extLst>
          </p:cNvPr>
          <p:cNvSpPr/>
          <p:nvPr/>
        </p:nvSpPr>
        <p:spPr>
          <a:xfrm rot="5400000">
            <a:off x="8683210" y="4037835"/>
            <a:ext cx="232229" cy="2621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FE40C5-9AA7-54A5-AF84-0EF622F49558}"/>
              </a:ext>
            </a:extLst>
          </p:cNvPr>
          <p:cNvSpPr/>
          <p:nvPr/>
        </p:nvSpPr>
        <p:spPr>
          <a:xfrm rot="5400000">
            <a:off x="8346723" y="4095737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64218F-F695-1655-8B32-047384F002B3}"/>
              </a:ext>
            </a:extLst>
          </p:cNvPr>
          <p:cNvSpPr/>
          <p:nvPr/>
        </p:nvSpPr>
        <p:spPr>
          <a:xfrm rot="5400000">
            <a:off x="7955550" y="415455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BDEBEE8-F4CB-F001-CA5E-2FE33C094105}"/>
              </a:ext>
            </a:extLst>
          </p:cNvPr>
          <p:cNvSpPr/>
          <p:nvPr/>
        </p:nvSpPr>
        <p:spPr>
          <a:xfrm rot="5400000">
            <a:off x="8346723" y="4723651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9591057-B4D9-347A-7B43-03C7292C335F}"/>
              </a:ext>
            </a:extLst>
          </p:cNvPr>
          <p:cNvSpPr/>
          <p:nvPr/>
        </p:nvSpPr>
        <p:spPr>
          <a:xfrm rot="5400000">
            <a:off x="7959903" y="539758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03904B2-931C-4EB7-0677-0CB8714306B6}"/>
              </a:ext>
            </a:extLst>
          </p:cNvPr>
          <p:cNvSpPr/>
          <p:nvPr/>
        </p:nvSpPr>
        <p:spPr>
          <a:xfrm rot="5400000">
            <a:off x="7069485" y="5152932"/>
            <a:ext cx="838315" cy="43107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C608CD-2EB3-1B0A-9447-B18D20AE3BF4}"/>
              </a:ext>
            </a:extLst>
          </p:cNvPr>
          <p:cNvSpPr txBox="1"/>
          <p:nvPr/>
        </p:nvSpPr>
        <p:spPr>
          <a:xfrm>
            <a:off x="6886301" y="3331374"/>
            <a:ext cx="1635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</a:t>
            </a:r>
            <a:r>
              <a:rPr lang="en-US" dirty="0" err="1"/>
              <a:t>dir</a:t>
            </a:r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4E9CDF0-950B-B810-5AB7-D92FC297F9AC}"/>
              </a:ext>
            </a:extLst>
          </p:cNvPr>
          <p:cNvCxnSpPr>
            <a:cxnSpLocks/>
          </p:cNvCxnSpPr>
          <p:nvPr/>
        </p:nvCxnSpPr>
        <p:spPr>
          <a:xfrm>
            <a:off x="6974114" y="3777570"/>
            <a:ext cx="820057" cy="25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6B814BB-BB07-7DC4-175B-DC78E2C05023}"/>
              </a:ext>
            </a:extLst>
          </p:cNvPr>
          <p:cNvSpPr txBox="1"/>
          <p:nvPr/>
        </p:nvSpPr>
        <p:spPr>
          <a:xfrm>
            <a:off x="10580914" y="4232388"/>
            <a:ext cx="795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Y-</a:t>
            </a:r>
            <a:r>
              <a:rPr lang="en-US" dirty="0" err="1"/>
              <a:t>dir</a:t>
            </a:r>
            <a:endParaRPr lang="en-US" dirty="0"/>
          </a:p>
          <a:p>
            <a:endParaRPr lang="en-US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2931D66-0D18-797A-2DDC-D206709F3DF1}"/>
              </a:ext>
            </a:extLst>
          </p:cNvPr>
          <p:cNvCxnSpPr>
            <a:cxnSpLocks/>
          </p:cNvCxnSpPr>
          <p:nvPr/>
        </p:nvCxnSpPr>
        <p:spPr>
          <a:xfrm flipV="1">
            <a:off x="10580914" y="4395260"/>
            <a:ext cx="0" cy="554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D504438-4BA5-B6ED-76FE-D5D33EC5C0FD}"/>
              </a:ext>
            </a:extLst>
          </p:cNvPr>
          <p:cNvCxnSpPr/>
          <p:nvPr/>
        </p:nvCxnSpPr>
        <p:spPr>
          <a:xfrm>
            <a:off x="529771" y="4453389"/>
            <a:ext cx="0" cy="7790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C2D94D5-14D0-BE1A-8498-440A1232497F}"/>
              </a:ext>
            </a:extLst>
          </p:cNvPr>
          <p:cNvSpPr txBox="1"/>
          <p:nvPr/>
        </p:nvSpPr>
        <p:spPr>
          <a:xfrm>
            <a:off x="-94863" y="4578666"/>
            <a:ext cx="91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50mm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5792742-F6FC-9411-F113-4B2F069A449C}"/>
              </a:ext>
            </a:extLst>
          </p:cNvPr>
          <p:cNvCxnSpPr>
            <a:cxnSpLocks/>
            <a:endCxn id="24" idx="4"/>
          </p:cNvCxnSpPr>
          <p:nvPr/>
        </p:nvCxnSpPr>
        <p:spPr>
          <a:xfrm flipV="1">
            <a:off x="2811097" y="4453389"/>
            <a:ext cx="3517022" cy="380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9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8AB86-2DBC-0B06-22E7-36DC67501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60738-074D-CE49-AABC-8098EA717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2220686"/>
            <a:ext cx="4538133" cy="340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89C81D-21B9-E6C4-633F-D8BFC46DC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276" y="2220686"/>
            <a:ext cx="4538133" cy="3403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42F019C-A6E9-513E-0DC8-D355A11CB504}"/>
              </a:ext>
            </a:extLst>
          </p:cNvPr>
          <p:cNvSpPr/>
          <p:nvPr/>
        </p:nvSpPr>
        <p:spPr>
          <a:xfrm>
            <a:off x="1734457" y="1853248"/>
            <a:ext cx="8498114" cy="577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2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14353-51EB-52A8-831C-C3B35976D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6A7D8-BF7F-B10E-F428-7255E2F8E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361" y="1952070"/>
            <a:ext cx="6100839" cy="45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24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A4619-7D3B-529C-5753-894E1F0D3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on the face perpendicular to the beamline at 100mm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3A0969-9A81-1DC8-873A-2335A2823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292123"/>
            <a:ext cx="5594349" cy="4195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D234F4-79D5-3A6E-CDEB-2BE150ECE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23" y="2292123"/>
            <a:ext cx="5594350" cy="419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53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E78-A326-71AB-52D1-8F790BA3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021889" cy="1400530"/>
          </a:xfrm>
        </p:spPr>
        <p:txBody>
          <a:bodyPr/>
          <a:lstStyle/>
          <a:p>
            <a:r>
              <a:rPr lang="en-US" dirty="0"/>
              <a:t>What if we go higher off the beam?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1F9E79-446C-6EBC-81EE-831DCE3BFB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4" y="2126343"/>
            <a:ext cx="6028266" cy="4521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F7D74-F458-1217-2C14-7AF1792F0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26343"/>
            <a:ext cx="6028266" cy="4521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C38AE6-8375-C451-2760-F24FC0F6F9EC}"/>
              </a:ext>
            </a:extLst>
          </p:cNvPr>
          <p:cNvSpPr txBox="1"/>
          <p:nvPr/>
        </p:nvSpPr>
        <p:spPr>
          <a:xfrm>
            <a:off x="725714" y="1545771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100mm off beam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6EEAD-D3D3-7729-44F5-043CEBC72987}"/>
              </a:ext>
            </a:extLst>
          </p:cNvPr>
          <p:cNvSpPr txBox="1"/>
          <p:nvPr/>
        </p:nvSpPr>
        <p:spPr>
          <a:xfrm>
            <a:off x="7341809" y="1498430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50mm off beam</a:t>
            </a:r>
          </a:p>
        </p:txBody>
      </p:sp>
    </p:spTree>
    <p:extLst>
      <p:ext uri="{BB962C8B-B14F-4D97-AF65-F5344CB8AC3E}">
        <p14:creationId xmlns:p14="http://schemas.microsoft.com/office/powerpoint/2010/main" val="1793682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268" y="257628"/>
            <a:ext cx="1668075" cy="1447800"/>
          </a:xfrm>
        </p:spPr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99143" y="2191657"/>
            <a:ext cx="10980057" cy="4521199"/>
          </a:xfrm>
        </p:spPr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sz="3300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sz="3300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sz="3300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</a:t>
            </a:r>
            <a:r>
              <a:rPr lang="en-US" sz="3300" dirty="0" err="1"/>
              <a:t>divarge</a:t>
            </a:r>
            <a:endParaRPr lang="en-US" sz="3300" dirty="0"/>
          </a:p>
          <a:p>
            <a:pPr marL="342900" indent="-342900">
              <a:buAutoNum type="arabicPeriod"/>
            </a:pPr>
            <a:r>
              <a:rPr lang="en-US" sz="3300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2481</TotalTime>
  <Words>567</Words>
  <Application>Microsoft Office PowerPoint</Application>
  <PresentationFormat>Widescreen</PresentationFormat>
  <Paragraphs>87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Cambria Math</vt:lpstr>
      <vt:lpstr>Century Gothic</vt:lpstr>
      <vt:lpstr>Wingdings 3</vt:lpstr>
      <vt:lpstr>Ion</vt:lpstr>
      <vt:lpstr>Turbidity Meter Simulation</vt:lpstr>
      <vt:lpstr>The Experimental Setup</vt:lpstr>
      <vt:lpstr>Simulation Innerworkings</vt:lpstr>
      <vt:lpstr>PowerPoint Presentation</vt:lpstr>
      <vt:lpstr>Monte Carlo Simulation Result</vt:lpstr>
      <vt:lpstr>PowerPoint Presentation</vt:lpstr>
      <vt:lpstr>Angle test</vt:lpstr>
      <vt:lpstr>A better way</vt:lpstr>
      <vt:lpstr>Results for the off beam detector at 50 mm </vt:lpstr>
      <vt:lpstr>Results for the off beam detector at 50 mm continued</vt:lpstr>
      <vt:lpstr>Results on the face perpendicular to the beamline at 100mm</vt:lpstr>
      <vt:lpstr>What if we go higher off the beam?</vt:lpstr>
      <vt:lpstr>Sanity Checks</vt:lpstr>
      <vt:lpstr>Zero Scattering Check</vt:lpstr>
      <vt:lpstr>Absorption/Beer-Lambert Crosscheck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12</cp:revision>
  <dcterms:created xsi:type="dcterms:W3CDTF">2026-08-17T19:46:41Z</dcterms:created>
  <dcterms:modified xsi:type="dcterms:W3CDTF">2026-08-19T13:08:59Z</dcterms:modified>
</cp:coreProperties>
</file>