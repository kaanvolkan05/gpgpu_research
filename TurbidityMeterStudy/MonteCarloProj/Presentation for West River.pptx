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263" r:id="rId3"/>
    <p:sldId id="290" r:id="rId4"/>
    <p:sldId id="291" r:id="rId5"/>
    <p:sldId id="293" r:id="rId6"/>
    <p:sldId id="294" r:id="rId7"/>
    <p:sldId id="295" r:id="rId8"/>
    <p:sldId id="297" r:id="rId9"/>
    <p:sldId id="300" r:id="rId10"/>
    <p:sldId id="298" r:id="rId11"/>
    <p:sldId id="303" r:id="rId12"/>
    <p:sldId id="302" r:id="rId13"/>
    <p:sldId id="304" r:id="rId14"/>
    <p:sldId id="305" r:id="rId15"/>
    <p:sldId id="306" r:id="rId16"/>
    <p:sldId id="308" r:id="rId17"/>
    <p:sldId id="307" r:id="rId18"/>
    <p:sldId id="301" r:id="rId19"/>
    <p:sldId id="296" r:id="rId20"/>
    <p:sldId id="292" r:id="rId21"/>
    <p:sldId id="264" r:id="rId22"/>
    <p:sldId id="265" r:id="rId23"/>
    <p:sldId id="269" r:id="rId24"/>
    <p:sldId id="278" r:id="rId25"/>
    <p:sldId id="271" r:id="rId26"/>
    <p:sldId id="272" r:id="rId27"/>
    <p:sldId id="273" r:id="rId28"/>
    <p:sldId id="274" r:id="rId29"/>
    <p:sldId id="275" r:id="rId30"/>
    <p:sldId id="276" r:id="rId31"/>
    <p:sldId id="258" r:id="rId32"/>
    <p:sldId id="260" r:id="rId33"/>
    <p:sldId id="261" r:id="rId34"/>
    <p:sldId id="279" r:id="rId35"/>
    <p:sldId id="280" r:id="rId36"/>
    <p:sldId id="281" r:id="rId37"/>
    <p:sldId id="282" r:id="rId38"/>
    <p:sldId id="283" r:id="rId39"/>
    <p:sldId id="286" r:id="rId40"/>
    <p:sldId id="287" r:id="rId41"/>
    <p:sldId id="288" r:id="rId42"/>
    <p:sldId id="289" r:id="rId43"/>
    <p:sldId id="284" r:id="rId44"/>
    <p:sldId id="285"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69" d="100"/>
          <a:sy n="69" d="100"/>
        </p:scale>
        <p:origin x="97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4336B-4CB7-4458-A505-B21BCF4C16AB}"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18404C-8785-4F08-89F6-A92B0B229666}" type="slidenum">
              <a:rPr lang="en-US" smtClean="0"/>
              <a:t>‹#›</a:t>
            </a:fld>
            <a:endParaRPr lang="en-US"/>
          </a:p>
        </p:txBody>
      </p:sp>
    </p:spTree>
    <p:extLst>
      <p:ext uri="{BB962C8B-B14F-4D97-AF65-F5344CB8AC3E}">
        <p14:creationId xmlns:p14="http://schemas.microsoft.com/office/powerpoint/2010/main" val="2178905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18404C-8785-4F08-89F6-A92B0B229666}" type="slidenum">
              <a:rPr lang="en-US" smtClean="0"/>
              <a:t>41</a:t>
            </a:fld>
            <a:endParaRPr lang="en-US"/>
          </a:p>
        </p:txBody>
      </p:sp>
    </p:spTree>
    <p:extLst>
      <p:ext uri="{BB962C8B-B14F-4D97-AF65-F5344CB8AC3E}">
        <p14:creationId xmlns:p14="http://schemas.microsoft.com/office/powerpoint/2010/main" val="1259103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84410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2681166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2645587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8E1C9A-47F7-4494-B9B8-0D060B88ACB1}"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4144566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8E1C9A-47F7-4494-B9B8-0D060B88ACB1}"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3000638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4164173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3725905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4227016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8E1C9A-47F7-4494-B9B8-0D060B88ACB1}"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3288559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8E1C9A-47F7-4494-B9B8-0D060B88ACB1}"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3641872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39732918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453136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3336703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3697243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878204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32015311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E1C9A-47F7-4494-B9B8-0D060B88ACB1}"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21D86-E9AE-4904-807B-12096BA8753D}" type="slidenum">
              <a:rPr lang="en-US" smtClean="0"/>
              <a:t>‹#›</a:t>
            </a:fld>
            <a:endParaRPr lang="en-US"/>
          </a:p>
        </p:txBody>
      </p:sp>
    </p:spTree>
    <p:extLst>
      <p:ext uri="{BB962C8B-B14F-4D97-AF65-F5344CB8AC3E}">
        <p14:creationId xmlns:p14="http://schemas.microsoft.com/office/powerpoint/2010/main" val="585869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58E1C9A-47F7-4494-B9B8-0D060B88ACB1}" type="datetimeFigureOut">
              <a:rPr lang="en-US" smtClean="0"/>
              <a:t>10/12/2026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2521D86-E9AE-4904-807B-12096BA8753D}" type="slidenum">
              <a:rPr lang="en-US" smtClean="0"/>
              <a:t>‹#›</a:t>
            </a:fld>
            <a:endParaRPr lang="en-US"/>
          </a:p>
        </p:txBody>
      </p:sp>
    </p:spTree>
    <p:extLst>
      <p:ext uri="{BB962C8B-B14F-4D97-AF65-F5344CB8AC3E}">
        <p14:creationId xmlns:p14="http://schemas.microsoft.com/office/powerpoint/2010/main" val="564298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kaanvolkan05.github.io/TurbidWater"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270.png"/></Relationships>
</file>

<file path=ppt/slides/_rels/slide37.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58.svg"/><Relationship Id="rId5" Type="http://schemas.openxmlformats.org/officeDocument/2006/relationships/image" Target="../media/image53.svg"/><Relationship Id="rId4" Type="http://schemas.openxmlformats.org/officeDocument/2006/relationships/image" Target="../media/image360.png"/></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637CC8-38DA-8ECC-FE91-146B615A8A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1704" y="2829152"/>
            <a:ext cx="5195274" cy="3896455"/>
          </a:xfrm>
          <a:prstGeom prst="rect">
            <a:avLst/>
          </a:prstGeom>
        </p:spPr>
      </p:pic>
      <p:sp>
        <p:nvSpPr>
          <p:cNvPr id="2" name="Title 1">
            <a:extLst>
              <a:ext uri="{FF2B5EF4-FFF2-40B4-BE49-F238E27FC236}">
                <a16:creationId xmlns:a16="http://schemas.microsoft.com/office/drawing/2014/main" id="{8C7C83FD-EB31-5518-6A59-7C2E9A326F1A}"/>
              </a:ext>
            </a:extLst>
          </p:cNvPr>
          <p:cNvSpPr>
            <a:spLocks noGrp="1"/>
          </p:cNvSpPr>
          <p:nvPr>
            <p:ph type="ctrTitle"/>
          </p:nvPr>
        </p:nvSpPr>
        <p:spPr/>
        <p:txBody>
          <a:bodyPr/>
          <a:lstStyle/>
          <a:p>
            <a:r>
              <a:rPr lang="en-US" dirty="0"/>
              <a:t>Turbidity Meter Simulation</a:t>
            </a:r>
          </a:p>
        </p:txBody>
      </p:sp>
      <p:sp>
        <p:nvSpPr>
          <p:cNvPr id="3" name="Subtitle 2">
            <a:extLst>
              <a:ext uri="{FF2B5EF4-FFF2-40B4-BE49-F238E27FC236}">
                <a16:creationId xmlns:a16="http://schemas.microsoft.com/office/drawing/2014/main" id="{6B891836-D58B-5389-0008-54551E15A12F}"/>
              </a:ext>
            </a:extLst>
          </p:cNvPr>
          <p:cNvSpPr>
            <a:spLocks noGrp="1"/>
          </p:cNvSpPr>
          <p:nvPr>
            <p:ph type="subTitle" idx="1"/>
          </p:nvPr>
        </p:nvSpPr>
        <p:spPr/>
        <p:txBody>
          <a:bodyPr/>
          <a:lstStyle/>
          <a:p>
            <a:r>
              <a:rPr lang="en-US" dirty="0">
                <a:solidFill>
                  <a:schemeClr val="tx1"/>
                </a:solidFill>
              </a:rPr>
              <a:t>Results Meeting</a:t>
            </a:r>
          </a:p>
        </p:txBody>
      </p:sp>
    </p:spTree>
    <p:extLst>
      <p:ext uri="{BB962C8B-B14F-4D97-AF65-F5344CB8AC3E}">
        <p14:creationId xmlns:p14="http://schemas.microsoft.com/office/powerpoint/2010/main" val="1465867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1885E-7E45-1838-C5CE-F10B02BE33A0}"/>
              </a:ext>
            </a:extLst>
          </p:cNvPr>
          <p:cNvSpPr>
            <a:spLocks noGrp="1"/>
          </p:cNvSpPr>
          <p:nvPr>
            <p:ph type="title"/>
          </p:nvPr>
        </p:nvSpPr>
        <p:spPr/>
        <p:txBody>
          <a:bodyPr/>
          <a:lstStyle/>
          <a:p>
            <a:r>
              <a:rPr lang="en-US"/>
              <a:t>The Question</a:t>
            </a:r>
            <a:endParaRPr lang="en-US" dirty="0"/>
          </a:p>
        </p:txBody>
      </p:sp>
      <p:sp>
        <p:nvSpPr>
          <p:cNvPr id="42" name="TextBox 41">
            <a:extLst>
              <a:ext uri="{FF2B5EF4-FFF2-40B4-BE49-F238E27FC236}">
                <a16:creationId xmlns:a16="http://schemas.microsoft.com/office/drawing/2014/main" id="{8F044F69-07BD-2751-24FF-8652B93A6368}"/>
              </a:ext>
            </a:extLst>
          </p:cNvPr>
          <p:cNvSpPr txBox="1"/>
          <p:nvPr/>
        </p:nvSpPr>
        <p:spPr>
          <a:xfrm>
            <a:off x="1066800" y="1320800"/>
            <a:ext cx="8912144" cy="369332"/>
          </a:xfrm>
          <a:prstGeom prst="rect">
            <a:avLst/>
          </a:prstGeom>
          <a:noFill/>
        </p:spPr>
        <p:txBody>
          <a:bodyPr wrap="square" rtlCol="0">
            <a:spAutoFit/>
          </a:bodyPr>
          <a:lstStyle/>
          <a:p>
            <a:r>
              <a:rPr lang="en-US" dirty="0"/>
              <a:t>How to maximize sensitivity and irradiation of the off-beam detector?</a:t>
            </a:r>
          </a:p>
        </p:txBody>
      </p:sp>
      <p:pic>
        <p:nvPicPr>
          <p:cNvPr id="6" name="Content Placeholder 5">
            <a:extLst>
              <a:ext uri="{FF2B5EF4-FFF2-40B4-BE49-F238E27FC236}">
                <a16:creationId xmlns:a16="http://schemas.microsoft.com/office/drawing/2014/main" id="{AF17EB64-6AA9-A653-F955-802EC9DD45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8858" y="2237370"/>
            <a:ext cx="7774284" cy="3982923"/>
          </a:xfrm>
          <a:prstGeom prst="rect">
            <a:avLst/>
          </a:prstGeom>
        </p:spPr>
      </p:pic>
    </p:spTree>
    <p:extLst>
      <p:ext uri="{BB962C8B-B14F-4D97-AF65-F5344CB8AC3E}">
        <p14:creationId xmlns:p14="http://schemas.microsoft.com/office/powerpoint/2010/main" val="2867557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79F9-9B4D-05DD-961A-21D0FFEEA4D1}"/>
              </a:ext>
            </a:extLst>
          </p:cNvPr>
          <p:cNvSpPr>
            <a:spLocks noGrp="1"/>
          </p:cNvSpPr>
          <p:nvPr>
            <p:ph type="title"/>
          </p:nvPr>
        </p:nvSpPr>
        <p:spPr/>
        <p:txBody>
          <a:bodyPr/>
          <a:lstStyle/>
          <a:p>
            <a:r>
              <a:rPr lang="en-US" dirty="0"/>
              <a:t>The Irradiation Problem</a:t>
            </a:r>
          </a:p>
        </p:txBody>
      </p:sp>
      <p:sp>
        <p:nvSpPr>
          <p:cNvPr id="3" name="Content Placeholder 2">
            <a:extLst>
              <a:ext uri="{FF2B5EF4-FFF2-40B4-BE49-F238E27FC236}">
                <a16:creationId xmlns:a16="http://schemas.microsoft.com/office/drawing/2014/main" id="{F4422520-B256-7394-E689-A73A95152B9F}"/>
              </a:ext>
            </a:extLst>
          </p:cNvPr>
          <p:cNvSpPr>
            <a:spLocks noGrp="1"/>
          </p:cNvSpPr>
          <p:nvPr>
            <p:ph idx="1"/>
          </p:nvPr>
        </p:nvSpPr>
        <p:spPr>
          <a:xfrm>
            <a:off x="1103312" y="1675237"/>
            <a:ext cx="9404723" cy="2770868"/>
          </a:xfrm>
          <a:solidFill>
            <a:schemeClr val="bg1"/>
          </a:solidFill>
        </p:spPr>
        <p:txBody>
          <a:bodyPr>
            <a:normAutofit/>
          </a:bodyPr>
          <a:lstStyle/>
          <a:p>
            <a:pPr>
              <a:buClr>
                <a:schemeClr val="tx1">
                  <a:lumMod val="95000"/>
                  <a:lumOff val="5000"/>
                </a:schemeClr>
              </a:buClr>
            </a:pPr>
            <a:r>
              <a:rPr lang="en-US" dirty="0"/>
              <a:t>As individual photons propagate through water, they scatter and change direction by interacting with the particles in the water.</a:t>
            </a:r>
          </a:p>
          <a:p>
            <a:pPr>
              <a:buClr>
                <a:schemeClr val="tx1">
                  <a:lumMod val="95000"/>
                  <a:lumOff val="5000"/>
                </a:schemeClr>
              </a:buClr>
            </a:pPr>
            <a:r>
              <a:rPr lang="en-US" dirty="0"/>
              <a:t>For photons traveling in +x direction to travel in the +z direction, several low probability scattering events are necessary.</a:t>
            </a:r>
          </a:p>
          <a:p>
            <a:pPr>
              <a:buClr>
                <a:schemeClr val="tx1">
                  <a:lumMod val="95000"/>
                  <a:lumOff val="5000"/>
                </a:schemeClr>
              </a:buClr>
            </a:pPr>
            <a:r>
              <a:rPr lang="en-US" dirty="0"/>
              <a:t>The distribution of these events match the Fornier Forand Distribution </a:t>
            </a:r>
          </a:p>
          <a:p>
            <a:pPr>
              <a:buClr>
                <a:schemeClr val="tx1">
                  <a:lumMod val="95000"/>
                  <a:lumOff val="5000"/>
                </a:schemeClr>
              </a:buClr>
            </a:pPr>
            <a:r>
              <a:rPr lang="en-US" dirty="0"/>
              <a:t>The frequency of these events is dictated by the scattering coefficient</a:t>
            </a:r>
          </a:p>
          <a:p>
            <a:pPr>
              <a:buClr>
                <a:schemeClr val="tx1">
                  <a:lumMod val="95000"/>
                  <a:lumOff val="5000"/>
                </a:schemeClr>
              </a:buClr>
            </a:pPr>
            <a:r>
              <a:rPr lang="en-US" dirty="0"/>
              <a:t>Photons also interact with the medium and get absorbed</a:t>
            </a:r>
          </a:p>
        </p:txBody>
      </p:sp>
      <p:pic>
        <p:nvPicPr>
          <p:cNvPr id="5" name="Picture 4">
            <a:extLst>
              <a:ext uri="{FF2B5EF4-FFF2-40B4-BE49-F238E27FC236}">
                <a16:creationId xmlns:a16="http://schemas.microsoft.com/office/drawing/2014/main" id="{3D7A38C9-9B89-31B8-9F85-763DF49566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0551" y="5021682"/>
            <a:ext cx="2547374" cy="1383600"/>
          </a:xfrm>
          <a:prstGeom prst="rect">
            <a:avLst/>
          </a:prstGeom>
        </p:spPr>
      </p:pic>
      <p:pic>
        <p:nvPicPr>
          <p:cNvPr id="7" name="Picture 6">
            <a:extLst>
              <a:ext uri="{FF2B5EF4-FFF2-40B4-BE49-F238E27FC236}">
                <a16:creationId xmlns:a16="http://schemas.microsoft.com/office/drawing/2014/main" id="{67F4467D-BB59-EE59-9FA0-CF70859A2E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6525" y="4868170"/>
            <a:ext cx="4058031" cy="1656766"/>
          </a:xfrm>
          <a:prstGeom prst="rect">
            <a:avLst/>
          </a:prstGeom>
        </p:spPr>
      </p:pic>
      <p:pic>
        <p:nvPicPr>
          <p:cNvPr id="9" name="Picture 8">
            <a:extLst>
              <a:ext uri="{FF2B5EF4-FFF2-40B4-BE49-F238E27FC236}">
                <a16:creationId xmlns:a16="http://schemas.microsoft.com/office/drawing/2014/main" id="{CB66DF46-922A-529E-AA37-F483550A95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181" y="4868170"/>
            <a:ext cx="4396509" cy="1606698"/>
          </a:xfrm>
          <a:prstGeom prst="rect">
            <a:avLst/>
          </a:prstGeom>
        </p:spPr>
      </p:pic>
    </p:spTree>
    <p:extLst>
      <p:ext uri="{BB962C8B-B14F-4D97-AF65-F5344CB8AC3E}">
        <p14:creationId xmlns:p14="http://schemas.microsoft.com/office/powerpoint/2010/main" val="681860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E157F-CFEA-AF94-4CCD-312437737191}"/>
              </a:ext>
            </a:extLst>
          </p:cNvPr>
          <p:cNvSpPr>
            <a:spLocks noGrp="1"/>
          </p:cNvSpPr>
          <p:nvPr>
            <p:ph type="title"/>
          </p:nvPr>
        </p:nvSpPr>
        <p:spPr/>
        <p:txBody>
          <a:bodyPr/>
          <a:lstStyle/>
          <a:p>
            <a:r>
              <a:rPr lang="en-US" dirty="0"/>
              <a:t>The Fornier Forand Distribution</a:t>
            </a:r>
          </a:p>
        </p:txBody>
      </p:sp>
      <p:pic>
        <p:nvPicPr>
          <p:cNvPr id="4" name="Picture 3">
            <a:extLst>
              <a:ext uri="{FF2B5EF4-FFF2-40B4-BE49-F238E27FC236}">
                <a16:creationId xmlns:a16="http://schemas.microsoft.com/office/drawing/2014/main" id="{E8E90C1C-7EA9-9A7F-2EA8-9401755A95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1561819"/>
            <a:ext cx="6686550" cy="5014913"/>
          </a:xfrm>
          <a:prstGeom prst="rect">
            <a:avLst/>
          </a:prstGeom>
        </p:spPr>
      </p:pic>
      <p:pic>
        <p:nvPicPr>
          <p:cNvPr id="6" name="Picture 5">
            <a:extLst>
              <a:ext uri="{FF2B5EF4-FFF2-40B4-BE49-F238E27FC236}">
                <a16:creationId xmlns:a16="http://schemas.microsoft.com/office/drawing/2014/main" id="{2B63511B-E321-AD10-0AD1-B2783BDFB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6405" y="1822302"/>
            <a:ext cx="4396509" cy="1606698"/>
          </a:xfrm>
          <a:prstGeom prst="rect">
            <a:avLst/>
          </a:prstGeom>
        </p:spPr>
      </p:pic>
      <p:pic>
        <p:nvPicPr>
          <p:cNvPr id="8" name="Picture 7">
            <a:extLst>
              <a:ext uri="{FF2B5EF4-FFF2-40B4-BE49-F238E27FC236}">
                <a16:creationId xmlns:a16="http://schemas.microsoft.com/office/drawing/2014/main" id="{9C166562-6681-D0AA-5BDC-D4ED6EFFEA1E}"/>
              </a:ext>
            </a:extLst>
          </p:cNvPr>
          <p:cNvPicPr>
            <a:picLocks noChangeAspect="1"/>
          </p:cNvPicPr>
          <p:nvPr/>
        </p:nvPicPr>
        <p:blipFill>
          <a:blip r:embed="rId4"/>
          <a:stretch>
            <a:fillRect/>
          </a:stretch>
        </p:blipFill>
        <p:spPr>
          <a:xfrm>
            <a:off x="3066756" y="6224306"/>
            <a:ext cx="180976" cy="180976"/>
          </a:xfrm>
          <a:prstGeom prst="rect">
            <a:avLst/>
          </a:prstGeom>
        </p:spPr>
      </p:pic>
      <p:pic>
        <p:nvPicPr>
          <p:cNvPr id="16" name="Picture 15">
            <a:extLst>
              <a:ext uri="{FF2B5EF4-FFF2-40B4-BE49-F238E27FC236}">
                <a16:creationId xmlns:a16="http://schemas.microsoft.com/office/drawing/2014/main" id="{D55A96AC-B0FD-D2F4-1E49-B158AAE9E06E}"/>
              </a:ext>
            </a:extLst>
          </p:cNvPr>
          <p:cNvPicPr>
            <a:picLocks noChangeAspect="1"/>
          </p:cNvPicPr>
          <p:nvPr/>
        </p:nvPicPr>
        <p:blipFill>
          <a:blip r:embed="rId5"/>
          <a:srcRect/>
          <a:stretch>
            <a:fillRect/>
          </a:stretch>
        </p:blipFill>
        <p:spPr>
          <a:xfrm>
            <a:off x="760412" y="3421393"/>
            <a:ext cx="3483142" cy="2474864"/>
          </a:xfrm>
          <a:prstGeom prst="rect">
            <a:avLst/>
          </a:prstGeom>
        </p:spPr>
      </p:pic>
      <p:sp>
        <p:nvSpPr>
          <p:cNvPr id="17" name="TextBox 16">
            <a:extLst>
              <a:ext uri="{FF2B5EF4-FFF2-40B4-BE49-F238E27FC236}">
                <a16:creationId xmlns:a16="http://schemas.microsoft.com/office/drawing/2014/main" id="{66F598BF-507A-AA2B-2486-B553CE88B4BF}"/>
              </a:ext>
            </a:extLst>
          </p:cNvPr>
          <p:cNvSpPr txBox="1"/>
          <p:nvPr/>
        </p:nvSpPr>
        <p:spPr>
          <a:xfrm>
            <a:off x="6416405" y="3884608"/>
            <a:ext cx="5375545" cy="2308324"/>
          </a:xfrm>
          <a:prstGeom prst="rect">
            <a:avLst/>
          </a:prstGeom>
          <a:noFill/>
        </p:spPr>
        <p:txBody>
          <a:bodyPr wrap="square" rtlCol="0">
            <a:spAutoFit/>
          </a:bodyPr>
          <a:lstStyle/>
          <a:p>
            <a:r>
              <a:rPr lang="en-US" dirty="0"/>
              <a:t>The Fornier Forand Distribution is a function that is defined by 2 parameters namely the </a:t>
            </a:r>
            <a:r>
              <a:rPr lang="en-US" dirty="0" err="1"/>
              <a:t>junge</a:t>
            </a:r>
            <a:r>
              <a:rPr lang="en-US" dirty="0"/>
              <a:t> parameter and the index of refraction. It takes the scattering angle and returns the probability of scattering in that direction. For single scattering events. A monte </a:t>
            </a:r>
            <a:r>
              <a:rPr lang="en-US" dirty="0" err="1"/>
              <a:t>carlor</a:t>
            </a:r>
            <a:r>
              <a:rPr lang="en-US" dirty="0"/>
              <a:t> simulation is needed to compute the regime for which many events happen.</a:t>
            </a:r>
          </a:p>
        </p:txBody>
      </p:sp>
    </p:spTree>
    <p:extLst>
      <p:ext uri="{BB962C8B-B14F-4D97-AF65-F5344CB8AC3E}">
        <p14:creationId xmlns:p14="http://schemas.microsoft.com/office/powerpoint/2010/main" val="1022279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B16F9-AD43-2CD3-5A85-12234A2CFBBE}"/>
              </a:ext>
            </a:extLst>
          </p:cNvPr>
          <p:cNvSpPr>
            <a:spLocks noGrp="1"/>
          </p:cNvSpPr>
          <p:nvPr>
            <p:ph type="title"/>
          </p:nvPr>
        </p:nvSpPr>
        <p:spPr/>
        <p:txBody>
          <a:bodyPr/>
          <a:lstStyle/>
          <a:p>
            <a:r>
              <a:rPr lang="en-US" dirty="0"/>
              <a:t>How to Position The Detector</a:t>
            </a:r>
          </a:p>
        </p:txBody>
      </p:sp>
      <p:pic>
        <p:nvPicPr>
          <p:cNvPr id="19" name="Picture 18">
            <a:extLst>
              <a:ext uri="{FF2B5EF4-FFF2-40B4-BE49-F238E27FC236}">
                <a16:creationId xmlns:a16="http://schemas.microsoft.com/office/drawing/2014/main" id="{1C55562D-43F0-EBE6-3947-2254E334BCC5}"/>
              </a:ext>
            </a:extLst>
          </p:cNvPr>
          <p:cNvPicPr>
            <a:picLocks noChangeAspect="1"/>
          </p:cNvPicPr>
          <p:nvPr/>
        </p:nvPicPr>
        <p:blipFill>
          <a:blip r:embed="rId2">
            <a:extLst>
              <a:ext uri="{28A0092B-C50C-407E-A947-70E740481C1C}">
                <a14:useLocalDpi xmlns:a14="http://schemas.microsoft.com/office/drawing/2010/main" val="0"/>
              </a:ext>
            </a:extLst>
          </a:blip>
          <a:srcRect t="19154" b="23175"/>
          <a:stretch>
            <a:fillRect/>
          </a:stretch>
        </p:blipFill>
        <p:spPr>
          <a:xfrm>
            <a:off x="1219201" y="2086330"/>
            <a:ext cx="9985097" cy="4318952"/>
          </a:xfrm>
          <a:prstGeom prst="rect">
            <a:avLst/>
          </a:prstGeom>
        </p:spPr>
      </p:pic>
      <p:sp>
        <p:nvSpPr>
          <p:cNvPr id="21" name="TextBox 20">
            <a:extLst>
              <a:ext uri="{FF2B5EF4-FFF2-40B4-BE49-F238E27FC236}">
                <a16:creationId xmlns:a16="http://schemas.microsoft.com/office/drawing/2014/main" id="{35A61F37-5BD9-ED55-E166-871A9904A453}"/>
              </a:ext>
            </a:extLst>
          </p:cNvPr>
          <p:cNvSpPr txBox="1"/>
          <p:nvPr/>
        </p:nvSpPr>
        <p:spPr>
          <a:xfrm>
            <a:off x="152399" y="6035950"/>
            <a:ext cx="12696825" cy="369332"/>
          </a:xfrm>
          <a:prstGeom prst="rect">
            <a:avLst/>
          </a:prstGeom>
          <a:noFill/>
        </p:spPr>
        <p:txBody>
          <a:bodyPr wrap="square" rtlCol="0">
            <a:spAutoFit/>
          </a:bodyPr>
          <a:lstStyle/>
          <a:p>
            <a:r>
              <a:rPr lang="en-US" dirty="0"/>
              <a:t>Illustrative fluence map with an unrealistically high scattering coefficient (</a:t>
            </a:r>
            <a:r>
              <a:rPr lang="en-US" dirty="0" err="1"/>
              <a:t>μs</a:t>
            </a:r>
            <a:r>
              <a:rPr lang="en-US" dirty="0"/>
              <a:t> = 0.2 mm−1, </a:t>
            </a:r>
            <a:r>
              <a:rPr lang="en-US" dirty="0" err="1"/>
              <a:t>μa</a:t>
            </a:r>
            <a:r>
              <a:rPr lang="en-US" dirty="0"/>
              <a:t> = 0.0001 mm−1.</a:t>
            </a:r>
          </a:p>
        </p:txBody>
      </p:sp>
      <p:sp>
        <p:nvSpPr>
          <p:cNvPr id="22" name="TextBox 21">
            <a:extLst>
              <a:ext uri="{FF2B5EF4-FFF2-40B4-BE49-F238E27FC236}">
                <a16:creationId xmlns:a16="http://schemas.microsoft.com/office/drawing/2014/main" id="{E0F6A6D3-1C96-E71D-85AB-2BA73166B540}"/>
              </a:ext>
            </a:extLst>
          </p:cNvPr>
          <p:cNvSpPr txBox="1"/>
          <p:nvPr/>
        </p:nvSpPr>
        <p:spPr>
          <a:xfrm>
            <a:off x="400050" y="1476375"/>
            <a:ext cx="11296650" cy="646331"/>
          </a:xfrm>
          <a:prstGeom prst="rect">
            <a:avLst/>
          </a:prstGeom>
          <a:noFill/>
        </p:spPr>
        <p:txBody>
          <a:bodyPr wrap="square" rtlCol="0">
            <a:spAutoFit/>
          </a:bodyPr>
          <a:lstStyle/>
          <a:p>
            <a:r>
              <a:rPr lang="en-US" dirty="0"/>
              <a:t>Given that the offset from the beam in the z direction is the main engineering limitation, what is the best position on the x axis?</a:t>
            </a:r>
          </a:p>
        </p:txBody>
      </p:sp>
      <p:cxnSp>
        <p:nvCxnSpPr>
          <p:cNvPr id="25" name="Straight Connector 24">
            <a:extLst>
              <a:ext uri="{FF2B5EF4-FFF2-40B4-BE49-F238E27FC236}">
                <a16:creationId xmlns:a16="http://schemas.microsoft.com/office/drawing/2014/main" id="{593256FD-21FF-DFDF-BA60-ABE4B7FBCF61}"/>
              </a:ext>
            </a:extLst>
          </p:cNvPr>
          <p:cNvCxnSpPr>
            <a:cxnSpLocks/>
          </p:cNvCxnSpPr>
          <p:nvPr/>
        </p:nvCxnSpPr>
        <p:spPr>
          <a:xfrm>
            <a:off x="2522826" y="3920407"/>
            <a:ext cx="6184756" cy="0"/>
          </a:xfrm>
          <a:prstGeom prst="line">
            <a:avLst/>
          </a:prstGeom>
        </p:spPr>
        <p:style>
          <a:lnRef idx="2">
            <a:schemeClr val="dk1"/>
          </a:lnRef>
          <a:fillRef idx="0">
            <a:schemeClr val="dk1"/>
          </a:fillRef>
          <a:effectRef idx="1">
            <a:schemeClr val="dk1"/>
          </a:effectRef>
          <a:fontRef idx="minor">
            <a:schemeClr val="tx1"/>
          </a:fontRef>
        </p:style>
      </p:cxnSp>
      <p:sp>
        <p:nvSpPr>
          <p:cNvPr id="28" name="Rectangle: Rounded Corners 27">
            <a:extLst>
              <a:ext uri="{FF2B5EF4-FFF2-40B4-BE49-F238E27FC236}">
                <a16:creationId xmlns:a16="http://schemas.microsoft.com/office/drawing/2014/main" id="{60B8DCBA-C92A-01C8-253D-C282B1C78482}"/>
              </a:ext>
            </a:extLst>
          </p:cNvPr>
          <p:cNvSpPr/>
          <p:nvPr/>
        </p:nvSpPr>
        <p:spPr>
          <a:xfrm>
            <a:off x="2522827" y="3525982"/>
            <a:ext cx="656792" cy="1904998"/>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384F834E-8F76-65B0-973C-DC567D0F312F}"/>
              </a:ext>
            </a:extLst>
          </p:cNvPr>
          <p:cNvSpPr/>
          <p:nvPr/>
        </p:nvSpPr>
        <p:spPr>
          <a:xfrm>
            <a:off x="3200400" y="3525982"/>
            <a:ext cx="514352" cy="1904998"/>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6245BF53-8006-6E99-57A1-250116A2ADEB}"/>
              </a:ext>
            </a:extLst>
          </p:cNvPr>
          <p:cNvSpPr/>
          <p:nvPr/>
        </p:nvSpPr>
        <p:spPr>
          <a:xfrm>
            <a:off x="3732068" y="3525982"/>
            <a:ext cx="4745181" cy="1904998"/>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6D8C5480-EB2A-554A-8FA8-5D54A062F0C1}"/>
              </a:ext>
            </a:extLst>
          </p:cNvPr>
          <p:cNvGrpSpPr/>
          <p:nvPr/>
        </p:nvGrpSpPr>
        <p:grpSpPr>
          <a:xfrm>
            <a:off x="1640500" y="3116546"/>
            <a:ext cx="389925" cy="510541"/>
            <a:chOff x="4571972" y="2435043"/>
            <a:chExt cx="978771" cy="1281535"/>
          </a:xfrm>
        </p:grpSpPr>
        <p:sp>
          <p:nvSpPr>
            <p:cNvPr id="48" name="Rectangle: Rounded Corners 47">
              <a:extLst>
                <a:ext uri="{FF2B5EF4-FFF2-40B4-BE49-F238E27FC236}">
                  <a16:creationId xmlns:a16="http://schemas.microsoft.com/office/drawing/2014/main" id="{1363742A-DBC3-1763-CCD7-4C3B3346793F}"/>
                </a:ext>
              </a:extLst>
            </p:cNvPr>
            <p:cNvSpPr/>
            <p:nvPr/>
          </p:nvSpPr>
          <p:spPr>
            <a:xfrm>
              <a:off x="4761210" y="2435043"/>
              <a:ext cx="622854" cy="978771"/>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0" name="Trapezoid 49">
              <a:extLst>
                <a:ext uri="{FF2B5EF4-FFF2-40B4-BE49-F238E27FC236}">
                  <a16:creationId xmlns:a16="http://schemas.microsoft.com/office/drawing/2014/main" id="{B40706AC-479C-3923-DB4D-2CD9781DA5DA}"/>
                </a:ext>
              </a:extLst>
            </p:cNvPr>
            <p:cNvSpPr/>
            <p:nvPr/>
          </p:nvSpPr>
          <p:spPr>
            <a:xfrm>
              <a:off x="4571972" y="3348726"/>
              <a:ext cx="978771" cy="367852"/>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87AFFAE3-0D1E-63E4-71EF-901243289D2F}"/>
              </a:ext>
            </a:extLst>
          </p:cNvPr>
          <p:cNvSpPr txBox="1"/>
          <p:nvPr/>
        </p:nvSpPr>
        <p:spPr>
          <a:xfrm>
            <a:off x="198871" y="3627087"/>
            <a:ext cx="1230979" cy="2246769"/>
          </a:xfrm>
          <a:prstGeom prst="rect">
            <a:avLst/>
          </a:prstGeom>
          <a:noFill/>
        </p:spPr>
        <p:txBody>
          <a:bodyPr wrap="square" rtlCol="0">
            <a:spAutoFit/>
          </a:bodyPr>
          <a:lstStyle/>
          <a:p>
            <a:r>
              <a:rPr lang="en-US" sz="1400" dirty="0"/>
              <a:t>Needs enough distance to scatter sufficiently, needs to be measured before too much absorption</a:t>
            </a:r>
          </a:p>
        </p:txBody>
      </p:sp>
    </p:spTree>
    <p:extLst>
      <p:ext uri="{BB962C8B-B14F-4D97-AF65-F5344CB8AC3E}">
        <p14:creationId xmlns:p14="http://schemas.microsoft.com/office/powerpoint/2010/main" val="64128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0.07774 0.05324 L 0.35326 0.05416 L 0.13477 0.05231 " pathEditMode="relative" ptsTypes="AAA">
                                      <p:cBhvr>
                                        <p:cTn id="22" dur="2000" fill="hold"/>
                                        <p:tgtEl>
                                          <p:spTgt spid="5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1D9E-5110-494B-564A-7A27CAA42C1A}"/>
              </a:ext>
            </a:extLst>
          </p:cNvPr>
          <p:cNvSpPr>
            <a:spLocks noGrp="1"/>
          </p:cNvSpPr>
          <p:nvPr>
            <p:ph type="title"/>
          </p:nvPr>
        </p:nvSpPr>
        <p:spPr/>
        <p:txBody>
          <a:bodyPr/>
          <a:lstStyle/>
          <a:p>
            <a:r>
              <a:rPr lang="en-US" dirty="0"/>
              <a:t>Experimental Setup</a:t>
            </a:r>
          </a:p>
        </p:txBody>
      </p:sp>
      <p:pic>
        <p:nvPicPr>
          <p:cNvPr id="6" name="Picture 5">
            <a:extLst>
              <a:ext uri="{FF2B5EF4-FFF2-40B4-BE49-F238E27FC236}">
                <a16:creationId xmlns:a16="http://schemas.microsoft.com/office/drawing/2014/main" id="{BECE9461-C179-813B-48FD-417F489AF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47470"/>
            <a:ext cx="6038894" cy="3848128"/>
          </a:xfrm>
          <a:prstGeom prst="rect">
            <a:avLst/>
          </a:prstGeom>
        </p:spPr>
      </p:pic>
      <p:pic>
        <p:nvPicPr>
          <p:cNvPr id="8" name="Picture 7">
            <a:extLst>
              <a:ext uri="{FF2B5EF4-FFF2-40B4-BE49-F238E27FC236}">
                <a16:creationId xmlns:a16="http://schemas.microsoft.com/office/drawing/2014/main" id="{DB6D2207-0B34-9675-EF02-4E8016E2C6A9}"/>
              </a:ext>
            </a:extLst>
          </p:cNvPr>
          <p:cNvPicPr>
            <a:picLocks noChangeAspect="1"/>
          </p:cNvPicPr>
          <p:nvPr/>
        </p:nvPicPr>
        <p:blipFill>
          <a:blip r:embed="rId3"/>
          <a:stretch>
            <a:fillRect/>
          </a:stretch>
        </p:blipFill>
        <p:spPr>
          <a:xfrm>
            <a:off x="6557292" y="2669631"/>
            <a:ext cx="4395515" cy="3266936"/>
          </a:xfrm>
          <a:prstGeom prst="rect">
            <a:avLst/>
          </a:prstGeom>
        </p:spPr>
      </p:pic>
    </p:spTree>
    <p:extLst>
      <p:ext uri="{BB962C8B-B14F-4D97-AF65-F5344CB8AC3E}">
        <p14:creationId xmlns:p14="http://schemas.microsoft.com/office/powerpoint/2010/main" val="1393464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B42E0-3544-F82B-0952-8A75A8C91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4700"/>
            <a:ext cx="11252018" cy="3187540"/>
          </a:xfrm>
          <a:prstGeom prst="rect">
            <a:avLst/>
          </a:prstGeom>
        </p:spPr>
      </p:pic>
      <p:sp>
        <p:nvSpPr>
          <p:cNvPr id="2" name="Title 1">
            <a:extLst>
              <a:ext uri="{FF2B5EF4-FFF2-40B4-BE49-F238E27FC236}">
                <a16:creationId xmlns:a16="http://schemas.microsoft.com/office/drawing/2014/main" id="{86E79CC2-2AE6-4D5F-1EE0-AE11E6B8B882}"/>
              </a:ext>
            </a:extLst>
          </p:cNvPr>
          <p:cNvSpPr>
            <a:spLocks noGrp="1"/>
          </p:cNvSpPr>
          <p:nvPr>
            <p:ph type="title"/>
          </p:nvPr>
        </p:nvSpPr>
        <p:spPr>
          <a:xfrm>
            <a:off x="188911" y="113282"/>
            <a:ext cx="9404723" cy="1400530"/>
          </a:xfrm>
        </p:spPr>
        <p:txBody>
          <a:bodyPr/>
          <a:lstStyle/>
          <a:p>
            <a:r>
              <a:rPr lang="en-US" dirty="0"/>
              <a:t>Results z=65,75</a:t>
            </a:r>
          </a:p>
        </p:txBody>
      </p:sp>
      <p:pic>
        <p:nvPicPr>
          <p:cNvPr id="8" name="Picture 7">
            <a:extLst>
              <a:ext uri="{FF2B5EF4-FFF2-40B4-BE49-F238E27FC236}">
                <a16:creationId xmlns:a16="http://schemas.microsoft.com/office/drawing/2014/main" id="{9719EE6B-7093-876F-5018-93B7C6B169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88724"/>
            <a:ext cx="11187545" cy="3169276"/>
          </a:xfrm>
          <a:prstGeom prst="rect">
            <a:avLst/>
          </a:prstGeom>
        </p:spPr>
      </p:pic>
      <p:sp>
        <p:nvSpPr>
          <p:cNvPr id="11" name="Oval 10">
            <a:extLst>
              <a:ext uri="{FF2B5EF4-FFF2-40B4-BE49-F238E27FC236}">
                <a16:creationId xmlns:a16="http://schemas.microsoft.com/office/drawing/2014/main" id="{6FCAEAA4-397B-AD2E-8739-DCE9EAF7AA36}"/>
              </a:ext>
            </a:extLst>
          </p:cNvPr>
          <p:cNvSpPr/>
          <p:nvPr/>
        </p:nvSpPr>
        <p:spPr>
          <a:xfrm>
            <a:off x="1563757" y="924509"/>
            <a:ext cx="708991" cy="655787"/>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BF52954B-C531-638B-BD2D-93BD3A272E4F}"/>
              </a:ext>
            </a:extLst>
          </p:cNvPr>
          <p:cNvCxnSpPr/>
          <p:nvPr/>
        </p:nvCxnSpPr>
        <p:spPr>
          <a:xfrm flipH="1">
            <a:off x="2312504" y="1239078"/>
            <a:ext cx="5764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188ECFB-E657-5A58-6332-94726F9B807C}"/>
              </a:ext>
            </a:extLst>
          </p:cNvPr>
          <p:cNvSpPr txBox="1"/>
          <p:nvPr/>
        </p:nvSpPr>
        <p:spPr>
          <a:xfrm>
            <a:off x="2822713" y="1067736"/>
            <a:ext cx="1013792" cy="369332"/>
          </a:xfrm>
          <a:prstGeom prst="rect">
            <a:avLst/>
          </a:prstGeom>
          <a:noFill/>
        </p:spPr>
        <p:txBody>
          <a:bodyPr wrap="square" rtlCol="0">
            <a:spAutoFit/>
          </a:bodyPr>
          <a:lstStyle/>
          <a:p>
            <a:r>
              <a:rPr lang="en-US" dirty="0"/>
              <a:t>Peak</a:t>
            </a:r>
          </a:p>
        </p:txBody>
      </p:sp>
      <p:sp>
        <p:nvSpPr>
          <p:cNvPr id="15" name="Oval 14">
            <a:extLst>
              <a:ext uri="{FF2B5EF4-FFF2-40B4-BE49-F238E27FC236}">
                <a16:creationId xmlns:a16="http://schemas.microsoft.com/office/drawing/2014/main" id="{B2117040-D39D-D227-FA28-1381C60AD3EB}"/>
              </a:ext>
            </a:extLst>
          </p:cNvPr>
          <p:cNvSpPr/>
          <p:nvPr/>
        </p:nvSpPr>
        <p:spPr>
          <a:xfrm>
            <a:off x="1855305" y="4354282"/>
            <a:ext cx="708991" cy="655787"/>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58225559-EAE9-E1EC-76A5-DAC1FF291455}"/>
              </a:ext>
            </a:extLst>
          </p:cNvPr>
          <p:cNvCxnSpPr/>
          <p:nvPr/>
        </p:nvCxnSpPr>
        <p:spPr>
          <a:xfrm flipH="1">
            <a:off x="2604052" y="4668851"/>
            <a:ext cx="5764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99DD293-A458-510B-AA31-ED5874552B3B}"/>
              </a:ext>
            </a:extLst>
          </p:cNvPr>
          <p:cNvSpPr txBox="1"/>
          <p:nvPr/>
        </p:nvSpPr>
        <p:spPr>
          <a:xfrm>
            <a:off x="3114261" y="4497509"/>
            <a:ext cx="1013792" cy="369332"/>
          </a:xfrm>
          <a:prstGeom prst="rect">
            <a:avLst/>
          </a:prstGeom>
          <a:noFill/>
        </p:spPr>
        <p:txBody>
          <a:bodyPr wrap="square" rtlCol="0">
            <a:spAutoFit/>
          </a:bodyPr>
          <a:lstStyle/>
          <a:p>
            <a:r>
              <a:rPr lang="en-US" dirty="0"/>
              <a:t>Peak</a:t>
            </a:r>
          </a:p>
        </p:txBody>
      </p:sp>
      <p:cxnSp>
        <p:nvCxnSpPr>
          <p:cNvPr id="19" name="Straight Arrow Connector 18">
            <a:extLst>
              <a:ext uri="{FF2B5EF4-FFF2-40B4-BE49-F238E27FC236}">
                <a16:creationId xmlns:a16="http://schemas.microsoft.com/office/drawing/2014/main" id="{140F3257-EA57-4A72-B02A-FFA13BC74A18}"/>
              </a:ext>
            </a:extLst>
          </p:cNvPr>
          <p:cNvCxnSpPr/>
          <p:nvPr/>
        </p:nvCxnSpPr>
        <p:spPr>
          <a:xfrm>
            <a:off x="9356035" y="2259496"/>
            <a:ext cx="0" cy="1716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6DC9CBB-1A2A-BD84-B592-A04EBD37CE63}"/>
              </a:ext>
            </a:extLst>
          </p:cNvPr>
          <p:cNvCxnSpPr>
            <a:cxnSpLocks/>
          </p:cNvCxnSpPr>
          <p:nvPr/>
        </p:nvCxnSpPr>
        <p:spPr>
          <a:xfrm rot="10800000">
            <a:off x="9508435" y="2411896"/>
            <a:ext cx="0" cy="1716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2464076-50D1-BEE7-5EE0-59C8A4F04F68}"/>
              </a:ext>
            </a:extLst>
          </p:cNvPr>
          <p:cNvSpPr txBox="1"/>
          <p:nvPr/>
        </p:nvSpPr>
        <p:spPr>
          <a:xfrm>
            <a:off x="9508435" y="2794408"/>
            <a:ext cx="2199861" cy="646331"/>
          </a:xfrm>
          <a:prstGeom prst="rect">
            <a:avLst/>
          </a:prstGeom>
          <a:noFill/>
        </p:spPr>
        <p:txBody>
          <a:bodyPr wrap="square" rtlCol="0">
            <a:spAutoFit/>
          </a:bodyPr>
          <a:lstStyle/>
          <a:p>
            <a:r>
              <a:rPr lang="en-US" dirty="0"/>
              <a:t>Visible change in the peak position</a:t>
            </a:r>
          </a:p>
        </p:txBody>
      </p:sp>
    </p:spTree>
    <p:extLst>
      <p:ext uri="{BB962C8B-B14F-4D97-AF65-F5344CB8AC3E}">
        <p14:creationId xmlns:p14="http://schemas.microsoft.com/office/powerpoint/2010/main" val="3099759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60FE0-2ACC-1F59-8C5F-35AC08CDB8E0}"/>
              </a:ext>
            </a:extLst>
          </p:cNvPr>
          <p:cNvSpPr>
            <a:spLocks noGrp="1"/>
          </p:cNvSpPr>
          <p:nvPr>
            <p:ph type="title"/>
          </p:nvPr>
        </p:nvSpPr>
        <p:spPr/>
        <p:txBody>
          <a:bodyPr/>
          <a:lstStyle/>
          <a:p>
            <a:r>
              <a:rPr lang="en-US" dirty="0"/>
              <a:t>Results for other Z</a:t>
            </a:r>
          </a:p>
        </p:txBody>
      </p:sp>
      <p:pic>
        <p:nvPicPr>
          <p:cNvPr id="4" name="Picture 3">
            <a:extLst>
              <a:ext uri="{FF2B5EF4-FFF2-40B4-BE49-F238E27FC236}">
                <a16:creationId xmlns:a16="http://schemas.microsoft.com/office/drawing/2014/main" id="{B8BB04C1-A7C4-78B1-BF5C-D47CCCACC5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43" y="2120276"/>
            <a:ext cx="11411142" cy="3879142"/>
          </a:xfrm>
          <a:prstGeom prst="rect">
            <a:avLst/>
          </a:prstGeom>
        </p:spPr>
      </p:pic>
      <p:sp>
        <p:nvSpPr>
          <p:cNvPr id="7" name="TextBox 6">
            <a:extLst>
              <a:ext uri="{FF2B5EF4-FFF2-40B4-BE49-F238E27FC236}">
                <a16:creationId xmlns:a16="http://schemas.microsoft.com/office/drawing/2014/main" id="{A47E575A-8308-5AF3-EA86-B3CEA195CB51}"/>
              </a:ext>
            </a:extLst>
          </p:cNvPr>
          <p:cNvSpPr txBox="1"/>
          <p:nvPr/>
        </p:nvSpPr>
        <p:spPr>
          <a:xfrm>
            <a:off x="422031" y="1152983"/>
            <a:ext cx="11254154" cy="646331"/>
          </a:xfrm>
          <a:prstGeom prst="rect">
            <a:avLst/>
          </a:prstGeom>
          <a:noFill/>
        </p:spPr>
        <p:txBody>
          <a:bodyPr wrap="square" rtlCol="0">
            <a:spAutoFit/>
          </a:bodyPr>
          <a:lstStyle/>
          <a:p>
            <a:r>
              <a:rPr lang="en-US" dirty="0"/>
              <a:t>The trend is a sublinear increase in the peak position’s distance to the source in the x direction. It is important to mention that this plot shows where the peak is, not how tall the peak is.  </a:t>
            </a:r>
          </a:p>
        </p:txBody>
      </p:sp>
      <p:pic>
        <p:nvPicPr>
          <p:cNvPr id="9" name="Picture 8">
            <a:extLst>
              <a:ext uri="{FF2B5EF4-FFF2-40B4-BE49-F238E27FC236}">
                <a16:creationId xmlns:a16="http://schemas.microsoft.com/office/drawing/2014/main" id="{C9EB41C5-8D94-0F99-2B2E-D1935E9DB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043" y="2120277"/>
            <a:ext cx="11411142" cy="3879142"/>
          </a:xfrm>
          <a:prstGeom prst="rect">
            <a:avLst/>
          </a:prstGeom>
        </p:spPr>
      </p:pic>
    </p:spTree>
    <p:extLst>
      <p:ext uri="{BB962C8B-B14F-4D97-AF65-F5344CB8AC3E}">
        <p14:creationId xmlns:p14="http://schemas.microsoft.com/office/powerpoint/2010/main" val="189301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82D98-C2A5-4517-8855-1B4B89E22B5B}"/>
              </a:ext>
            </a:extLst>
          </p:cNvPr>
          <p:cNvSpPr>
            <a:spLocks noGrp="1"/>
          </p:cNvSpPr>
          <p:nvPr>
            <p:ph type="title"/>
          </p:nvPr>
        </p:nvSpPr>
        <p:spPr/>
        <p:txBody>
          <a:bodyPr/>
          <a:lstStyle/>
          <a:p>
            <a:r>
              <a:rPr lang="en-US" dirty="0"/>
              <a:t>Comparison of different heights</a:t>
            </a:r>
          </a:p>
        </p:txBody>
      </p:sp>
      <p:pic>
        <p:nvPicPr>
          <p:cNvPr id="4" name="Picture 3">
            <a:extLst>
              <a:ext uri="{FF2B5EF4-FFF2-40B4-BE49-F238E27FC236}">
                <a16:creationId xmlns:a16="http://schemas.microsoft.com/office/drawing/2014/main" id="{0B9F781E-90F9-AE96-4C21-6420111D73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 y="3010383"/>
            <a:ext cx="11598812" cy="3285782"/>
          </a:xfrm>
          <a:prstGeom prst="rect">
            <a:avLst/>
          </a:prstGeom>
        </p:spPr>
      </p:pic>
      <p:sp>
        <p:nvSpPr>
          <p:cNvPr id="5" name="TextBox 4">
            <a:extLst>
              <a:ext uri="{FF2B5EF4-FFF2-40B4-BE49-F238E27FC236}">
                <a16:creationId xmlns:a16="http://schemas.microsoft.com/office/drawing/2014/main" id="{CC4CF829-551F-8F2D-EBC2-987F2CA65FD8}"/>
              </a:ext>
            </a:extLst>
          </p:cNvPr>
          <p:cNvSpPr txBox="1"/>
          <p:nvPr/>
        </p:nvSpPr>
        <p:spPr>
          <a:xfrm>
            <a:off x="344658" y="2032782"/>
            <a:ext cx="11183816" cy="646331"/>
          </a:xfrm>
          <a:prstGeom prst="rect">
            <a:avLst/>
          </a:prstGeom>
          <a:noFill/>
        </p:spPr>
        <p:txBody>
          <a:bodyPr wrap="square" rtlCol="0">
            <a:spAutoFit/>
          </a:bodyPr>
          <a:lstStyle/>
          <a:p>
            <a:r>
              <a:rPr lang="en-US" dirty="0"/>
              <a:t>We can see that as the z increases, meaning the off the beam detector is farther away from the beam axis, the peak’s amplitude reduces.</a:t>
            </a:r>
          </a:p>
        </p:txBody>
      </p:sp>
    </p:spTree>
    <p:extLst>
      <p:ext uri="{BB962C8B-B14F-4D97-AF65-F5344CB8AC3E}">
        <p14:creationId xmlns:p14="http://schemas.microsoft.com/office/powerpoint/2010/main" val="4226443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5BD10-DF9D-034E-35D4-426CA2DB0677}"/>
              </a:ext>
            </a:extLst>
          </p:cNvPr>
          <p:cNvSpPr>
            <a:spLocks noGrp="1"/>
          </p:cNvSpPr>
          <p:nvPr>
            <p:ph type="title"/>
          </p:nvPr>
        </p:nvSpPr>
        <p:spPr/>
        <p:txBody>
          <a:bodyPr/>
          <a:lstStyle/>
          <a:p>
            <a:r>
              <a:rPr lang="en-US" dirty="0"/>
              <a:t>How tall are the peaks</a:t>
            </a:r>
          </a:p>
        </p:txBody>
      </p:sp>
      <p:pic>
        <p:nvPicPr>
          <p:cNvPr id="4" name="Picture 3">
            <a:extLst>
              <a:ext uri="{FF2B5EF4-FFF2-40B4-BE49-F238E27FC236}">
                <a16:creationId xmlns:a16="http://schemas.microsoft.com/office/drawing/2014/main" id="{B04B0051-1969-20C7-243E-C2A81C00EA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45" y="2618502"/>
            <a:ext cx="11739489" cy="3990761"/>
          </a:xfrm>
          <a:prstGeom prst="rect">
            <a:avLst/>
          </a:prstGeom>
        </p:spPr>
      </p:pic>
      <p:sp>
        <p:nvSpPr>
          <p:cNvPr id="5" name="TextBox 4">
            <a:extLst>
              <a:ext uri="{FF2B5EF4-FFF2-40B4-BE49-F238E27FC236}">
                <a16:creationId xmlns:a16="http://schemas.microsoft.com/office/drawing/2014/main" id="{11612190-A2C5-06FA-CF57-9BEF9BBB6D41}"/>
              </a:ext>
            </a:extLst>
          </p:cNvPr>
          <p:cNvSpPr txBox="1"/>
          <p:nvPr/>
        </p:nvSpPr>
        <p:spPr>
          <a:xfrm>
            <a:off x="351692" y="1681877"/>
            <a:ext cx="8736037" cy="646331"/>
          </a:xfrm>
          <a:prstGeom prst="rect">
            <a:avLst/>
          </a:prstGeom>
          <a:noFill/>
        </p:spPr>
        <p:txBody>
          <a:bodyPr wrap="square" rtlCol="0">
            <a:spAutoFit/>
          </a:bodyPr>
          <a:lstStyle/>
          <a:p>
            <a:r>
              <a:rPr lang="en-US" dirty="0"/>
              <a:t>The height of the peaks show decline as the z coordinate is increased as expected. The magnitude of absorption also affects this. </a:t>
            </a:r>
          </a:p>
        </p:txBody>
      </p:sp>
    </p:spTree>
    <p:extLst>
      <p:ext uri="{BB962C8B-B14F-4D97-AF65-F5344CB8AC3E}">
        <p14:creationId xmlns:p14="http://schemas.microsoft.com/office/powerpoint/2010/main" val="4134517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AD68A-C548-8492-B662-C427E322E62E}"/>
              </a:ext>
            </a:extLst>
          </p:cNvPr>
          <p:cNvSpPr>
            <a:spLocks noGrp="1"/>
          </p:cNvSpPr>
          <p:nvPr>
            <p:ph type="title"/>
          </p:nvPr>
        </p:nvSpPr>
        <p:spPr/>
        <p:txBody>
          <a:bodyPr/>
          <a:lstStyle/>
          <a:p>
            <a:r>
              <a:rPr lang="en-US" dirty="0"/>
              <a:t>The Sensitivity Problem</a:t>
            </a:r>
          </a:p>
        </p:txBody>
      </p:sp>
      <p:sp>
        <p:nvSpPr>
          <p:cNvPr id="3" name="Content Placeholder 2">
            <a:extLst>
              <a:ext uri="{FF2B5EF4-FFF2-40B4-BE49-F238E27FC236}">
                <a16:creationId xmlns:a16="http://schemas.microsoft.com/office/drawing/2014/main" id="{6B4E50DD-30E7-A44A-A53B-4BAB69AEADB6}"/>
              </a:ext>
            </a:extLst>
          </p:cNvPr>
          <p:cNvSpPr>
            <a:spLocks noGrp="1"/>
          </p:cNvSpPr>
          <p:nvPr>
            <p:ph idx="1"/>
          </p:nvPr>
        </p:nvSpPr>
        <p:spPr>
          <a:xfrm>
            <a:off x="646111" y="1383683"/>
            <a:ext cx="10982672" cy="2045317"/>
          </a:xfrm>
        </p:spPr>
        <p:txBody>
          <a:bodyPr/>
          <a:lstStyle/>
          <a:p>
            <a:pPr>
              <a:buClr>
                <a:schemeClr val="tx1">
                  <a:lumMod val="95000"/>
                  <a:lumOff val="5000"/>
                </a:schemeClr>
              </a:buClr>
            </a:pPr>
            <a:r>
              <a:rPr lang="en-US" dirty="0"/>
              <a:t>It is important that the detective is positioned such that it is sensitive to reasonable change in turbidity.</a:t>
            </a:r>
          </a:p>
          <a:p>
            <a:pPr>
              <a:buClr>
                <a:schemeClr val="tx1">
                  <a:lumMod val="95000"/>
                  <a:lumOff val="5000"/>
                </a:schemeClr>
              </a:buClr>
            </a:pPr>
            <a:r>
              <a:rPr lang="en-US" dirty="0"/>
              <a:t>Turbidity is proportional to the coefficient of scattering</a:t>
            </a:r>
          </a:p>
          <a:p>
            <a:pPr>
              <a:buClr>
                <a:schemeClr val="tx1">
                  <a:lumMod val="95000"/>
                  <a:lumOff val="5000"/>
                </a:schemeClr>
              </a:buClr>
            </a:pPr>
            <a:r>
              <a:rPr lang="en-US" dirty="0"/>
              <a:t>For highly turbid waters, the coefficient of scattering is assumed to be </a:t>
            </a:r>
            <a:r>
              <a:rPr lang="el-GR" dirty="0"/>
              <a:t>0.02 ≥ μ</a:t>
            </a:r>
            <a:r>
              <a:rPr lang="en-US" dirty="0"/>
              <a:t>s ≥ 0.1</a:t>
            </a:r>
          </a:p>
        </p:txBody>
      </p:sp>
      <p:sp>
        <p:nvSpPr>
          <p:cNvPr id="6" name="TextBox 5">
            <a:extLst>
              <a:ext uri="{FF2B5EF4-FFF2-40B4-BE49-F238E27FC236}">
                <a16:creationId xmlns:a16="http://schemas.microsoft.com/office/drawing/2014/main" id="{B1869920-AAE4-C4ED-5267-49409BC4C410}"/>
              </a:ext>
            </a:extLst>
          </p:cNvPr>
          <p:cNvSpPr txBox="1"/>
          <p:nvPr/>
        </p:nvSpPr>
        <p:spPr>
          <a:xfrm>
            <a:off x="265042" y="2967335"/>
            <a:ext cx="11545889" cy="923330"/>
          </a:xfrm>
          <a:prstGeom prst="rect">
            <a:avLst/>
          </a:prstGeom>
          <a:noFill/>
        </p:spPr>
        <p:txBody>
          <a:bodyPr wrap="square" rtlCol="0">
            <a:spAutoFit/>
          </a:bodyPr>
          <a:lstStyle/>
          <a:p>
            <a:r>
              <a:rPr lang="en-US" dirty="0"/>
              <a:t>The figure below compares the detector distribution graphs of a system with </a:t>
            </a:r>
            <a:r>
              <a:rPr lang="en-US" dirty="0" err="1"/>
              <a:t>μa</a:t>
            </a:r>
            <a:r>
              <a:rPr lang="en-US" dirty="0"/>
              <a:t> = 0.003,B_FF = 0.0144, and z = 65mm for a range of different </a:t>
            </a:r>
            <a:r>
              <a:rPr lang="en-US" dirty="0" err="1"/>
              <a:t>μs</a:t>
            </a:r>
            <a:r>
              <a:rPr lang="en-US" dirty="0"/>
              <a:t>.</a:t>
            </a:r>
          </a:p>
          <a:p>
            <a:endParaRPr lang="en-US" dirty="0"/>
          </a:p>
        </p:txBody>
      </p:sp>
      <p:pic>
        <p:nvPicPr>
          <p:cNvPr id="8" name="Picture 7">
            <a:extLst>
              <a:ext uri="{FF2B5EF4-FFF2-40B4-BE49-F238E27FC236}">
                <a16:creationId xmlns:a16="http://schemas.microsoft.com/office/drawing/2014/main" id="{666C5239-8992-2FF1-7AE4-02BB62F130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95" y="3560012"/>
            <a:ext cx="11641898" cy="3297988"/>
          </a:xfrm>
          <a:prstGeom prst="rect">
            <a:avLst/>
          </a:prstGeom>
        </p:spPr>
      </p:pic>
    </p:spTree>
    <p:extLst>
      <p:ext uri="{BB962C8B-B14F-4D97-AF65-F5344CB8AC3E}">
        <p14:creationId xmlns:p14="http://schemas.microsoft.com/office/powerpoint/2010/main" val="2675645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E30F-E2F6-9C15-5D1C-2FD1C1658E2E}"/>
              </a:ext>
            </a:extLst>
          </p:cNvPr>
          <p:cNvSpPr>
            <a:spLocks noGrp="1"/>
          </p:cNvSpPr>
          <p:nvPr>
            <p:ph type="title"/>
          </p:nvPr>
        </p:nvSpPr>
        <p:spPr/>
        <p:txBody>
          <a:bodyPr/>
          <a:lstStyle/>
          <a:p>
            <a:r>
              <a:rPr lang="en-US" dirty="0"/>
              <a:t>Defining Sensitivity</a:t>
            </a:r>
          </a:p>
        </p:txBody>
      </p:sp>
      <p:pic>
        <p:nvPicPr>
          <p:cNvPr id="4" name="Picture 3">
            <a:extLst>
              <a:ext uri="{FF2B5EF4-FFF2-40B4-BE49-F238E27FC236}">
                <a16:creationId xmlns:a16="http://schemas.microsoft.com/office/drawing/2014/main" id="{019BE8D6-A080-68F8-051D-14218B4956D6}"/>
              </a:ext>
            </a:extLst>
          </p:cNvPr>
          <p:cNvPicPr>
            <a:picLocks noChangeAspect="1"/>
          </p:cNvPicPr>
          <p:nvPr/>
        </p:nvPicPr>
        <p:blipFill>
          <a:blip r:embed="rId2"/>
          <a:stretch>
            <a:fillRect/>
          </a:stretch>
        </p:blipFill>
        <p:spPr>
          <a:xfrm>
            <a:off x="1120531" y="2397850"/>
            <a:ext cx="10179537" cy="1918656"/>
          </a:xfrm>
          <a:prstGeom prst="rect">
            <a:avLst/>
          </a:prstGeom>
        </p:spPr>
      </p:pic>
    </p:spTree>
    <p:extLst>
      <p:ext uri="{BB962C8B-B14F-4D97-AF65-F5344CB8AC3E}">
        <p14:creationId xmlns:p14="http://schemas.microsoft.com/office/powerpoint/2010/main" val="1462670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4FEFE-E600-E6A5-0F1A-EBA2B38FD2AE}"/>
              </a:ext>
            </a:extLst>
          </p:cNvPr>
          <p:cNvSpPr>
            <a:spLocks noGrp="1"/>
          </p:cNvSpPr>
          <p:nvPr>
            <p:ph type="title"/>
          </p:nvPr>
        </p:nvSpPr>
        <p:spPr/>
        <p:txBody>
          <a:bodyPr/>
          <a:lstStyle/>
          <a:p>
            <a:r>
              <a:rPr lang="en-US" dirty="0"/>
              <a:t>Example Sensitivity Measurement</a:t>
            </a:r>
          </a:p>
        </p:txBody>
      </p:sp>
      <p:sp>
        <p:nvSpPr>
          <p:cNvPr id="4" name="Content Placeholder 2">
            <a:extLst>
              <a:ext uri="{FF2B5EF4-FFF2-40B4-BE49-F238E27FC236}">
                <a16:creationId xmlns:a16="http://schemas.microsoft.com/office/drawing/2014/main" id="{1AF7AC68-84A3-9E88-F145-F604EF9FF07A}"/>
              </a:ext>
            </a:extLst>
          </p:cNvPr>
          <p:cNvSpPr>
            <a:spLocks noGrp="1"/>
          </p:cNvSpPr>
          <p:nvPr>
            <p:ph idx="1"/>
          </p:nvPr>
        </p:nvSpPr>
        <p:spPr>
          <a:xfrm>
            <a:off x="646111" y="1383683"/>
            <a:ext cx="7731200" cy="1400530"/>
          </a:xfrm>
        </p:spPr>
        <p:txBody>
          <a:bodyPr>
            <a:normAutofit lnSpcReduction="10000"/>
          </a:bodyPr>
          <a:lstStyle/>
          <a:p>
            <a:pPr>
              <a:buClr>
                <a:schemeClr val="tx1">
                  <a:lumMod val="95000"/>
                  <a:lumOff val="5000"/>
                </a:schemeClr>
              </a:buClr>
            </a:pPr>
            <a:r>
              <a:rPr lang="en-US" dirty="0"/>
              <a:t>Let </a:t>
            </a:r>
            <a:r>
              <a:rPr lang="fr-FR" dirty="0" err="1"/>
              <a:t>μ_a</a:t>
            </a:r>
            <a:r>
              <a:rPr lang="fr-FR" dirty="0"/>
              <a:t> = 0.003,z = 65mm, source z position = 50mm,B_FF = 0.0144. </a:t>
            </a:r>
          </a:p>
          <a:p>
            <a:pPr>
              <a:buClr>
                <a:schemeClr val="tx1">
                  <a:lumMod val="95000"/>
                  <a:lumOff val="5000"/>
                </a:schemeClr>
              </a:buClr>
            </a:pPr>
            <a:r>
              <a:rPr lang="fr-FR" dirty="0"/>
              <a:t>Let x position of the detector  </a:t>
            </a:r>
            <a:r>
              <a:rPr lang="fr-FR" dirty="0" err="1"/>
              <a:t>be</a:t>
            </a:r>
            <a:r>
              <a:rPr lang="fr-FR" dirty="0"/>
              <a:t> x=78.3 </a:t>
            </a:r>
            <a:r>
              <a:rPr lang="fr-FR" dirty="0" err="1"/>
              <a:t>such</a:t>
            </a:r>
            <a:r>
              <a:rPr lang="fr-FR" dirty="0"/>
              <a:t> </a:t>
            </a:r>
            <a:r>
              <a:rPr lang="fr-FR" dirty="0" err="1"/>
              <a:t>that</a:t>
            </a:r>
            <a:r>
              <a:rPr lang="fr-FR" dirty="0"/>
              <a:t> radiance </a:t>
            </a:r>
            <a:r>
              <a:rPr lang="fr-FR" dirty="0" err="1"/>
              <a:t>is</a:t>
            </a:r>
            <a:r>
              <a:rPr lang="fr-FR" dirty="0"/>
              <a:t> max for </a:t>
            </a:r>
            <a:r>
              <a:rPr lang="fr-FR" dirty="0" err="1"/>
              <a:t>μ_s</a:t>
            </a:r>
            <a:r>
              <a:rPr lang="fr-FR" dirty="0"/>
              <a:t>=0.04</a:t>
            </a:r>
          </a:p>
        </p:txBody>
      </p:sp>
      <p:pic>
        <p:nvPicPr>
          <p:cNvPr id="6" name="Picture 5">
            <a:extLst>
              <a:ext uri="{FF2B5EF4-FFF2-40B4-BE49-F238E27FC236}">
                <a16:creationId xmlns:a16="http://schemas.microsoft.com/office/drawing/2014/main" id="{EA2BC03D-E525-1A93-BF49-2D8C155D04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1034" y="1412635"/>
            <a:ext cx="2524323" cy="1812192"/>
          </a:xfrm>
          <a:prstGeom prst="rect">
            <a:avLst/>
          </a:prstGeom>
        </p:spPr>
      </p:pic>
      <p:pic>
        <p:nvPicPr>
          <p:cNvPr id="8" name="Picture 7">
            <a:extLst>
              <a:ext uri="{FF2B5EF4-FFF2-40B4-BE49-F238E27FC236}">
                <a16:creationId xmlns:a16="http://schemas.microsoft.com/office/drawing/2014/main" id="{CE48F683-C47A-15F8-E610-B9A1F16B55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523" y="3421712"/>
            <a:ext cx="11176272" cy="3166082"/>
          </a:xfrm>
          <a:prstGeom prst="rect">
            <a:avLst/>
          </a:prstGeom>
        </p:spPr>
      </p:pic>
    </p:spTree>
    <p:extLst>
      <p:ext uri="{BB962C8B-B14F-4D97-AF65-F5344CB8AC3E}">
        <p14:creationId xmlns:p14="http://schemas.microsoft.com/office/powerpoint/2010/main" val="4109487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CBCAE-2606-1CA3-B350-0EAA4D0D65F6}"/>
              </a:ext>
            </a:extLst>
          </p:cNvPr>
          <p:cNvSpPr>
            <a:spLocks noGrp="1"/>
          </p:cNvSpPr>
          <p:nvPr>
            <p:ph type="title"/>
          </p:nvPr>
        </p:nvSpPr>
        <p:spPr/>
        <p:txBody>
          <a:bodyPr/>
          <a:lstStyle/>
          <a:p>
            <a:r>
              <a:rPr lang="en-US" dirty="0"/>
              <a:t>Example Sensitivity measurement</a:t>
            </a:r>
          </a:p>
        </p:txBody>
      </p:sp>
      <p:sp>
        <p:nvSpPr>
          <p:cNvPr id="3" name="Content Placeholder 2">
            <a:extLst>
              <a:ext uri="{FF2B5EF4-FFF2-40B4-BE49-F238E27FC236}">
                <a16:creationId xmlns:a16="http://schemas.microsoft.com/office/drawing/2014/main" id="{CEF000A5-BD01-6ED4-7FB9-0088A5CD5AD3}"/>
              </a:ext>
            </a:extLst>
          </p:cNvPr>
          <p:cNvSpPr txBox="1">
            <a:spLocks/>
          </p:cNvSpPr>
          <p:nvPr/>
        </p:nvSpPr>
        <p:spPr>
          <a:xfrm>
            <a:off x="646111" y="1383683"/>
            <a:ext cx="10982672" cy="1034839"/>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Clr>
                <a:schemeClr val="tx1">
                  <a:lumMod val="95000"/>
                  <a:lumOff val="5000"/>
                </a:schemeClr>
              </a:buClr>
              <a:buNone/>
            </a:pPr>
            <a:r>
              <a:rPr lang="en-US" dirty="0"/>
              <a:t>In order to find the sensitivity of the detector in this setup moving from </a:t>
            </a:r>
            <a:r>
              <a:rPr lang="en-US" dirty="0" err="1"/>
              <a:t>μs</a:t>
            </a:r>
            <a:r>
              <a:rPr lang="en-US" dirty="0"/>
              <a:t> = 0.04 → 0.03 we preform the following operation. </a:t>
            </a:r>
          </a:p>
          <a:p>
            <a:pPr marL="0" indent="0">
              <a:buClr>
                <a:schemeClr val="tx1">
                  <a:lumMod val="95000"/>
                  <a:lumOff val="5000"/>
                </a:schemeClr>
              </a:buClr>
              <a:buNone/>
            </a:pPr>
            <a:endParaRPr lang="en-US" dirty="0"/>
          </a:p>
        </p:txBody>
      </p:sp>
      <p:pic>
        <p:nvPicPr>
          <p:cNvPr id="5" name="Picture 4">
            <a:extLst>
              <a:ext uri="{FF2B5EF4-FFF2-40B4-BE49-F238E27FC236}">
                <a16:creationId xmlns:a16="http://schemas.microsoft.com/office/drawing/2014/main" id="{964FB8BE-02D6-55D1-81E1-8DE2D1B745B5}"/>
              </a:ext>
            </a:extLst>
          </p:cNvPr>
          <p:cNvPicPr>
            <a:picLocks noChangeAspect="1"/>
          </p:cNvPicPr>
          <p:nvPr/>
        </p:nvPicPr>
        <p:blipFill>
          <a:blip r:embed="rId2"/>
          <a:stretch>
            <a:fillRect/>
          </a:stretch>
        </p:blipFill>
        <p:spPr>
          <a:xfrm>
            <a:off x="818620" y="2311274"/>
            <a:ext cx="10554759" cy="412048"/>
          </a:xfrm>
          <a:prstGeom prst="rect">
            <a:avLst/>
          </a:prstGeom>
        </p:spPr>
      </p:pic>
      <p:pic>
        <p:nvPicPr>
          <p:cNvPr id="7" name="Picture 6">
            <a:extLst>
              <a:ext uri="{FF2B5EF4-FFF2-40B4-BE49-F238E27FC236}">
                <a16:creationId xmlns:a16="http://schemas.microsoft.com/office/drawing/2014/main" id="{CF5724A0-4D72-100E-6C57-42516B2EF0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282" y="3122938"/>
            <a:ext cx="11920330" cy="3378330"/>
          </a:xfrm>
          <a:prstGeom prst="rect">
            <a:avLst/>
          </a:prstGeom>
        </p:spPr>
      </p:pic>
    </p:spTree>
    <p:extLst>
      <p:ext uri="{BB962C8B-B14F-4D97-AF65-F5344CB8AC3E}">
        <p14:creationId xmlns:p14="http://schemas.microsoft.com/office/powerpoint/2010/main" val="4068798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BEEB5-0819-0E2C-1E58-03A8961218CE}"/>
              </a:ext>
            </a:extLst>
          </p:cNvPr>
          <p:cNvSpPr>
            <a:spLocks noGrp="1"/>
          </p:cNvSpPr>
          <p:nvPr>
            <p:ph type="title"/>
          </p:nvPr>
        </p:nvSpPr>
        <p:spPr/>
        <p:txBody>
          <a:bodyPr/>
          <a:lstStyle/>
          <a:p>
            <a:r>
              <a:rPr lang="en-US" dirty="0"/>
              <a:t>Example Sensitivity Measurement</a:t>
            </a:r>
          </a:p>
        </p:txBody>
      </p:sp>
      <p:sp>
        <p:nvSpPr>
          <p:cNvPr id="3" name="Content Placeholder 2">
            <a:extLst>
              <a:ext uri="{FF2B5EF4-FFF2-40B4-BE49-F238E27FC236}">
                <a16:creationId xmlns:a16="http://schemas.microsoft.com/office/drawing/2014/main" id="{4B9A5014-0404-A594-CDA5-FA63F3DE41EE}"/>
              </a:ext>
            </a:extLst>
          </p:cNvPr>
          <p:cNvSpPr>
            <a:spLocks noGrp="1"/>
          </p:cNvSpPr>
          <p:nvPr>
            <p:ph idx="1"/>
          </p:nvPr>
        </p:nvSpPr>
        <p:spPr>
          <a:xfrm>
            <a:off x="712372" y="1304171"/>
            <a:ext cx="10406202" cy="809552"/>
          </a:xfrm>
        </p:spPr>
        <p:txBody>
          <a:bodyPr>
            <a:normAutofit fontScale="85000" lnSpcReduction="10000"/>
          </a:bodyPr>
          <a:lstStyle/>
          <a:p>
            <a:pPr marL="0" indent="0">
              <a:buNone/>
            </a:pPr>
            <a:r>
              <a:rPr lang="en-US" dirty="0"/>
              <a:t>Measuring the escaped photon weight at along the same x value for other </a:t>
            </a:r>
            <a:r>
              <a:rPr lang="en-US" dirty="0" err="1"/>
              <a:t>μs</a:t>
            </a:r>
            <a:r>
              <a:rPr lang="en-US" dirty="0"/>
              <a:t> values and plotting it we reveal figure the figure below. While photon weight seems to show a sublinear trend, the sensitivity trend seems to linear with some blips potentially due to noise.</a:t>
            </a:r>
          </a:p>
        </p:txBody>
      </p:sp>
      <p:pic>
        <p:nvPicPr>
          <p:cNvPr id="5" name="Picture 4">
            <a:extLst>
              <a:ext uri="{FF2B5EF4-FFF2-40B4-BE49-F238E27FC236}">
                <a16:creationId xmlns:a16="http://schemas.microsoft.com/office/drawing/2014/main" id="{41A9DD66-EC69-D841-0C3A-FB01BCB81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411" y="2838312"/>
            <a:ext cx="4583128" cy="2715517"/>
          </a:xfrm>
          <a:prstGeom prst="rect">
            <a:avLst/>
          </a:prstGeom>
        </p:spPr>
      </p:pic>
      <p:pic>
        <p:nvPicPr>
          <p:cNvPr id="7" name="Picture 6">
            <a:extLst>
              <a:ext uri="{FF2B5EF4-FFF2-40B4-BE49-F238E27FC236}">
                <a16:creationId xmlns:a16="http://schemas.microsoft.com/office/drawing/2014/main" id="{EB5ACD6A-42B7-B716-5239-7A42A50582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5513" y="2894155"/>
            <a:ext cx="4580357" cy="2751539"/>
          </a:xfrm>
          <a:prstGeom prst="rect">
            <a:avLst/>
          </a:prstGeom>
        </p:spPr>
      </p:pic>
    </p:spTree>
    <p:extLst>
      <p:ext uri="{BB962C8B-B14F-4D97-AF65-F5344CB8AC3E}">
        <p14:creationId xmlns:p14="http://schemas.microsoft.com/office/powerpoint/2010/main" val="693893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DF8F939-A652-E558-69D1-C62DD28FC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E5940-C008-0EF5-1E8D-CB7D4A15BE36}"/>
              </a:ext>
            </a:extLst>
          </p:cNvPr>
          <p:cNvSpPr>
            <a:spLocks noGrp="1"/>
          </p:cNvSpPr>
          <p:nvPr>
            <p:ph type="title"/>
          </p:nvPr>
        </p:nvSpPr>
        <p:spPr>
          <a:xfrm>
            <a:off x="646111" y="452718"/>
            <a:ext cx="9438793" cy="2012186"/>
          </a:xfrm>
        </p:spPr>
        <p:txBody>
          <a:bodyPr/>
          <a:lstStyle/>
          <a:p>
            <a:r>
              <a:rPr lang="en-US" dirty="0"/>
              <a:t>Moving beyond the example case: </a:t>
            </a:r>
            <a:r>
              <a:rPr lang="en-US" b="1" dirty="0"/>
              <a:t>Relationship between detector height, z, and detector sensitivity</a:t>
            </a:r>
          </a:p>
        </p:txBody>
      </p:sp>
      <p:pic>
        <p:nvPicPr>
          <p:cNvPr id="5" name="Picture 4">
            <a:extLst>
              <a:ext uri="{FF2B5EF4-FFF2-40B4-BE49-F238E27FC236}">
                <a16:creationId xmlns:a16="http://schemas.microsoft.com/office/drawing/2014/main" id="{B36852CA-6DB8-7E11-1989-E06ACCE20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896" y="3429000"/>
            <a:ext cx="11940208" cy="3383964"/>
          </a:xfrm>
          <a:prstGeom prst="rect">
            <a:avLst/>
          </a:prstGeom>
        </p:spPr>
      </p:pic>
      <p:sp>
        <p:nvSpPr>
          <p:cNvPr id="8" name="TextBox 7">
            <a:extLst>
              <a:ext uri="{FF2B5EF4-FFF2-40B4-BE49-F238E27FC236}">
                <a16:creationId xmlns:a16="http://schemas.microsoft.com/office/drawing/2014/main" id="{102FBB96-4CAE-64B3-7A35-F2EB12F64D54}"/>
              </a:ext>
            </a:extLst>
          </p:cNvPr>
          <p:cNvSpPr txBox="1"/>
          <p:nvPr/>
        </p:nvSpPr>
        <p:spPr>
          <a:xfrm>
            <a:off x="503584" y="2696817"/>
            <a:ext cx="10807148" cy="923330"/>
          </a:xfrm>
          <a:prstGeom prst="rect">
            <a:avLst/>
          </a:prstGeom>
          <a:noFill/>
        </p:spPr>
        <p:txBody>
          <a:bodyPr wrap="square" rtlCol="0">
            <a:spAutoFit/>
          </a:bodyPr>
          <a:lstStyle/>
          <a:p>
            <a:r>
              <a:rPr lang="en-US" dirty="0"/>
              <a:t>For smaller z we see that there is more distance between the distributions at a given x around the peaks. As such, we conclude that smaller z allows for higher sensitivity. The next slide also considers the relative distance of the graphs to their absolute amplitude.</a:t>
            </a:r>
          </a:p>
        </p:txBody>
      </p:sp>
    </p:spTree>
    <p:extLst>
      <p:ext uri="{BB962C8B-B14F-4D97-AF65-F5344CB8AC3E}">
        <p14:creationId xmlns:p14="http://schemas.microsoft.com/office/powerpoint/2010/main" val="4400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32B00-8835-D06D-6918-83C8CD2A95C7}"/>
              </a:ext>
            </a:extLst>
          </p:cNvPr>
          <p:cNvSpPr>
            <a:spLocks noGrp="1"/>
          </p:cNvSpPr>
          <p:nvPr>
            <p:ph type="title"/>
          </p:nvPr>
        </p:nvSpPr>
        <p:spPr>
          <a:xfrm>
            <a:off x="646111" y="452718"/>
            <a:ext cx="9438793" cy="2012186"/>
          </a:xfrm>
        </p:spPr>
        <p:txBody>
          <a:bodyPr/>
          <a:lstStyle/>
          <a:p>
            <a:r>
              <a:rPr lang="en-US" dirty="0"/>
              <a:t>Moving beyond the example case: </a:t>
            </a:r>
            <a:r>
              <a:rPr lang="en-US" b="1" dirty="0"/>
              <a:t>Relationship between detector height, z, and detector sensitivity</a:t>
            </a:r>
          </a:p>
        </p:txBody>
      </p:sp>
      <p:pic>
        <p:nvPicPr>
          <p:cNvPr id="4" name="Picture 3">
            <a:extLst>
              <a:ext uri="{FF2B5EF4-FFF2-40B4-BE49-F238E27FC236}">
                <a16:creationId xmlns:a16="http://schemas.microsoft.com/office/drawing/2014/main" id="{6A249995-E603-0DE6-5B71-CD027F562B6D}"/>
              </a:ext>
            </a:extLst>
          </p:cNvPr>
          <p:cNvPicPr>
            <a:picLocks noChangeAspect="1"/>
          </p:cNvPicPr>
          <p:nvPr/>
        </p:nvPicPr>
        <p:blipFill>
          <a:blip r:embed="rId2"/>
          <a:stretch>
            <a:fillRect/>
          </a:stretch>
        </p:blipFill>
        <p:spPr>
          <a:xfrm>
            <a:off x="1045353" y="3991465"/>
            <a:ext cx="9302122" cy="1691295"/>
          </a:xfrm>
          <a:prstGeom prst="rect">
            <a:avLst/>
          </a:prstGeom>
        </p:spPr>
      </p:pic>
      <p:sp>
        <p:nvSpPr>
          <p:cNvPr id="6" name="TextBox 5">
            <a:extLst>
              <a:ext uri="{FF2B5EF4-FFF2-40B4-BE49-F238E27FC236}">
                <a16:creationId xmlns:a16="http://schemas.microsoft.com/office/drawing/2014/main" id="{44AE5605-DCCB-D75E-CA08-C1A3CDAD1684}"/>
              </a:ext>
            </a:extLst>
          </p:cNvPr>
          <p:cNvSpPr txBox="1"/>
          <p:nvPr/>
        </p:nvSpPr>
        <p:spPr>
          <a:xfrm>
            <a:off x="503584" y="2935356"/>
            <a:ext cx="10807148" cy="646331"/>
          </a:xfrm>
          <a:prstGeom prst="rect">
            <a:avLst/>
          </a:prstGeom>
          <a:noFill/>
        </p:spPr>
        <p:txBody>
          <a:bodyPr wrap="square" rtlCol="0">
            <a:spAutoFit/>
          </a:bodyPr>
          <a:lstStyle/>
          <a:p>
            <a:r>
              <a:rPr lang="en-US" dirty="0"/>
              <a:t>After a lot of math found in the report we get the result that smaller detector distance from the source </a:t>
            </a:r>
            <a:r>
              <a:rPr lang="en-US" dirty="0" err="1"/>
              <a:t>sureley</a:t>
            </a:r>
            <a:r>
              <a:rPr lang="en-US" dirty="0"/>
              <a:t> yields higher sensitivity even when considering the relative sensitivity.</a:t>
            </a:r>
          </a:p>
        </p:txBody>
      </p:sp>
    </p:spTree>
    <p:extLst>
      <p:ext uri="{BB962C8B-B14F-4D97-AF65-F5344CB8AC3E}">
        <p14:creationId xmlns:p14="http://schemas.microsoft.com/office/powerpoint/2010/main" val="703496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2C374-2C1A-7D05-7300-36EE0A24340C}"/>
              </a:ext>
            </a:extLst>
          </p:cNvPr>
          <p:cNvSpPr>
            <a:spLocks noGrp="1"/>
          </p:cNvSpPr>
          <p:nvPr>
            <p:ph type="title"/>
          </p:nvPr>
        </p:nvSpPr>
        <p:spPr/>
        <p:txBody>
          <a:bodyPr/>
          <a:lstStyle/>
          <a:p>
            <a:r>
              <a:rPr lang="en-US"/>
              <a:t>Conclusion</a:t>
            </a:r>
            <a:endParaRPr lang="en-US" dirty="0"/>
          </a:p>
        </p:txBody>
      </p:sp>
      <p:sp>
        <p:nvSpPr>
          <p:cNvPr id="5" name="Content Placeholder 4">
            <a:extLst>
              <a:ext uri="{FF2B5EF4-FFF2-40B4-BE49-F238E27FC236}">
                <a16:creationId xmlns:a16="http://schemas.microsoft.com/office/drawing/2014/main" id="{EA1FFC24-A038-D590-278E-973D07D07425}"/>
              </a:ext>
            </a:extLst>
          </p:cNvPr>
          <p:cNvSpPr>
            <a:spLocks noGrp="1"/>
          </p:cNvSpPr>
          <p:nvPr>
            <p:ph idx="1"/>
          </p:nvPr>
        </p:nvSpPr>
        <p:spPr>
          <a:xfrm>
            <a:off x="646111" y="1542709"/>
            <a:ext cx="8946541" cy="2128143"/>
          </a:xfrm>
        </p:spPr>
        <p:txBody>
          <a:bodyPr/>
          <a:lstStyle/>
          <a:p>
            <a:pPr marL="0" indent="0">
              <a:buNone/>
            </a:pPr>
            <a:r>
              <a:rPr lang="en-US"/>
              <a:t>For a classical turbidity meter device, proximity of the positioning of the off the beam detector increases the received radiance as expected. The proximity also increases sensitivity to change in μs or turbidity. The following graph tells you the best x position for a given z, and IOPs. Different IOPs and z values may be explored in the following link with an interactive plotter: </a:t>
            </a:r>
            <a:r>
              <a:rPr lang="en-US">
                <a:hlinkClick r:id="rId2"/>
              </a:rPr>
              <a:t>https://kaanvolkan05.github.io/TurbidWater</a:t>
            </a:r>
            <a:r>
              <a:rPr lang="en-US"/>
              <a:t>.</a:t>
            </a:r>
          </a:p>
          <a:p>
            <a:pPr marL="0" indent="0">
              <a:buNone/>
            </a:pPr>
            <a:endParaRPr lang="en-US" dirty="0"/>
          </a:p>
        </p:txBody>
      </p:sp>
      <p:pic>
        <p:nvPicPr>
          <p:cNvPr id="7" name="Picture 6">
            <a:extLst>
              <a:ext uri="{FF2B5EF4-FFF2-40B4-BE49-F238E27FC236}">
                <a16:creationId xmlns:a16="http://schemas.microsoft.com/office/drawing/2014/main" id="{39FA0EB9-18A7-54D8-0D47-411BF75D6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95" y="3560012"/>
            <a:ext cx="11196980" cy="3171949"/>
          </a:xfrm>
          <a:prstGeom prst="rect">
            <a:avLst/>
          </a:prstGeom>
        </p:spPr>
      </p:pic>
    </p:spTree>
    <p:extLst>
      <p:ext uri="{BB962C8B-B14F-4D97-AF65-F5344CB8AC3E}">
        <p14:creationId xmlns:p14="http://schemas.microsoft.com/office/powerpoint/2010/main" val="1988703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81358E3-797E-8794-1A17-1B25C0D81940}"/>
              </a:ext>
            </a:extLst>
          </p:cNvPr>
          <p:cNvSpPr/>
          <p:nvPr/>
        </p:nvSpPr>
        <p:spPr>
          <a:xfrm>
            <a:off x="140467" y="1568026"/>
            <a:ext cx="11788296" cy="2585323"/>
          </a:xfrm>
          <a:prstGeom prst="rect">
            <a:avLst/>
          </a:prstGeom>
          <a:noFill/>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Beyond this slide are previous presentation slides and various figures used </a:t>
            </a:r>
          </a:p>
        </p:txBody>
      </p:sp>
    </p:spTree>
    <p:extLst>
      <p:ext uri="{BB962C8B-B14F-4D97-AF65-F5344CB8AC3E}">
        <p14:creationId xmlns:p14="http://schemas.microsoft.com/office/powerpoint/2010/main" val="3570756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39C5-AFF9-28FC-827A-F1560CB40D0B}"/>
              </a:ext>
            </a:extLst>
          </p:cNvPr>
          <p:cNvSpPr>
            <a:spLocks noGrp="1"/>
          </p:cNvSpPr>
          <p:nvPr>
            <p:ph type="title"/>
          </p:nvPr>
        </p:nvSpPr>
        <p:spPr/>
        <p:txBody>
          <a:bodyPr/>
          <a:lstStyle/>
          <a:p>
            <a:r>
              <a:rPr lang="en-US" dirty="0"/>
              <a:t>How to position the detector</a:t>
            </a:r>
          </a:p>
        </p:txBody>
      </p:sp>
      <p:sp>
        <p:nvSpPr>
          <p:cNvPr id="4" name="Rectangle 3">
            <a:extLst>
              <a:ext uri="{FF2B5EF4-FFF2-40B4-BE49-F238E27FC236}">
                <a16:creationId xmlns:a16="http://schemas.microsoft.com/office/drawing/2014/main" id="{920D837F-7EEA-A02A-EC02-A689275C1259}"/>
              </a:ext>
            </a:extLst>
          </p:cNvPr>
          <p:cNvSpPr/>
          <p:nvPr/>
        </p:nvSpPr>
        <p:spPr>
          <a:xfrm>
            <a:off x="857250" y="1632868"/>
            <a:ext cx="9387300" cy="47724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8357371F-D703-390E-57D7-A6C993CD4873}"/>
              </a:ext>
            </a:extLst>
          </p:cNvPr>
          <p:cNvSpPr/>
          <p:nvPr/>
        </p:nvSpPr>
        <p:spPr>
          <a:xfrm>
            <a:off x="4761210" y="2435043"/>
            <a:ext cx="622854" cy="978771"/>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37926DA6-EC6A-C1C3-6A52-A10B664700DD}"/>
              </a:ext>
            </a:extLst>
          </p:cNvPr>
          <p:cNvSpPr/>
          <p:nvPr/>
        </p:nvSpPr>
        <p:spPr>
          <a:xfrm rot="5400000">
            <a:off x="7663514" y="4342532"/>
            <a:ext cx="622854" cy="978771"/>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Arrow: Bent 9">
            <a:extLst>
              <a:ext uri="{FF2B5EF4-FFF2-40B4-BE49-F238E27FC236}">
                <a16:creationId xmlns:a16="http://schemas.microsoft.com/office/drawing/2014/main" id="{8B24B822-72D7-7AE8-C1D4-ED3A56739433}"/>
              </a:ext>
            </a:extLst>
          </p:cNvPr>
          <p:cNvSpPr/>
          <p:nvPr/>
        </p:nvSpPr>
        <p:spPr>
          <a:xfrm rot="16200000" flipV="1">
            <a:off x="4074582" y="3682898"/>
            <a:ext cx="1266779" cy="1352182"/>
          </a:xfrm>
          <a:prstGeom prst="bentArrow">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pic>
        <p:nvPicPr>
          <p:cNvPr id="12" name="Graphic 11" descr="Flashlight with solid fill">
            <a:extLst>
              <a:ext uri="{FF2B5EF4-FFF2-40B4-BE49-F238E27FC236}">
                <a16:creationId xmlns:a16="http://schemas.microsoft.com/office/drawing/2014/main" id="{EE1A2B42-F947-767A-F784-4552B3D24DD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700000">
            <a:off x="2306699" y="3923426"/>
            <a:ext cx="1816986" cy="1816986"/>
          </a:xfrm>
          <a:prstGeom prst="rect">
            <a:avLst/>
          </a:prstGeom>
        </p:spPr>
      </p:pic>
      <p:sp>
        <p:nvSpPr>
          <p:cNvPr id="14" name="Arrow: Right 13">
            <a:extLst>
              <a:ext uri="{FF2B5EF4-FFF2-40B4-BE49-F238E27FC236}">
                <a16:creationId xmlns:a16="http://schemas.microsoft.com/office/drawing/2014/main" id="{162AD440-ED7F-83BD-0FEF-65DF1A330631}"/>
              </a:ext>
            </a:extLst>
          </p:cNvPr>
          <p:cNvSpPr/>
          <p:nvPr/>
        </p:nvSpPr>
        <p:spPr>
          <a:xfrm>
            <a:off x="4031872" y="4520490"/>
            <a:ext cx="3198510" cy="622854"/>
          </a:xfrm>
          <a:prstGeom prst="rightArrow">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 name="Trapezoid 15">
            <a:extLst>
              <a:ext uri="{FF2B5EF4-FFF2-40B4-BE49-F238E27FC236}">
                <a16:creationId xmlns:a16="http://schemas.microsoft.com/office/drawing/2014/main" id="{EB9C6181-4A80-4DA3-A422-A9D1943FD598}"/>
              </a:ext>
            </a:extLst>
          </p:cNvPr>
          <p:cNvSpPr/>
          <p:nvPr/>
        </p:nvSpPr>
        <p:spPr>
          <a:xfrm>
            <a:off x="4571972" y="3348726"/>
            <a:ext cx="978771" cy="367852"/>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8" name="Trapezoid 17">
            <a:extLst>
              <a:ext uri="{FF2B5EF4-FFF2-40B4-BE49-F238E27FC236}">
                <a16:creationId xmlns:a16="http://schemas.microsoft.com/office/drawing/2014/main" id="{4DF78D7E-925A-ACB4-579E-40446ED67580}"/>
              </a:ext>
            </a:extLst>
          </p:cNvPr>
          <p:cNvSpPr/>
          <p:nvPr/>
        </p:nvSpPr>
        <p:spPr>
          <a:xfrm rot="5400000">
            <a:off x="6859829" y="4647993"/>
            <a:ext cx="978771" cy="367852"/>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07266F2-9B94-FF48-BC3C-CE2653500E8A}"/>
              </a:ext>
            </a:extLst>
          </p:cNvPr>
          <p:cNvSpPr txBox="1"/>
          <p:nvPr/>
        </p:nvSpPr>
        <p:spPr>
          <a:xfrm flipH="1">
            <a:off x="6289893" y="3873584"/>
            <a:ext cx="3370092" cy="430887"/>
          </a:xfrm>
          <a:prstGeom prst="rect">
            <a:avLst/>
          </a:prstGeom>
          <a:noFill/>
        </p:spPr>
        <p:txBody>
          <a:bodyPr wrap="square" rtlCol="0">
            <a:spAutoFit/>
          </a:bodyPr>
          <a:lstStyle/>
          <a:p>
            <a:r>
              <a:rPr lang="en-US" sz="2200" dirty="0"/>
              <a:t>Beam Line Detector</a:t>
            </a:r>
          </a:p>
        </p:txBody>
      </p:sp>
      <p:sp>
        <p:nvSpPr>
          <p:cNvPr id="22" name="TextBox 21">
            <a:extLst>
              <a:ext uri="{FF2B5EF4-FFF2-40B4-BE49-F238E27FC236}">
                <a16:creationId xmlns:a16="http://schemas.microsoft.com/office/drawing/2014/main" id="{C453A81E-2DEC-62BD-4F67-D5D315EA4017}"/>
              </a:ext>
            </a:extLst>
          </p:cNvPr>
          <p:cNvSpPr txBox="1"/>
          <p:nvPr/>
        </p:nvSpPr>
        <p:spPr>
          <a:xfrm flipH="1">
            <a:off x="3387593" y="2022646"/>
            <a:ext cx="4145549" cy="430887"/>
          </a:xfrm>
          <a:prstGeom prst="rect">
            <a:avLst/>
          </a:prstGeom>
          <a:noFill/>
        </p:spPr>
        <p:txBody>
          <a:bodyPr wrap="square" rtlCol="0">
            <a:spAutoFit/>
          </a:bodyPr>
          <a:lstStyle/>
          <a:p>
            <a:r>
              <a:rPr lang="en-US" sz="2200" dirty="0"/>
              <a:t>Off the beam line Detector</a:t>
            </a:r>
          </a:p>
        </p:txBody>
      </p:sp>
      <p:sp>
        <p:nvSpPr>
          <p:cNvPr id="24" name="TextBox 23">
            <a:extLst>
              <a:ext uri="{FF2B5EF4-FFF2-40B4-BE49-F238E27FC236}">
                <a16:creationId xmlns:a16="http://schemas.microsoft.com/office/drawing/2014/main" id="{0712B111-6893-ED07-078A-69AA22A4F8E2}"/>
              </a:ext>
            </a:extLst>
          </p:cNvPr>
          <p:cNvSpPr txBox="1"/>
          <p:nvPr/>
        </p:nvSpPr>
        <p:spPr>
          <a:xfrm flipH="1">
            <a:off x="2024695" y="4019075"/>
            <a:ext cx="2243942" cy="430887"/>
          </a:xfrm>
          <a:prstGeom prst="rect">
            <a:avLst/>
          </a:prstGeom>
          <a:noFill/>
        </p:spPr>
        <p:txBody>
          <a:bodyPr wrap="square" rtlCol="0">
            <a:spAutoFit/>
          </a:bodyPr>
          <a:lstStyle/>
          <a:p>
            <a:r>
              <a:rPr lang="en-US" sz="2200" dirty="0"/>
              <a:t>Light Source</a:t>
            </a:r>
          </a:p>
        </p:txBody>
      </p:sp>
    </p:spTree>
    <p:extLst>
      <p:ext uri="{BB962C8B-B14F-4D97-AF65-F5344CB8AC3E}">
        <p14:creationId xmlns:p14="http://schemas.microsoft.com/office/powerpoint/2010/main" val="2889808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843A8-74B2-78E6-FCA9-17B2EACE42AA}"/>
              </a:ext>
            </a:extLst>
          </p:cNvPr>
          <p:cNvSpPr>
            <a:spLocks noGrp="1"/>
          </p:cNvSpPr>
          <p:nvPr>
            <p:ph type="title"/>
          </p:nvPr>
        </p:nvSpPr>
        <p:spPr/>
        <p:txBody>
          <a:bodyPr/>
          <a:lstStyle/>
          <a:p>
            <a:r>
              <a:rPr lang="en-US" dirty="0"/>
              <a:t>Simulation Innerworkings</a:t>
            </a:r>
          </a:p>
        </p:txBody>
      </p:sp>
      <p:sp>
        <p:nvSpPr>
          <p:cNvPr id="3" name="Content Placeholder 2">
            <a:extLst>
              <a:ext uri="{FF2B5EF4-FFF2-40B4-BE49-F238E27FC236}">
                <a16:creationId xmlns:a16="http://schemas.microsoft.com/office/drawing/2014/main" id="{1013BAC1-1CF2-92D1-B9E7-C497CD6672E4}"/>
              </a:ext>
            </a:extLst>
          </p:cNvPr>
          <p:cNvSpPr>
            <a:spLocks noGrp="1"/>
          </p:cNvSpPr>
          <p:nvPr>
            <p:ph idx="1"/>
          </p:nvPr>
        </p:nvSpPr>
        <p:spPr/>
        <p:txBody>
          <a:bodyPr>
            <a:normAutofit fontScale="85000" lnSpcReduction="10000"/>
          </a:bodyPr>
          <a:lstStyle/>
          <a:p>
            <a:pPr marL="457200" indent="-457200">
              <a:buFont typeface="+mj-lt"/>
              <a:buAutoNum type="arabicPeriod"/>
            </a:pPr>
            <a:r>
              <a:rPr lang="en-US" dirty="0"/>
              <a:t>Photon launches with a packet weight 1 and direction v</a:t>
            </a:r>
          </a:p>
          <a:p>
            <a:pPr marL="457200" indent="-457200">
              <a:buFont typeface="+mj-lt"/>
              <a:buAutoNum type="arabicPeriod"/>
            </a:pPr>
            <a:r>
              <a:rPr lang="en-US" dirty="0"/>
              <a:t>Based on an exponential distribution based on the scattering coefficient (</a:t>
            </a:r>
            <a:r>
              <a:rPr lang="el-GR" dirty="0">
                <a:latin typeface="Cambria Math" panose="02040503050406030204" pitchFamily="18" charset="0"/>
                <a:ea typeface="Cambria Math" panose="02040503050406030204" pitchFamily="18" charset="0"/>
              </a:rPr>
              <a:t>μ</a:t>
            </a:r>
            <a:r>
              <a:rPr lang="en-US" baseline="-25000" dirty="0">
                <a:latin typeface="Cambria Math" panose="02040503050406030204" pitchFamily="18" charset="0"/>
                <a:ea typeface="Cambria Math" panose="02040503050406030204" pitchFamily="18" charset="0"/>
              </a:rPr>
              <a:t>s</a:t>
            </a:r>
            <a:r>
              <a:rPr lang="en-US" dirty="0">
                <a:latin typeface="Cambria Math" panose="02040503050406030204" pitchFamily="18" charset="0"/>
                <a:ea typeface="Cambria Math" panose="02040503050406030204" pitchFamily="18" charset="0"/>
              </a:rPr>
              <a:t>) of the current voxel, it  decides how many voxels to travel in v direction.</a:t>
            </a:r>
          </a:p>
          <a:p>
            <a:pPr marL="457200" indent="-457200">
              <a:buFont typeface="+mj-lt"/>
              <a:buAutoNum type="arabicPeriod"/>
            </a:pPr>
            <a:r>
              <a:rPr lang="en-US" dirty="0">
                <a:latin typeface="Cambria Math" panose="02040503050406030204" pitchFamily="18" charset="0"/>
                <a:ea typeface="Cambria Math" panose="02040503050406030204" pitchFamily="18" charset="0"/>
              </a:rPr>
              <a:t>Steps 1 voxel in v direction and looses packet weight based on the absorption coefficient </a:t>
            </a:r>
            <a:r>
              <a:rPr lang="en-US" dirty="0"/>
              <a:t>(</a:t>
            </a:r>
            <a:r>
              <a:rPr lang="el-GR" dirty="0">
                <a:latin typeface="Cambria Math" panose="02040503050406030204" pitchFamily="18" charset="0"/>
                <a:ea typeface="Cambria Math" panose="02040503050406030204" pitchFamily="18" charset="0"/>
              </a:rPr>
              <a:t>μ</a:t>
            </a:r>
            <a:r>
              <a:rPr lang="en-US" baseline="-25000" dirty="0">
                <a:latin typeface="Cambria Math" panose="02040503050406030204" pitchFamily="18" charset="0"/>
                <a:ea typeface="Cambria Math" panose="02040503050406030204" pitchFamily="18" charset="0"/>
              </a:rPr>
              <a:t>a</a:t>
            </a:r>
            <a:r>
              <a:rPr lang="en-US" dirty="0">
                <a:latin typeface="Cambria Math" panose="02040503050406030204" pitchFamily="18" charset="0"/>
                <a:ea typeface="Cambria Math" panose="02040503050406030204" pitchFamily="18" charset="0"/>
              </a:rPr>
              <a:t>) </a:t>
            </a:r>
          </a:p>
          <a:p>
            <a:pPr marL="457200" indent="-457200">
              <a:buFont typeface="+mj-lt"/>
              <a:buAutoNum type="arabicPeriod"/>
            </a:pPr>
            <a:r>
              <a:rPr lang="en-US" dirty="0">
                <a:latin typeface="Cambria Math" panose="02040503050406030204" pitchFamily="18" charset="0"/>
                <a:ea typeface="Cambria Math" panose="02040503050406030204" pitchFamily="18" charset="0"/>
              </a:rPr>
              <a:t>The packet weight is added to its current voxel’s raw probability,</a:t>
            </a:r>
          </a:p>
          <a:p>
            <a:pPr marL="457200" indent="-457200">
              <a:buFont typeface="+mj-lt"/>
              <a:buAutoNum type="arabicPeriod"/>
            </a:pPr>
            <a:r>
              <a:rPr lang="en-US" dirty="0">
                <a:latin typeface="Cambria Math" panose="02040503050406030204" pitchFamily="18" charset="0"/>
                <a:ea typeface="Cambria Math" panose="02040503050406030204" pitchFamily="18" charset="0"/>
              </a:rPr>
              <a:t>The previous 2 steps are repeated until the package reaches the next scattering voxel decided in the second step</a:t>
            </a:r>
          </a:p>
          <a:p>
            <a:pPr marL="457200" indent="-457200">
              <a:buFont typeface="+mj-lt"/>
              <a:buAutoNum type="arabicPeriod"/>
            </a:pPr>
            <a:r>
              <a:rPr lang="en-US" dirty="0">
                <a:latin typeface="Cambria Math" panose="02040503050406030204" pitchFamily="18" charset="0"/>
                <a:ea typeface="Cambria Math" panose="02040503050406030204" pitchFamily="18" charset="0"/>
              </a:rPr>
              <a:t>Calculate a new scattering direction vector: the azimuth and zenith scattering angles are computed, respectively, by a random number uniformly distributed in [0,2pi] and a random number between [0,pi) following an assigned phase function.</a:t>
            </a:r>
          </a:p>
          <a:p>
            <a:pPr marL="457200" indent="-457200">
              <a:buFont typeface="+mj-lt"/>
              <a:buAutoNum type="arabicPeriod"/>
            </a:pPr>
            <a:r>
              <a:rPr lang="en-US" dirty="0">
                <a:latin typeface="Cambria Math" panose="02040503050406030204" pitchFamily="18" charset="0"/>
                <a:ea typeface="Cambria Math" panose="02040503050406030204" pitchFamily="18" charset="0"/>
              </a:rPr>
              <a:t>Repeat from step 2 until the max time is reached or the photon exits the domain</a:t>
            </a:r>
          </a:p>
          <a:p>
            <a:pPr marL="457200" indent="-457200">
              <a:buFont typeface="+mj-lt"/>
              <a:buAutoNum type="arabicPeriod"/>
            </a:pPr>
            <a:r>
              <a:rPr lang="en-US" dirty="0">
                <a:latin typeface="Cambria Math" panose="02040503050406030204" pitchFamily="18" charset="0"/>
                <a:ea typeface="Cambria Math" panose="02040503050406030204" pitchFamily="18" charset="0"/>
              </a:rPr>
              <a:t>Repeat all steps for next photon</a:t>
            </a:r>
          </a:p>
          <a:p>
            <a:endParaRPr lang="en-US" dirty="0"/>
          </a:p>
        </p:txBody>
      </p:sp>
    </p:spTree>
    <p:extLst>
      <p:ext uri="{BB962C8B-B14F-4D97-AF65-F5344CB8AC3E}">
        <p14:creationId xmlns:p14="http://schemas.microsoft.com/office/powerpoint/2010/main" val="309444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E5E6297A-D824-851D-1682-E7DB224153CD}"/>
              </a:ext>
            </a:extLst>
          </p:cNvPr>
          <p:cNvSpPr/>
          <p:nvPr/>
        </p:nvSpPr>
        <p:spPr>
          <a:xfrm>
            <a:off x="53009" y="1358348"/>
            <a:ext cx="11940208" cy="4671391"/>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2A58B961-E562-FC88-8A0E-3FC06955C401}"/>
              </a:ext>
            </a:extLst>
          </p:cNvPr>
          <p:cNvSpPr/>
          <p:nvPr/>
        </p:nvSpPr>
        <p:spPr>
          <a:xfrm>
            <a:off x="114504" y="1842052"/>
            <a:ext cx="1881809" cy="11529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Photon Launches with weight 1 in v </a:t>
            </a:r>
            <a:r>
              <a:rPr lang="en-US" dirty="0" err="1"/>
              <a:t>dir</a:t>
            </a:r>
            <a:endParaRPr lang="en-US" dirty="0"/>
          </a:p>
        </p:txBody>
      </p:sp>
      <p:sp>
        <p:nvSpPr>
          <p:cNvPr id="8" name="Rectangle: Rounded Corners 7">
            <a:extLst>
              <a:ext uri="{FF2B5EF4-FFF2-40B4-BE49-F238E27FC236}">
                <a16:creationId xmlns:a16="http://schemas.microsoft.com/office/drawing/2014/main" id="{1FA17908-4E4A-2C7B-8F3E-38AE0389FF97}"/>
              </a:ext>
            </a:extLst>
          </p:cNvPr>
          <p:cNvSpPr/>
          <p:nvPr/>
        </p:nvSpPr>
        <p:spPr>
          <a:xfrm>
            <a:off x="3730895" y="2803461"/>
            <a:ext cx="1129340" cy="115294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pic>
        <p:nvPicPr>
          <p:cNvPr id="10" name="Picture 9">
            <a:extLst>
              <a:ext uri="{FF2B5EF4-FFF2-40B4-BE49-F238E27FC236}">
                <a16:creationId xmlns:a16="http://schemas.microsoft.com/office/drawing/2014/main" id="{9E99E545-9608-7184-1081-9E7EC5F60C86}"/>
              </a:ext>
            </a:extLst>
          </p:cNvPr>
          <p:cNvPicPr>
            <a:picLocks noChangeAspect="1"/>
          </p:cNvPicPr>
          <p:nvPr/>
        </p:nvPicPr>
        <p:blipFill>
          <a:blip r:embed="rId2"/>
          <a:stretch>
            <a:fillRect/>
          </a:stretch>
        </p:blipFill>
        <p:spPr>
          <a:xfrm>
            <a:off x="2110816" y="2746514"/>
            <a:ext cx="1543061" cy="1266834"/>
          </a:xfrm>
          <a:prstGeom prst="rect">
            <a:avLst/>
          </a:prstGeom>
        </p:spPr>
      </p:pic>
      <p:sp>
        <p:nvSpPr>
          <p:cNvPr id="11" name="Arrow: Right 10">
            <a:extLst>
              <a:ext uri="{FF2B5EF4-FFF2-40B4-BE49-F238E27FC236}">
                <a16:creationId xmlns:a16="http://schemas.microsoft.com/office/drawing/2014/main" id="{519AE099-0597-5E63-4686-68D2FB27CCD5}"/>
              </a:ext>
            </a:extLst>
          </p:cNvPr>
          <p:cNvSpPr/>
          <p:nvPr/>
        </p:nvSpPr>
        <p:spPr>
          <a:xfrm>
            <a:off x="2110816" y="1842052"/>
            <a:ext cx="6096006" cy="1152940"/>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Based on </a:t>
            </a:r>
            <a:r>
              <a:rPr lang="el-GR" dirty="0">
                <a:latin typeface="Cambria Math" panose="02040503050406030204" pitchFamily="18" charset="0"/>
                <a:ea typeface="Cambria Math" panose="02040503050406030204" pitchFamily="18" charset="0"/>
              </a:rPr>
              <a:t>μ</a:t>
            </a:r>
            <a:r>
              <a:rPr lang="en-US" baseline="-25000" dirty="0">
                <a:latin typeface="Cambria Math" panose="02040503050406030204" pitchFamily="18" charset="0"/>
                <a:ea typeface="Cambria Math" panose="02040503050406030204" pitchFamily="18" charset="0"/>
              </a:rPr>
              <a:t>s</a:t>
            </a:r>
            <a:r>
              <a:rPr lang="en-US" dirty="0"/>
              <a:t>, photon travels n voxels</a:t>
            </a:r>
          </a:p>
        </p:txBody>
      </p:sp>
      <p:sp>
        <p:nvSpPr>
          <p:cNvPr id="13" name="Oval 12">
            <a:extLst>
              <a:ext uri="{FF2B5EF4-FFF2-40B4-BE49-F238E27FC236}">
                <a16:creationId xmlns:a16="http://schemas.microsoft.com/office/drawing/2014/main" id="{C05261AD-26CE-077F-A73A-9E0CAB08E63D}"/>
              </a:ext>
            </a:extLst>
          </p:cNvPr>
          <p:cNvSpPr/>
          <p:nvPr/>
        </p:nvSpPr>
        <p:spPr>
          <a:xfrm>
            <a:off x="4046930" y="3131296"/>
            <a:ext cx="497269" cy="497269"/>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3E8AE43-0D28-F6DC-0FC1-3121AEBF9B70}"/>
              </a:ext>
            </a:extLst>
          </p:cNvPr>
          <p:cNvSpPr/>
          <p:nvPr/>
        </p:nvSpPr>
        <p:spPr>
          <a:xfrm>
            <a:off x="4937253" y="2803461"/>
            <a:ext cx="1129340" cy="115294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7" name="Oval 16">
            <a:extLst>
              <a:ext uri="{FF2B5EF4-FFF2-40B4-BE49-F238E27FC236}">
                <a16:creationId xmlns:a16="http://schemas.microsoft.com/office/drawing/2014/main" id="{CED25659-77B4-9FF8-C456-39935DD55A9C}"/>
              </a:ext>
            </a:extLst>
          </p:cNvPr>
          <p:cNvSpPr/>
          <p:nvPr/>
        </p:nvSpPr>
        <p:spPr>
          <a:xfrm>
            <a:off x="5326176" y="3209766"/>
            <a:ext cx="319252" cy="319252"/>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7870FDC6-969A-4902-83E7-BDBF27EDAC0E}"/>
              </a:ext>
            </a:extLst>
          </p:cNvPr>
          <p:cNvSpPr/>
          <p:nvPr/>
        </p:nvSpPr>
        <p:spPr>
          <a:xfrm>
            <a:off x="6143611" y="2776801"/>
            <a:ext cx="1129340" cy="115294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25" name="Oval 24">
            <a:extLst>
              <a:ext uri="{FF2B5EF4-FFF2-40B4-BE49-F238E27FC236}">
                <a16:creationId xmlns:a16="http://schemas.microsoft.com/office/drawing/2014/main" id="{DA79CE46-865E-A188-6C39-74E03E74C1B4}"/>
              </a:ext>
            </a:extLst>
          </p:cNvPr>
          <p:cNvSpPr/>
          <p:nvPr/>
        </p:nvSpPr>
        <p:spPr>
          <a:xfrm>
            <a:off x="6532533" y="3226958"/>
            <a:ext cx="242479" cy="242479"/>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cxnSp>
        <p:nvCxnSpPr>
          <p:cNvPr id="27" name="Connector: Curved 26">
            <a:extLst>
              <a:ext uri="{FF2B5EF4-FFF2-40B4-BE49-F238E27FC236}">
                <a16:creationId xmlns:a16="http://schemas.microsoft.com/office/drawing/2014/main" id="{7EF43584-8A09-DF8D-E946-B0FE437CAA09}"/>
              </a:ext>
            </a:extLst>
          </p:cNvPr>
          <p:cNvCxnSpPr>
            <a:stCxn id="8" idx="2"/>
            <a:endCxn id="15" idx="2"/>
          </p:cNvCxnSpPr>
          <p:nvPr/>
        </p:nvCxnSpPr>
        <p:spPr>
          <a:xfrm rot="16200000" flipH="1">
            <a:off x="4898744" y="3353222"/>
            <a:ext cx="12700" cy="1206358"/>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cxnSp>
        <p:nvCxnSpPr>
          <p:cNvPr id="28" name="Connector: Curved 27">
            <a:extLst>
              <a:ext uri="{FF2B5EF4-FFF2-40B4-BE49-F238E27FC236}">
                <a16:creationId xmlns:a16="http://schemas.microsoft.com/office/drawing/2014/main" id="{A0717F08-B786-FF34-5EAC-26C9DA0DB85C}"/>
              </a:ext>
            </a:extLst>
          </p:cNvPr>
          <p:cNvCxnSpPr/>
          <p:nvPr/>
        </p:nvCxnSpPr>
        <p:spPr>
          <a:xfrm rot="16200000" flipH="1">
            <a:off x="6097142" y="3334171"/>
            <a:ext cx="12700" cy="1206358"/>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614E54FC-995B-9FD9-B4D0-A9CFAEA84012}"/>
              </a:ext>
            </a:extLst>
          </p:cNvPr>
          <p:cNvSpPr/>
          <p:nvPr/>
        </p:nvSpPr>
        <p:spPr>
          <a:xfrm>
            <a:off x="7427844" y="3348197"/>
            <a:ext cx="92765" cy="927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6E07292-A4D4-72BA-E678-155CB70D2120}"/>
              </a:ext>
            </a:extLst>
          </p:cNvPr>
          <p:cNvSpPr/>
          <p:nvPr/>
        </p:nvSpPr>
        <p:spPr>
          <a:xfrm>
            <a:off x="7661873" y="3348197"/>
            <a:ext cx="92765" cy="927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58315BD-41CC-6F90-B553-8AE5999C2239}"/>
              </a:ext>
            </a:extLst>
          </p:cNvPr>
          <p:cNvSpPr/>
          <p:nvPr/>
        </p:nvSpPr>
        <p:spPr>
          <a:xfrm>
            <a:off x="7895902" y="3348197"/>
            <a:ext cx="92765" cy="927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A54670A-1960-82BB-9C71-DF05F66283AB}"/>
              </a:ext>
            </a:extLst>
          </p:cNvPr>
          <p:cNvSpPr txBox="1"/>
          <p:nvPr/>
        </p:nvSpPr>
        <p:spPr>
          <a:xfrm>
            <a:off x="7609733" y="3469437"/>
            <a:ext cx="492724" cy="369332"/>
          </a:xfrm>
          <a:prstGeom prst="rect">
            <a:avLst/>
          </a:prstGeom>
          <a:noFill/>
        </p:spPr>
        <p:txBody>
          <a:bodyPr wrap="square" rtlCol="0">
            <a:spAutoFit/>
          </a:bodyPr>
          <a:lstStyle/>
          <a:p>
            <a:r>
              <a:rPr lang="en-US" b="1" dirty="0">
                <a:solidFill>
                  <a:schemeClr val="bg1"/>
                </a:solidFill>
              </a:rPr>
              <a:t>n</a:t>
            </a:r>
          </a:p>
        </p:txBody>
      </p:sp>
      <p:sp>
        <p:nvSpPr>
          <p:cNvPr id="37" name="TextBox 36">
            <a:extLst>
              <a:ext uri="{FF2B5EF4-FFF2-40B4-BE49-F238E27FC236}">
                <a16:creationId xmlns:a16="http://schemas.microsoft.com/office/drawing/2014/main" id="{EAEE55A7-84BF-6E4B-6CB7-FBDF4CC8589A}"/>
              </a:ext>
            </a:extLst>
          </p:cNvPr>
          <p:cNvSpPr txBox="1"/>
          <p:nvPr/>
        </p:nvSpPr>
        <p:spPr>
          <a:xfrm>
            <a:off x="3637150" y="4161015"/>
            <a:ext cx="3599985" cy="369332"/>
          </a:xfrm>
          <a:prstGeom prst="rect">
            <a:avLst/>
          </a:prstGeom>
          <a:noFill/>
        </p:spPr>
        <p:txBody>
          <a:bodyPr wrap="square" rtlCol="0">
            <a:spAutoFit/>
          </a:bodyPr>
          <a:lstStyle/>
          <a:p>
            <a:r>
              <a:rPr lang="en-US" dirty="0"/>
              <a:t>Weight is reduced based on </a:t>
            </a:r>
            <a:r>
              <a:rPr lang="el-GR" dirty="0">
                <a:latin typeface="Cambria Math" panose="02040503050406030204" pitchFamily="18" charset="0"/>
                <a:ea typeface="Cambria Math" panose="02040503050406030204" pitchFamily="18" charset="0"/>
              </a:rPr>
              <a:t>μ</a:t>
            </a:r>
            <a:r>
              <a:rPr lang="en-US" baseline="-25000" dirty="0">
                <a:latin typeface="Cambria Math" panose="02040503050406030204" pitchFamily="18" charset="0"/>
                <a:ea typeface="Cambria Math" panose="02040503050406030204" pitchFamily="18" charset="0"/>
              </a:rPr>
              <a:t>a</a:t>
            </a:r>
            <a:r>
              <a:rPr lang="en-US" dirty="0"/>
              <a:t>  </a:t>
            </a:r>
          </a:p>
        </p:txBody>
      </p:sp>
      <p:sp>
        <p:nvSpPr>
          <p:cNvPr id="39" name="Rectangle: Rounded Corners 38">
            <a:extLst>
              <a:ext uri="{FF2B5EF4-FFF2-40B4-BE49-F238E27FC236}">
                <a16:creationId xmlns:a16="http://schemas.microsoft.com/office/drawing/2014/main" id="{2CED0CBE-4FA2-0A39-27D5-62030A9E7494}"/>
              </a:ext>
            </a:extLst>
          </p:cNvPr>
          <p:cNvSpPr/>
          <p:nvPr/>
        </p:nvSpPr>
        <p:spPr>
          <a:xfrm>
            <a:off x="8335618" y="1795669"/>
            <a:ext cx="1663148" cy="11529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New scatter direction is determined</a:t>
            </a:r>
          </a:p>
        </p:txBody>
      </p:sp>
      <p:pic>
        <p:nvPicPr>
          <p:cNvPr id="41" name="Picture 40">
            <a:extLst>
              <a:ext uri="{FF2B5EF4-FFF2-40B4-BE49-F238E27FC236}">
                <a16:creationId xmlns:a16="http://schemas.microsoft.com/office/drawing/2014/main" id="{53483FE8-D6C3-9B74-285A-09BD500A65A2}"/>
              </a:ext>
            </a:extLst>
          </p:cNvPr>
          <p:cNvPicPr>
            <a:picLocks noChangeAspect="1"/>
          </p:cNvPicPr>
          <p:nvPr/>
        </p:nvPicPr>
        <p:blipFill>
          <a:blip r:embed="rId3"/>
          <a:stretch>
            <a:fillRect/>
          </a:stretch>
        </p:blipFill>
        <p:spPr>
          <a:xfrm>
            <a:off x="333731" y="157737"/>
            <a:ext cx="9446193" cy="615176"/>
          </a:xfrm>
          <a:prstGeom prst="rect">
            <a:avLst/>
          </a:prstGeom>
          <a:ln>
            <a:solidFill>
              <a:schemeClr val="bg1"/>
            </a:solidFill>
          </a:ln>
        </p:spPr>
      </p:pic>
      <p:cxnSp>
        <p:nvCxnSpPr>
          <p:cNvPr id="43" name="Connector: Curved 42">
            <a:extLst>
              <a:ext uri="{FF2B5EF4-FFF2-40B4-BE49-F238E27FC236}">
                <a16:creationId xmlns:a16="http://schemas.microsoft.com/office/drawing/2014/main" id="{0E84804B-640A-9B18-7608-E5DB48BBBEBE}"/>
              </a:ext>
            </a:extLst>
          </p:cNvPr>
          <p:cNvCxnSpPr>
            <a:cxnSpLocks/>
          </p:cNvCxnSpPr>
          <p:nvPr/>
        </p:nvCxnSpPr>
        <p:spPr>
          <a:xfrm rot="16200000" flipV="1">
            <a:off x="6562551" y="-776815"/>
            <a:ext cx="915026" cy="4229939"/>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46" name="Arrow: Right 45">
            <a:extLst>
              <a:ext uri="{FF2B5EF4-FFF2-40B4-BE49-F238E27FC236}">
                <a16:creationId xmlns:a16="http://schemas.microsoft.com/office/drawing/2014/main" id="{55D8F6E7-FEDD-F497-CCD5-4F9E8ABF1236}"/>
              </a:ext>
            </a:extLst>
          </p:cNvPr>
          <p:cNvSpPr/>
          <p:nvPr/>
        </p:nvSpPr>
        <p:spPr>
          <a:xfrm rot="5400000">
            <a:off x="7776604" y="3979996"/>
            <a:ext cx="2883454" cy="101835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68A415F6-6CC3-DBFF-FDCE-3E7E211DC316}"/>
              </a:ext>
            </a:extLst>
          </p:cNvPr>
          <p:cNvSpPr txBox="1"/>
          <p:nvPr/>
        </p:nvSpPr>
        <p:spPr>
          <a:xfrm>
            <a:off x="9672340" y="3253547"/>
            <a:ext cx="1782418" cy="2031325"/>
          </a:xfrm>
          <a:prstGeom prst="rect">
            <a:avLst/>
          </a:prstGeom>
          <a:noFill/>
        </p:spPr>
        <p:txBody>
          <a:bodyPr wrap="square" rtlCol="0">
            <a:spAutoFit/>
          </a:bodyPr>
          <a:lstStyle/>
          <a:p>
            <a:r>
              <a:rPr lang="en-US" dirty="0"/>
              <a:t>Previous steps are repeated until the boundary is left or no more time is left</a:t>
            </a:r>
          </a:p>
        </p:txBody>
      </p:sp>
    </p:spTree>
    <p:extLst>
      <p:ext uri="{BB962C8B-B14F-4D97-AF65-F5344CB8AC3E}">
        <p14:creationId xmlns:p14="http://schemas.microsoft.com/office/powerpoint/2010/main" val="1601636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B6C8-2B20-F7A7-DA70-2F191D990ECC}"/>
              </a:ext>
            </a:extLst>
          </p:cNvPr>
          <p:cNvSpPr>
            <a:spLocks noGrp="1"/>
          </p:cNvSpPr>
          <p:nvPr>
            <p:ph type="title"/>
          </p:nvPr>
        </p:nvSpPr>
        <p:spPr/>
        <p:txBody>
          <a:bodyPr/>
          <a:lstStyle/>
          <a:p>
            <a:r>
              <a:rPr lang="en-US" dirty="0"/>
              <a:t>Monte Carlo Simulation Result</a:t>
            </a:r>
          </a:p>
        </p:txBody>
      </p:sp>
      <p:pic>
        <p:nvPicPr>
          <p:cNvPr id="5" name="Content Placeholder 4">
            <a:extLst>
              <a:ext uri="{FF2B5EF4-FFF2-40B4-BE49-F238E27FC236}">
                <a16:creationId xmlns:a16="http://schemas.microsoft.com/office/drawing/2014/main" id="{C7086805-400A-E772-78E2-27D8B55520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47800" y="1413405"/>
            <a:ext cx="6655835" cy="4991877"/>
          </a:xfrm>
          <a:prstGeom prst="rect">
            <a:avLst/>
          </a:prstGeom>
        </p:spPr>
      </p:pic>
      <p:sp>
        <p:nvSpPr>
          <p:cNvPr id="6" name="Oval 5">
            <a:extLst>
              <a:ext uri="{FF2B5EF4-FFF2-40B4-BE49-F238E27FC236}">
                <a16:creationId xmlns:a16="http://schemas.microsoft.com/office/drawing/2014/main" id="{4389F85F-5017-D968-1F54-7D29472F73B0}"/>
              </a:ext>
            </a:extLst>
          </p:cNvPr>
          <p:cNvSpPr/>
          <p:nvPr/>
        </p:nvSpPr>
        <p:spPr>
          <a:xfrm>
            <a:off x="4426857" y="2106309"/>
            <a:ext cx="3338286" cy="3338286"/>
          </a:xfrm>
          <a:prstGeom prst="ellipse">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5816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E138A7-AEAD-B31A-FEC5-F6B9386AB1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5943" y="2256971"/>
            <a:ext cx="5302550" cy="3976912"/>
          </a:xfrm>
          <a:prstGeom prst="rect">
            <a:avLst/>
          </a:prstGeom>
        </p:spPr>
      </p:pic>
      <p:pic>
        <p:nvPicPr>
          <p:cNvPr id="5" name="Picture 4">
            <a:extLst>
              <a:ext uri="{FF2B5EF4-FFF2-40B4-BE49-F238E27FC236}">
                <a16:creationId xmlns:a16="http://schemas.microsoft.com/office/drawing/2014/main" id="{F7890A62-0952-860A-ECD3-D3095D3E36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507" y="1995714"/>
            <a:ext cx="5863768" cy="4397826"/>
          </a:xfrm>
          <a:prstGeom prst="rect">
            <a:avLst/>
          </a:prstGeom>
        </p:spPr>
      </p:pic>
    </p:spTree>
    <p:extLst>
      <p:ext uri="{BB962C8B-B14F-4D97-AF65-F5344CB8AC3E}">
        <p14:creationId xmlns:p14="http://schemas.microsoft.com/office/powerpoint/2010/main" val="186930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D232-3F5E-61B1-E61F-8DA938316306}"/>
              </a:ext>
            </a:extLst>
          </p:cNvPr>
          <p:cNvSpPr>
            <a:spLocks noGrp="1"/>
          </p:cNvSpPr>
          <p:nvPr>
            <p:ph type="title"/>
          </p:nvPr>
        </p:nvSpPr>
        <p:spPr/>
        <p:txBody>
          <a:bodyPr/>
          <a:lstStyle/>
          <a:p>
            <a:r>
              <a:rPr lang="en-US" dirty="0"/>
              <a:t>Angle test</a:t>
            </a:r>
          </a:p>
        </p:txBody>
      </p:sp>
      <p:sp>
        <p:nvSpPr>
          <p:cNvPr id="6" name="TextBox 5">
            <a:extLst>
              <a:ext uri="{FF2B5EF4-FFF2-40B4-BE49-F238E27FC236}">
                <a16:creationId xmlns:a16="http://schemas.microsoft.com/office/drawing/2014/main" id="{51FBCCF5-06D0-4A88-D221-08B91CAB6B39}"/>
              </a:ext>
            </a:extLst>
          </p:cNvPr>
          <p:cNvSpPr txBox="1"/>
          <p:nvPr/>
        </p:nvSpPr>
        <p:spPr>
          <a:xfrm>
            <a:off x="6894394" y="1606477"/>
            <a:ext cx="4386470" cy="3139321"/>
          </a:xfrm>
          <a:prstGeom prst="rect">
            <a:avLst/>
          </a:prstGeom>
          <a:noFill/>
        </p:spPr>
        <p:txBody>
          <a:bodyPr wrap="square" rtlCol="0">
            <a:spAutoFit/>
          </a:bodyPr>
          <a:lstStyle/>
          <a:p>
            <a:r>
              <a:rPr lang="en-US" dirty="0"/>
              <a:t>For smaller radius the difference between the peak and bottom </a:t>
            </a:r>
            <a:r>
              <a:rPr lang="en-US" dirty="0" err="1"/>
              <a:t>plateu</a:t>
            </a:r>
            <a:r>
              <a:rPr lang="en-US" dirty="0"/>
              <a:t> become smaller from 4 times to 3 times the difference.</a:t>
            </a:r>
          </a:p>
          <a:p>
            <a:endParaRPr lang="en-US" dirty="0"/>
          </a:p>
          <a:p>
            <a:endParaRPr lang="en-US" dirty="0"/>
          </a:p>
          <a:p>
            <a:r>
              <a:rPr lang="en-US" dirty="0"/>
              <a:t>The issue is that these voxels have no min acceptance angle, so this is not an accurate representation of what the detector would see. </a:t>
            </a:r>
          </a:p>
          <a:p>
            <a:endParaRPr lang="en-US" dirty="0"/>
          </a:p>
        </p:txBody>
      </p:sp>
      <p:pic>
        <p:nvPicPr>
          <p:cNvPr id="10" name="Content Placeholder 9">
            <a:extLst>
              <a:ext uri="{FF2B5EF4-FFF2-40B4-BE49-F238E27FC236}">
                <a16:creationId xmlns:a16="http://schemas.microsoft.com/office/drawing/2014/main" id="{BC47EA91-0DF6-26FD-0684-6A5A7A09E8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7707" y="1606477"/>
            <a:ext cx="6398406" cy="4798805"/>
          </a:xfrm>
          <a:prstGeom prst="rect">
            <a:avLst/>
          </a:prstGeom>
        </p:spPr>
      </p:pic>
      <p:sp>
        <p:nvSpPr>
          <p:cNvPr id="11" name="Rectangle 10">
            <a:extLst>
              <a:ext uri="{FF2B5EF4-FFF2-40B4-BE49-F238E27FC236}">
                <a16:creationId xmlns:a16="http://schemas.microsoft.com/office/drawing/2014/main" id="{3D733DC3-FC48-DED9-C563-138E8D47F0E9}"/>
              </a:ext>
            </a:extLst>
          </p:cNvPr>
          <p:cNvSpPr/>
          <p:nvPr/>
        </p:nvSpPr>
        <p:spPr>
          <a:xfrm>
            <a:off x="9173028" y="4943094"/>
            <a:ext cx="616857" cy="6168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2446E7BA-52AF-AEB3-B765-9984E3705A58}"/>
              </a:ext>
            </a:extLst>
          </p:cNvPr>
          <p:cNvCxnSpPr>
            <a:endCxn id="11" idx="1"/>
          </p:cNvCxnSpPr>
          <p:nvPr/>
        </p:nvCxnSpPr>
        <p:spPr>
          <a:xfrm flipV="1">
            <a:off x="8040914" y="5251523"/>
            <a:ext cx="1132114" cy="6775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D74B5380-F88C-9EC7-2CB3-440884F34EB8}"/>
              </a:ext>
            </a:extLst>
          </p:cNvPr>
          <p:cNvCxnSpPr>
            <a:cxnSpLocks/>
          </p:cNvCxnSpPr>
          <p:nvPr/>
        </p:nvCxnSpPr>
        <p:spPr>
          <a:xfrm flipV="1">
            <a:off x="8040914" y="5405737"/>
            <a:ext cx="1197429" cy="5233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23572D7-8C16-97AE-799F-DF6FF2D7D816}"/>
              </a:ext>
            </a:extLst>
          </p:cNvPr>
          <p:cNvCxnSpPr>
            <a:cxnSpLocks/>
            <a:endCxn id="11" idx="2"/>
          </p:cNvCxnSpPr>
          <p:nvPr/>
        </p:nvCxnSpPr>
        <p:spPr>
          <a:xfrm flipV="1">
            <a:off x="8040914" y="5559951"/>
            <a:ext cx="1440543" cy="33960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9" name="Straight Arrow Connector 18">
            <a:extLst>
              <a:ext uri="{FF2B5EF4-FFF2-40B4-BE49-F238E27FC236}">
                <a16:creationId xmlns:a16="http://schemas.microsoft.com/office/drawing/2014/main" id="{18E1BEBB-D3BD-C788-116B-BCD1B5B370CA}"/>
              </a:ext>
            </a:extLst>
          </p:cNvPr>
          <p:cNvCxnSpPr>
            <a:cxnSpLocks/>
          </p:cNvCxnSpPr>
          <p:nvPr/>
        </p:nvCxnSpPr>
        <p:spPr>
          <a:xfrm flipV="1">
            <a:off x="8073571" y="5559951"/>
            <a:ext cx="1716314" cy="383973"/>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1" name="Straight Arrow Connector 20">
            <a:extLst>
              <a:ext uri="{FF2B5EF4-FFF2-40B4-BE49-F238E27FC236}">
                <a16:creationId xmlns:a16="http://schemas.microsoft.com/office/drawing/2014/main" id="{829942EB-0800-16DC-8273-AB7DE88DBC9B}"/>
              </a:ext>
            </a:extLst>
          </p:cNvPr>
          <p:cNvCxnSpPr>
            <a:cxnSpLocks/>
          </p:cNvCxnSpPr>
          <p:nvPr/>
        </p:nvCxnSpPr>
        <p:spPr>
          <a:xfrm flipV="1">
            <a:off x="8073571" y="5899557"/>
            <a:ext cx="1338943" cy="5171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3" name="Straight Arrow Connector 22">
            <a:extLst>
              <a:ext uri="{FF2B5EF4-FFF2-40B4-BE49-F238E27FC236}">
                <a16:creationId xmlns:a16="http://schemas.microsoft.com/office/drawing/2014/main" id="{96844AB8-9997-FC6E-4794-B6455324B225}"/>
              </a:ext>
            </a:extLst>
          </p:cNvPr>
          <p:cNvCxnSpPr>
            <a:cxnSpLocks/>
          </p:cNvCxnSpPr>
          <p:nvPr/>
        </p:nvCxnSpPr>
        <p:spPr>
          <a:xfrm flipV="1">
            <a:off x="9412514" y="5590304"/>
            <a:ext cx="246743" cy="309253"/>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7" name="Straight Arrow Connector 26">
            <a:extLst>
              <a:ext uri="{FF2B5EF4-FFF2-40B4-BE49-F238E27FC236}">
                <a16:creationId xmlns:a16="http://schemas.microsoft.com/office/drawing/2014/main" id="{10AC60BB-30F4-3A48-AF82-7AA1061789CA}"/>
              </a:ext>
            </a:extLst>
          </p:cNvPr>
          <p:cNvCxnSpPr>
            <a:cxnSpLocks/>
          </p:cNvCxnSpPr>
          <p:nvPr/>
        </p:nvCxnSpPr>
        <p:spPr>
          <a:xfrm flipV="1">
            <a:off x="8073571" y="5054227"/>
            <a:ext cx="1132114" cy="814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FF38CD91-A5D7-367E-43E5-D329AB265129}"/>
              </a:ext>
            </a:extLst>
          </p:cNvPr>
          <p:cNvCxnSpPr>
            <a:cxnSpLocks/>
          </p:cNvCxnSpPr>
          <p:nvPr/>
        </p:nvCxnSpPr>
        <p:spPr>
          <a:xfrm flipV="1">
            <a:off x="8048235" y="4738823"/>
            <a:ext cx="1364279" cy="11865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ECF50F66-9F1C-938E-AD51-AA349E8002A1}"/>
              </a:ext>
            </a:extLst>
          </p:cNvPr>
          <p:cNvCxnSpPr/>
          <p:nvPr/>
        </p:nvCxnSpPr>
        <p:spPr>
          <a:xfrm>
            <a:off x="9376073" y="4760199"/>
            <a:ext cx="210766" cy="1382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44C35404-9943-BE1E-3971-914160D3CB93}"/>
              </a:ext>
            </a:extLst>
          </p:cNvPr>
          <p:cNvCxnSpPr>
            <a:cxnSpLocks/>
          </p:cNvCxnSpPr>
          <p:nvPr/>
        </p:nvCxnSpPr>
        <p:spPr>
          <a:xfrm flipV="1">
            <a:off x="8113713" y="5575466"/>
            <a:ext cx="1149966" cy="33435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677060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CFD2-76F1-1597-7B39-73FFC073936D}"/>
              </a:ext>
            </a:extLst>
          </p:cNvPr>
          <p:cNvSpPr>
            <a:spLocks noGrp="1"/>
          </p:cNvSpPr>
          <p:nvPr>
            <p:ph type="title"/>
          </p:nvPr>
        </p:nvSpPr>
        <p:spPr/>
        <p:txBody>
          <a:bodyPr/>
          <a:lstStyle/>
          <a:p>
            <a:r>
              <a:rPr lang="en-US" dirty="0"/>
              <a:t>A better way</a:t>
            </a:r>
          </a:p>
        </p:txBody>
      </p:sp>
      <p:sp>
        <p:nvSpPr>
          <p:cNvPr id="3" name="Rectangle 2">
            <a:extLst>
              <a:ext uri="{FF2B5EF4-FFF2-40B4-BE49-F238E27FC236}">
                <a16:creationId xmlns:a16="http://schemas.microsoft.com/office/drawing/2014/main" id="{C7072D75-58DA-AFAC-2D07-4EE315537E29}"/>
              </a:ext>
            </a:extLst>
          </p:cNvPr>
          <p:cNvSpPr/>
          <p:nvPr/>
        </p:nvSpPr>
        <p:spPr>
          <a:xfrm>
            <a:off x="827314" y="4459514"/>
            <a:ext cx="6618515" cy="1817914"/>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43B7DBEE-7FE6-A02F-E309-880E801FC400}"/>
              </a:ext>
            </a:extLst>
          </p:cNvPr>
          <p:cNvCxnSpPr>
            <a:cxnSpLocks/>
            <a:stCxn id="3" idx="1"/>
          </p:cNvCxnSpPr>
          <p:nvPr/>
        </p:nvCxnSpPr>
        <p:spPr>
          <a:xfrm>
            <a:off x="827314" y="5368471"/>
            <a:ext cx="384629" cy="0"/>
          </a:xfrm>
          <a:prstGeom prst="straightConnector1">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2803698B-C0FC-2CAC-79F9-6AD0D8BFB308}"/>
              </a:ext>
            </a:extLst>
          </p:cNvPr>
          <p:cNvSpPr txBox="1"/>
          <p:nvPr/>
        </p:nvSpPr>
        <p:spPr>
          <a:xfrm>
            <a:off x="827314" y="1625600"/>
            <a:ext cx="8512629" cy="1200329"/>
          </a:xfrm>
          <a:prstGeom prst="rect">
            <a:avLst/>
          </a:prstGeom>
          <a:noFill/>
        </p:spPr>
        <p:txBody>
          <a:bodyPr wrap="square" rtlCol="0">
            <a:spAutoFit/>
          </a:bodyPr>
          <a:lstStyle/>
          <a:p>
            <a:r>
              <a:rPr lang="en-US" dirty="0"/>
              <a:t>Imagine the image below is the x-y slice where the source is. The idea is to measure the light exiting the top boundary. Represent the intensity at the boundary along the y direction in a bar graph. Hence we know the best position to place the detector. The same can be done at the front face.</a:t>
            </a:r>
          </a:p>
        </p:txBody>
      </p:sp>
      <p:sp>
        <p:nvSpPr>
          <p:cNvPr id="7" name="Rectangle 6">
            <a:extLst>
              <a:ext uri="{FF2B5EF4-FFF2-40B4-BE49-F238E27FC236}">
                <a16:creationId xmlns:a16="http://schemas.microsoft.com/office/drawing/2014/main" id="{AAB3B4D9-A9EE-1180-F1CC-6E2D50CF76F5}"/>
              </a:ext>
            </a:extLst>
          </p:cNvPr>
          <p:cNvSpPr/>
          <p:nvPr/>
        </p:nvSpPr>
        <p:spPr>
          <a:xfrm>
            <a:off x="2525485" y="3563256"/>
            <a:ext cx="232229" cy="8962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3B9092F-5634-F7AE-58B4-2605DFB23955}"/>
              </a:ext>
            </a:extLst>
          </p:cNvPr>
          <p:cNvSpPr/>
          <p:nvPr/>
        </p:nvSpPr>
        <p:spPr>
          <a:xfrm>
            <a:off x="2902857" y="3252332"/>
            <a:ext cx="232229" cy="1201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2EEF5C7-0D8E-F0F6-504C-9655EBBA1B34}"/>
              </a:ext>
            </a:extLst>
          </p:cNvPr>
          <p:cNvSpPr/>
          <p:nvPr/>
        </p:nvSpPr>
        <p:spPr>
          <a:xfrm>
            <a:off x="2148114" y="4005263"/>
            <a:ext cx="232229" cy="454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B2E9B13-5574-815C-1E73-7C70740B0DC2}"/>
              </a:ext>
            </a:extLst>
          </p:cNvPr>
          <p:cNvSpPr/>
          <p:nvPr/>
        </p:nvSpPr>
        <p:spPr>
          <a:xfrm>
            <a:off x="1654628" y="4034707"/>
            <a:ext cx="232229" cy="454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74F71CE-270D-F875-EE01-F5396BDF4131}"/>
              </a:ext>
            </a:extLst>
          </p:cNvPr>
          <p:cNvSpPr/>
          <p:nvPr/>
        </p:nvSpPr>
        <p:spPr>
          <a:xfrm>
            <a:off x="3388387" y="3095626"/>
            <a:ext cx="232229" cy="1363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E3F898B-6839-AE58-A385-0CACC6C548C3}"/>
              </a:ext>
            </a:extLst>
          </p:cNvPr>
          <p:cNvSpPr/>
          <p:nvPr/>
        </p:nvSpPr>
        <p:spPr>
          <a:xfrm>
            <a:off x="3860690" y="3081888"/>
            <a:ext cx="232229" cy="1363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0E11BCD-4A77-1753-95B5-191FD6C2127C}"/>
              </a:ext>
            </a:extLst>
          </p:cNvPr>
          <p:cNvSpPr/>
          <p:nvPr/>
        </p:nvSpPr>
        <p:spPr>
          <a:xfrm>
            <a:off x="4318157" y="3319461"/>
            <a:ext cx="232229" cy="11257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67E6074D-1F23-EA3C-B866-8AD3F231C066}"/>
              </a:ext>
            </a:extLst>
          </p:cNvPr>
          <p:cNvSpPr/>
          <p:nvPr/>
        </p:nvSpPr>
        <p:spPr>
          <a:xfrm>
            <a:off x="4914422" y="3548969"/>
            <a:ext cx="232229" cy="8962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7416182-E633-2210-5390-12AB57314715}"/>
              </a:ext>
            </a:extLst>
          </p:cNvPr>
          <p:cNvSpPr/>
          <p:nvPr/>
        </p:nvSpPr>
        <p:spPr>
          <a:xfrm>
            <a:off x="5461679" y="3635819"/>
            <a:ext cx="232229" cy="8175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983F79C-7AA7-23F4-31D4-6DD263900530}"/>
              </a:ext>
            </a:extLst>
          </p:cNvPr>
          <p:cNvSpPr/>
          <p:nvPr/>
        </p:nvSpPr>
        <p:spPr>
          <a:xfrm rot="5400000">
            <a:off x="8683210" y="4037835"/>
            <a:ext cx="232229" cy="2621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DFE40C5-9AA7-54A5-AF84-0EF622F49558}"/>
              </a:ext>
            </a:extLst>
          </p:cNvPr>
          <p:cNvSpPr/>
          <p:nvPr/>
        </p:nvSpPr>
        <p:spPr>
          <a:xfrm rot="5400000">
            <a:off x="8346723" y="4095737"/>
            <a:ext cx="232230" cy="18957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764218F-F695-1655-8B32-047384F002B3}"/>
              </a:ext>
            </a:extLst>
          </p:cNvPr>
          <p:cNvSpPr/>
          <p:nvPr/>
        </p:nvSpPr>
        <p:spPr>
          <a:xfrm rot="5400000">
            <a:off x="7955550" y="4154559"/>
            <a:ext cx="190518" cy="1209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BDEBEE8-F4CB-F001-CA5E-2FE33C094105}"/>
              </a:ext>
            </a:extLst>
          </p:cNvPr>
          <p:cNvSpPr/>
          <p:nvPr/>
        </p:nvSpPr>
        <p:spPr>
          <a:xfrm rot="5400000">
            <a:off x="8346723" y="4723651"/>
            <a:ext cx="232230" cy="18957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9591057-B4D9-347A-7B43-03C7292C335F}"/>
              </a:ext>
            </a:extLst>
          </p:cNvPr>
          <p:cNvSpPr/>
          <p:nvPr/>
        </p:nvSpPr>
        <p:spPr>
          <a:xfrm rot="5400000">
            <a:off x="7959903" y="5397589"/>
            <a:ext cx="190518" cy="1209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0C608CD-2EB3-1B0A-9447-B18D20AE3BF4}"/>
              </a:ext>
            </a:extLst>
          </p:cNvPr>
          <p:cNvSpPr txBox="1"/>
          <p:nvPr/>
        </p:nvSpPr>
        <p:spPr>
          <a:xfrm>
            <a:off x="6886301" y="3331374"/>
            <a:ext cx="1635761" cy="369332"/>
          </a:xfrm>
          <a:prstGeom prst="rect">
            <a:avLst/>
          </a:prstGeom>
          <a:noFill/>
        </p:spPr>
        <p:txBody>
          <a:bodyPr wrap="square" rtlCol="0">
            <a:spAutoFit/>
          </a:bodyPr>
          <a:lstStyle/>
          <a:p>
            <a:r>
              <a:rPr lang="en-US" dirty="0"/>
              <a:t>X-</a:t>
            </a:r>
            <a:r>
              <a:rPr lang="en-US" dirty="0" err="1"/>
              <a:t>dir</a:t>
            </a:r>
            <a:endParaRPr lang="en-US" dirty="0"/>
          </a:p>
        </p:txBody>
      </p:sp>
      <p:cxnSp>
        <p:nvCxnSpPr>
          <p:cNvPr id="48" name="Straight Arrow Connector 47">
            <a:extLst>
              <a:ext uri="{FF2B5EF4-FFF2-40B4-BE49-F238E27FC236}">
                <a16:creationId xmlns:a16="http://schemas.microsoft.com/office/drawing/2014/main" id="{D4E9CDF0-950B-B810-5AB7-D92FC297F9AC}"/>
              </a:ext>
            </a:extLst>
          </p:cNvPr>
          <p:cNvCxnSpPr>
            <a:cxnSpLocks/>
          </p:cNvCxnSpPr>
          <p:nvPr/>
        </p:nvCxnSpPr>
        <p:spPr>
          <a:xfrm>
            <a:off x="6974114" y="3777570"/>
            <a:ext cx="820057" cy="25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16B814BB-BB07-7DC4-175B-DC78E2C05023}"/>
              </a:ext>
            </a:extLst>
          </p:cNvPr>
          <p:cNvSpPr txBox="1"/>
          <p:nvPr/>
        </p:nvSpPr>
        <p:spPr>
          <a:xfrm>
            <a:off x="10580914" y="4232388"/>
            <a:ext cx="795381" cy="646331"/>
          </a:xfrm>
          <a:prstGeom prst="rect">
            <a:avLst/>
          </a:prstGeom>
          <a:noFill/>
        </p:spPr>
        <p:txBody>
          <a:bodyPr wrap="square" rtlCol="0">
            <a:spAutoFit/>
          </a:bodyPr>
          <a:lstStyle/>
          <a:p>
            <a:r>
              <a:rPr lang="en-US" dirty="0"/>
              <a:t>Y-</a:t>
            </a:r>
            <a:r>
              <a:rPr lang="en-US" dirty="0" err="1"/>
              <a:t>dir</a:t>
            </a:r>
            <a:endParaRPr lang="en-US" dirty="0"/>
          </a:p>
          <a:p>
            <a:endParaRPr lang="en-US" dirty="0"/>
          </a:p>
        </p:txBody>
      </p:sp>
      <p:cxnSp>
        <p:nvCxnSpPr>
          <p:cNvPr id="51" name="Straight Arrow Connector 50">
            <a:extLst>
              <a:ext uri="{FF2B5EF4-FFF2-40B4-BE49-F238E27FC236}">
                <a16:creationId xmlns:a16="http://schemas.microsoft.com/office/drawing/2014/main" id="{82931D66-0D18-797A-2DDC-D206709F3DF1}"/>
              </a:ext>
            </a:extLst>
          </p:cNvPr>
          <p:cNvCxnSpPr>
            <a:cxnSpLocks/>
          </p:cNvCxnSpPr>
          <p:nvPr/>
        </p:nvCxnSpPr>
        <p:spPr>
          <a:xfrm flipV="1">
            <a:off x="10580914" y="4395260"/>
            <a:ext cx="0" cy="554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D504438-4BA5-B6ED-76FE-D5D33EC5C0FD}"/>
              </a:ext>
            </a:extLst>
          </p:cNvPr>
          <p:cNvCxnSpPr/>
          <p:nvPr/>
        </p:nvCxnSpPr>
        <p:spPr>
          <a:xfrm>
            <a:off x="529771" y="4453389"/>
            <a:ext cx="0" cy="77901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C2D94D5-14D0-BE1A-8498-440A1232497F}"/>
              </a:ext>
            </a:extLst>
          </p:cNvPr>
          <p:cNvSpPr txBox="1"/>
          <p:nvPr/>
        </p:nvSpPr>
        <p:spPr>
          <a:xfrm>
            <a:off x="-94863" y="4578666"/>
            <a:ext cx="917824" cy="307777"/>
          </a:xfrm>
          <a:prstGeom prst="rect">
            <a:avLst/>
          </a:prstGeom>
          <a:noFill/>
        </p:spPr>
        <p:txBody>
          <a:bodyPr wrap="square" rtlCol="0">
            <a:spAutoFit/>
          </a:bodyPr>
          <a:lstStyle/>
          <a:p>
            <a:r>
              <a:rPr lang="en-US" sz="1400" dirty="0"/>
              <a:t>50mm</a:t>
            </a:r>
          </a:p>
        </p:txBody>
      </p:sp>
      <p:cxnSp>
        <p:nvCxnSpPr>
          <p:cNvPr id="57" name="Straight Arrow Connector 56">
            <a:extLst>
              <a:ext uri="{FF2B5EF4-FFF2-40B4-BE49-F238E27FC236}">
                <a16:creationId xmlns:a16="http://schemas.microsoft.com/office/drawing/2014/main" id="{75792742-F6FC-9411-F113-4B2F069A449C}"/>
              </a:ext>
            </a:extLst>
          </p:cNvPr>
          <p:cNvCxnSpPr>
            <a:cxnSpLocks/>
          </p:cNvCxnSpPr>
          <p:nvPr/>
        </p:nvCxnSpPr>
        <p:spPr>
          <a:xfrm flipV="1">
            <a:off x="2811097" y="4453389"/>
            <a:ext cx="3517022" cy="380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93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8AB86-2DBC-0B06-22E7-36DC67501C43}"/>
              </a:ext>
            </a:extLst>
          </p:cNvPr>
          <p:cNvSpPr>
            <a:spLocks noGrp="1"/>
          </p:cNvSpPr>
          <p:nvPr>
            <p:ph type="title"/>
          </p:nvPr>
        </p:nvSpPr>
        <p:spPr/>
        <p:txBody>
          <a:bodyPr/>
          <a:lstStyle/>
          <a:p>
            <a:r>
              <a:rPr lang="en-US" dirty="0"/>
              <a:t>Results for the off beam detector at 50 mm </a:t>
            </a:r>
          </a:p>
        </p:txBody>
      </p:sp>
      <p:pic>
        <p:nvPicPr>
          <p:cNvPr id="4" name="Picture 3">
            <a:extLst>
              <a:ext uri="{FF2B5EF4-FFF2-40B4-BE49-F238E27FC236}">
                <a16:creationId xmlns:a16="http://schemas.microsoft.com/office/drawing/2014/main" id="{7FA60738-074D-CE49-AABC-8098EA717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600" y="2220686"/>
            <a:ext cx="4538133" cy="3403600"/>
          </a:xfrm>
          <a:prstGeom prst="rect">
            <a:avLst/>
          </a:prstGeom>
        </p:spPr>
      </p:pic>
      <p:pic>
        <p:nvPicPr>
          <p:cNvPr id="6" name="Picture 5">
            <a:extLst>
              <a:ext uri="{FF2B5EF4-FFF2-40B4-BE49-F238E27FC236}">
                <a16:creationId xmlns:a16="http://schemas.microsoft.com/office/drawing/2014/main" id="{0089C81D-21B9-E6C4-633F-D8BFC46DC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5276" y="2220686"/>
            <a:ext cx="4538133" cy="3403600"/>
          </a:xfrm>
          <a:prstGeom prst="rect">
            <a:avLst/>
          </a:prstGeom>
        </p:spPr>
      </p:pic>
      <p:sp>
        <p:nvSpPr>
          <p:cNvPr id="7" name="Rectangle 6">
            <a:extLst>
              <a:ext uri="{FF2B5EF4-FFF2-40B4-BE49-F238E27FC236}">
                <a16:creationId xmlns:a16="http://schemas.microsoft.com/office/drawing/2014/main" id="{242F019C-A6E9-513E-0DC8-D355A11CB504}"/>
              </a:ext>
            </a:extLst>
          </p:cNvPr>
          <p:cNvSpPr/>
          <p:nvPr/>
        </p:nvSpPr>
        <p:spPr>
          <a:xfrm>
            <a:off x="1734457" y="1853248"/>
            <a:ext cx="8498114" cy="577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352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4353-51EB-52A8-831C-C3B35976DF0F}"/>
              </a:ext>
            </a:extLst>
          </p:cNvPr>
          <p:cNvSpPr>
            <a:spLocks noGrp="1"/>
          </p:cNvSpPr>
          <p:nvPr>
            <p:ph type="title"/>
          </p:nvPr>
        </p:nvSpPr>
        <p:spPr/>
        <p:txBody>
          <a:bodyPr/>
          <a:lstStyle/>
          <a:p>
            <a:r>
              <a:rPr lang="en-US" dirty="0"/>
              <a:t>Results for the off beam detector at 50 mm continued</a:t>
            </a:r>
          </a:p>
        </p:txBody>
      </p:sp>
      <p:pic>
        <p:nvPicPr>
          <p:cNvPr id="4" name="Picture 3">
            <a:extLst>
              <a:ext uri="{FF2B5EF4-FFF2-40B4-BE49-F238E27FC236}">
                <a16:creationId xmlns:a16="http://schemas.microsoft.com/office/drawing/2014/main" id="{9CF6A7D8-BF7F-B10E-F428-7255E2F8EA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8361" y="1952070"/>
            <a:ext cx="6100839" cy="4575629"/>
          </a:xfrm>
          <a:prstGeom prst="rect">
            <a:avLst/>
          </a:prstGeom>
        </p:spPr>
      </p:pic>
    </p:spTree>
    <p:extLst>
      <p:ext uri="{BB962C8B-B14F-4D97-AF65-F5344CB8AC3E}">
        <p14:creationId xmlns:p14="http://schemas.microsoft.com/office/powerpoint/2010/main" val="4100624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A4619-7D3B-529C-5753-894E1F0D3950}"/>
              </a:ext>
            </a:extLst>
          </p:cNvPr>
          <p:cNvSpPr>
            <a:spLocks noGrp="1"/>
          </p:cNvSpPr>
          <p:nvPr>
            <p:ph type="title"/>
          </p:nvPr>
        </p:nvSpPr>
        <p:spPr/>
        <p:txBody>
          <a:bodyPr/>
          <a:lstStyle/>
          <a:p>
            <a:r>
              <a:rPr lang="en-US" dirty="0"/>
              <a:t>Results on the face perpendicular to the beamline at 100mm</a:t>
            </a:r>
          </a:p>
        </p:txBody>
      </p:sp>
      <p:pic>
        <p:nvPicPr>
          <p:cNvPr id="5" name="Content Placeholder 4">
            <a:extLst>
              <a:ext uri="{FF2B5EF4-FFF2-40B4-BE49-F238E27FC236}">
                <a16:creationId xmlns:a16="http://schemas.microsoft.com/office/drawing/2014/main" id="{ED3A0969-9A81-1DC8-873A-2335A28235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1651" y="2292123"/>
            <a:ext cx="5594349" cy="4195762"/>
          </a:xfrm>
          <a:prstGeom prst="rect">
            <a:avLst/>
          </a:prstGeom>
        </p:spPr>
      </p:pic>
      <p:pic>
        <p:nvPicPr>
          <p:cNvPr id="7" name="Picture 6">
            <a:extLst>
              <a:ext uri="{FF2B5EF4-FFF2-40B4-BE49-F238E27FC236}">
                <a16:creationId xmlns:a16="http://schemas.microsoft.com/office/drawing/2014/main" id="{3AD234F4-79D5-3A6E-CDEB-2BE150ECE5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4623" y="2292123"/>
            <a:ext cx="5594350" cy="4195762"/>
          </a:xfrm>
          <a:prstGeom prst="rect">
            <a:avLst/>
          </a:prstGeom>
        </p:spPr>
      </p:pic>
    </p:spTree>
    <p:extLst>
      <p:ext uri="{BB962C8B-B14F-4D97-AF65-F5344CB8AC3E}">
        <p14:creationId xmlns:p14="http://schemas.microsoft.com/office/powerpoint/2010/main" val="3214653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77E78-A326-71AB-52D1-8F790BA3AFDB}"/>
              </a:ext>
            </a:extLst>
          </p:cNvPr>
          <p:cNvSpPr>
            <a:spLocks noGrp="1"/>
          </p:cNvSpPr>
          <p:nvPr>
            <p:ph type="title"/>
          </p:nvPr>
        </p:nvSpPr>
        <p:spPr>
          <a:xfrm>
            <a:off x="646111" y="452718"/>
            <a:ext cx="10021889" cy="1400530"/>
          </a:xfrm>
        </p:spPr>
        <p:txBody>
          <a:bodyPr/>
          <a:lstStyle/>
          <a:p>
            <a:r>
              <a:rPr lang="en-US" dirty="0"/>
              <a:t>What if we go higher off the beam?</a:t>
            </a:r>
          </a:p>
        </p:txBody>
      </p:sp>
      <p:pic>
        <p:nvPicPr>
          <p:cNvPr id="4" name="Picture 3">
            <a:extLst>
              <a:ext uri="{FF2B5EF4-FFF2-40B4-BE49-F238E27FC236}">
                <a16:creationId xmlns:a16="http://schemas.microsoft.com/office/drawing/2014/main" id="{4F1F9E79-446C-6EBC-81EE-831DCE3BFB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4" y="2126343"/>
            <a:ext cx="6028266" cy="4521200"/>
          </a:xfrm>
          <a:prstGeom prst="rect">
            <a:avLst/>
          </a:prstGeom>
        </p:spPr>
      </p:pic>
      <p:pic>
        <p:nvPicPr>
          <p:cNvPr id="6" name="Picture 5">
            <a:extLst>
              <a:ext uri="{FF2B5EF4-FFF2-40B4-BE49-F238E27FC236}">
                <a16:creationId xmlns:a16="http://schemas.microsoft.com/office/drawing/2014/main" id="{2E1F7D74-F458-1217-2C14-7AF1792F06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26343"/>
            <a:ext cx="6028266" cy="4521200"/>
          </a:xfrm>
          <a:prstGeom prst="rect">
            <a:avLst/>
          </a:prstGeom>
        </p:spPr>
      </p:pic>
      <p:sp>
        <p:nvSpPr>
          <p:cNvPr id="7" name="TextBox 6">
            <a:extLst>
              <a:ext uri="{FF2B5EF4-FFF2-40B4-BE49-F238E27FC236}">
                <a16:creationId xmlns:a16="http://schemas.microsoft.com/office/drawing/2014/main" id="{21C38AE6-8375-C451-2760-F24FC0F6F9EC}"/>
              </a:ext>
            </a:extLst>
          </p:cNvPr>
          <p:cNvSpPr txBox="1"/>
          <p:nvPr/>
        </p:nvSpPr>
        <p:spPr>
          <a:xfrm>
            <a:off x="725714" y="1545771"/>
            <a:ext cx="4782457" cy="369332"/>
          </a:xfrm>
          <a:prstGeom prst="rect">
            <a:avLst/>
          </a:prstGeom>
          <a:noFill/>
        </p:spPr>
        <p:txBody>
          <a:bodyPr wrap="square" rtlCol="0">
            <a:spAutoFit/>
          </a:bodyPr>
          <a:lstStyle/>
          <a:p>
            <a:r>
              <a:rPr lang="en-US" dirty="0"/>
              <a:t>AT 100mm off beam</a:t>
            </a:r>
          </a:p>
        </p:txBody>
      </p:sp>
      <p:sp>
        <p:nvSpPr>
          <p:cNvPr id="9" name="TextBox 8">
            <a:extLst>
              <a:ext uri="{FF2B5EF4-FFF2-40B4-BE49-F238E27FC236}">
                <a16:creationId xmlns:a16="http://schemas.microsoft.com/office/drawing/2014/main" id="{8B16EEAD-D3D3-7729-44F5-043CEBC72987}"/>
              </a:ext>
            </a:extLst>
          </p:cNvPr>
          <p:cNvSpPr txBox="1"/>
          <p:nvPr/>
        </p:nvSpPr>
        <p:spPr>
          <a:xfrm>
            <a:off x="7341809" y="1498430"/>
            <a:ext cx="4782457" cy="369332"/>
          </a:xfrm>
          <a:prstGeom prst="rect">
            <a:avLst/>
          </a:prstGeom>
          <a:noFill/>
        </p:spPr>
        <p:txBody>
          <a:bodyPr wrap="square" rtlCol="0">
            <a:spAutoFit/>
          </a:bodyPr>
          <a:lstStyle/>
          <a:p>
            <a:r>
              <a:rPr lang="en-US" dirty="0"/>
              <a:t>AT 50mm off beam</a:t>
            </a:r>
          </a:p>
        </p:txBody>
      </p:sp>
    </p:spTree>
    <p:extLst>
      <p:ext uri="{BB962C8B-B14F-4D97-AF65-F5344CB8AC3E}">
        <p14:creationId xmlns:p14="http://schemas.microsoft.com/office/powerpoint/2010/main" val="17936821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E3B1-A1D1-CD63-EFDA-1AE7F26FA84E}"/>
              </a:ext>
            </a:extLst>
          </p:cNvPr>
          <p:cNvSpPr>
            <a:spLocks noGrp="1"/>
          </p:cNvSpPr>
          <p:nvPr>
            <p:ph type="title"/>
          </p:nvPr>
        </p:nvSpPr>
        <p:spPr>
          <a:xfrm>
            <a:off x="458268" y="257628"/>
            <a:ext cx="1668075" cy="1447800"/>
          </a:xfrm>
        </p:spPr>
        <p:txBody>
          <a:bodyPr/>
          <a:lstStyle/>
          <a:p>
            <a:r>
              <a:rPr lang="en-US" dirty="0"/>
              <a:t>Sanity Checks</a:t>
            </a:r>
          </a:p>
        </p:txBody>
      </p:sp>
      <p:sp>
        <p:nvSpPr>
          <p:cNvPr id="4" name="Text Placeholder 3">
            <a:extLst>
              <a:ext uri="{FF2B5EF4-FFF2-40B4-BE49-F238E27FC236}">
                <a16:creationId xmlns:a16="http://schemas.microsoft.com/office/drawing/2014/main" id="{1D46CF0A-A784-9712-C2C8-FC454923D163}"/>
              </a:ext>
            </a:extLst>
          </p:cNvPr>
          <p:cNvSpPr>
            <a:spLocks noGrp="1"/>
          </p:cNvSpPr>
          <p:nvPr>
            <p:ph type="body" sz="half" idx="2"/>
          </p:nvPr>
        </p:nvSpPr>
        <p:spPr>
          <a:xfrm>
            <a:off x="399143" y="2191657"/>
            <a:ext cx="10980057" cy="4521199"/>
          </a:xfrm>
        </p:spPr>
        <p:txBody>
          <a:bodyPr>
            <a:normAutofit fontScale="55000" lnSpcReduction="20000"/>
          </a:bodyPr>
          <a:lstStyle/>
          <a:p>
            <a:pPr marL="342900" indent="-342900">
              <a:buAutoNum type="arabicPeriod"/>
            </a:pPr>
            <a:r>
              <a:rPr lang="en-US" sz="3300" dirty="0"/>
              <a:t>Under 0 scattering:</a:t>
            </a:r>
          </a:p>
          <a:p>
            <a:pPr marL="800100" lvl="1" indent="-342900">
              <a:buAutoNum type="arabicPeriod"/>
            </a:pPr>
            <a:r>
              <a:rPr lang="en-US" sz="3300" dirty="0"/>
              <a:t>Peak at zero degrees</a:t>
            </a:r>
          </a:p>
          <a:p>
            <a:pPr marL="800100" lvl="1" indent="-342900">
              <a:buAutoNum type="arabicPeriod"/>
            </a:pPr>
            <a:r>
              <a:rPr lang="en-US" sz="3300" dirty="0"/>
              <a:t>Absorption dependance must recover the beer lambert law</a:t>
            </a:r>
          </a:p>
          <a:p>
            <a:pPr marL="342900" indent="-342900">
              <a:buAutoNum type="arabicPeriod"/>
            </a:pPr>
            <a:r>
              <a:rPr lang="en-US" sz="3300" dirty="0"/>
              <a:t>Under conditions where 1 scattering event per photon on average occurs:</a:t>
            </a:r>
          </a:p>
          <a:p>
            <a:pPr marL="800100" lvl="1" indent="-342900">
              <a:buAutoNum type="arabicPeriod"/>
            </a:pPr>
            <a:r>
              <a:rPr lang="en-US" sz="3300" dirty="0"/>
              <a:t>We must recover the Fornier Forand distribution</a:t>
            </a:r>
          </a:p>
          <a:p>
            <a:pPr marL="800100" lvl="1" indent="-342900">
              <a:buAutoNum type="arabicPeriod"/>
            </a:pPr>
            <a:r>
              <a:rPr lang="en-US" sz="3300" dirty="0"/>
              <a:t>HG and FF must be close</a:t>
            </a:r>
          </a:p>
          <a:p>
            <a:pPr marL="342900" indent="-342900">
              <a:buAutoNum type="arabicPeriod"/>
            </a:pPr>
            <a:r>
              <a:rPr lang="en-US" sz="3300" dirty="0"/>
              <a:t>Under reasonable scattering:</a:t>
            </a:r>
          </a:p>
          <a:p>
            <a:pPr marL="800100" lvl="1" indent="-342900">
              <a:buAutoNum type="arabicPeriod"/>
            </a:pPr>
            <a:r>
              <a:rPr lang="en-US" sz="3300" dirty="0"/>
              <a:t>Increasing photon number must reduce std of solutions</a:t>
            </a:r>
          </a:p>
          <a:p>
            <a:pPr marL="800100" lvl="1" indent="-342900">
              <a:buAutoNum type="arabicPeriod"/>
            </a:pPr>
            <a:r>
              <a:rPr lang="en-US" sz="3300" dirty="0"/>
              <a:t>HG and FF must </a:t>
            </a:r>
            <a:r>
              <a:rPr lang="en-US" sz="3300" dirty="0" err="1"/>
              <a:t>divarge</a:t>
            </a:r>
            <a:endParaRPr lang="en-US" sz="3300" dirty="0"/>
          </a:p>
          <a:p>
            <a:pPr marL="342900" indent="-342900">
              <a:buAutoNum type="arabicPeriod"/>
            </a:pPr>
            <a:r>
              <a:rPr lang="en-US" sz="3300" dirty="0"/>
              <a:t> Under very large scattering:</a:t>
            </a:r>
          </a:p>
          <a:p>
            <a:pPr marL="800100" lvl="1" indent="-342900">
              <a:buAutoNum type="arabicPeriod"/>
            </a:pPr>
            <a:r>
              <a:rPr lang="en-US" sz="3300" dirty="0"/>
              <a:t>Source must look isotropic at a distance with no forward bias</a:t>
            </a:r>
          </a:p>
          <a:p>
            <a:pPr marL="800100" lvl="1" indent="-342900">
              <a:buAutoNum type="arabicPeriod"/>
            </a:pPr>
            <a:r>
              <a:rPr lang="en-US" sz="3300" dirty="0"/>
              <a:t>HG and FF must converge</a:t>
            </a:r>
          </a:p>
          <a:p>
            <a:pPr marL="342900" indent="-342900">
              <a:buAutoNum type="arabicPeriod"/>
            </a:pPr>
            <a:endParaRPr lang="en-US" dirty="0"/>
          </a:p>
        </p:txBody>
      </p:sp>
    </p:spTree>
    <p:extLst>
      <p:ext uri="{BB962C8B-B14F-4D97-AF65-F5344CB8AC3E}">
        <p14:creationId xmlns:p14="http://schemas.microsoft.com/office/powerpoint/2010/main" val="2081107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577E8-C58B-D8E1-A3AD-F4FA7A6F76D2}"/>
              </a:ext>
            </a:extLst>
          </p:cNvPr>
          <p:cNvSpPr>
            <a:spLocks noGrp="1"/>
          </p:cNvSpPr>
          <p:nvPr>
            <p:ph type="title"/>
          </p:nvPr>
        </p:nvSpPr>
        <p:spPr/>
        <p:txBody>
          <a:bodyPr/>
          <a:lstStyle/>
          <a:p>
            <a:r>
              <a:rPr lang="en-US" dirty="0"/>
              <a:t>Zero Scattering Check</a:t>
            </a:r>
          </a:p>
        </p:txBody>
      </p:sp>
      <p:sp>
        <p:nvSpPr>
          <p:cNvPr id="3" name="Text Placeholder 2">
            <a:extLst>
              <a:ext uri="{FF2B5EF4-FFF2-40B4-BE49-F238E27FC236}">
                <a16:creationId xmlns:a16="http://schemas.microsoft.com/office/drawing/2014/main" id="{E751E261-3E13-2E5E-33EF-D6FD51D80BED}"/>
              </a:ext>
            </a:extLst>
          </p:cNvPr>
          <p:cNvSpPr>
            <a:spLocks noGrp="1"/>
          </p:cNvSpPr>
          <p:nvPr>
            <p:ph type="body" idx="1"/>
          </p:nvPr>
        </p:nvSpPr>
        <p:spPr/>
        <p:txBody>
          <a:bodyPr/>
          <a:lstStyle/>
          <a:p>
            <a:r>
              <a:rPr lang="en-US" dirty="0"/>
              <a:t>X-Y Slice of Monte Carlo Sim</a:t>
            </a:r>
          </a:p>
        </p:txBody>
      </p:sp>
      <p:pic>
        <p:nvPicPr>
          <p:cNvPr id="8" name="Content Placeholder 7">
            <a:extLst>
              <a:ext uri="{FF2B5EF4-FFF2-40B4-BE49-F238E27FC236}">
                <a16:creationId xmlns:a16="http://schemas.microsoft.com/office/drawing/2014/main" id="{EC8ECB81-F538-BEF0-3CDD-5EF1CB03CF5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03313" y="2737049"/>
            <a:ext cx="4395787" cy="3296840"/>
          </a:xfrm>
          <a:prstGeom prst="rect">
            <a:avLst/>
          </a:prstGeom>
        </p:spPr>
      </p:pic>
      <p:sp>
        <p:nvSpPr>
          <p:cNvPr id="5" name="Text Placeholder 4">
            <a:extLst>
              <a:ext uri="{FF2B5EF4-FFF2-40B4-BE49-F238E27FC236}">
                <a16:creationId xmlns:a16="http://schemas.microsoft.com/office/drawing/2014/main" id="{2D8E22DB-48CA-CC3E-4860-A85544A96475}"/>
              </a:ext>
            </a:extLst>
          </p:cNvPr>
          <p:cNvSpPr>
            <a:spLocks noGrp="1"/>
          </p:cNvSpPr>
          <p:nvPr>
            <p:ph type="body" sz="quarter" idx="3"/>
          </p:nvPr>
        </p:nvSpPr>
        <p:spPr/>
        <p:txBody>
          <a:bodyPr/>
          <a:lstStyle/>
          <a:p>
            <a:r>
              <a:rPr lang="en-US" dirty="0"/>
              <a:t>Fluence measured at angles</a:t>
            </a:r>
          </a:p>
        </p:txBody>
      </p:sp>
      <p:pic>
        <p:nvPicPr>
          <p:cNvPr id="10" name="Content Placeholder 9">
            <a:extLst>
              <a:ext uri="{FF2B5EF4-FFF2-40B4-BE49-F238E27FC236}">
                <a16:creationId xmlns:a16="http://schemas.microsoft.com/office/drawing/2014/main" id="{AFF93458-1A9C-97F1-32B3-696333D6E3F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654675" y="2737048"/>
            <a:ext cx="4395788" cy="3296841"/>
          </a:xfrm>
          <a:prstGeom prst="rect">
            <a:avLst/>
          </a:prstGeom>
        </p:spPr>
      </p:pic>
    </p:spTree>
    <p:extLst>
      <p:ext uri="{BB962C8B-B14F-4D97-AF65-F5344CB8AC3E}">
        <p14:creationId xmlns:p14="http://schemas.microsoft.com/office/powerpoint/2010/main" val="4062619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7EC54-3F47-EEB3-F49C-6ADDCD5448FB}"/>
              </a:ext>
            </a:extLst>
          </p:cNvPr>
          <p:cNvSpPr>
            <a:spLocks noGrp="1"/>
          </p:cNvSpPr>
          <p:nvPr>
            <p:ph type="title"/>
          </p:nvPr>
        </p:nvSpPr>
        <p:spPr>
          <a:xfrm>
            <a:off x="646111" y="452718"/>
            <a:ext cx="9675342" cy="1400530"/>
          </a:xfrm>
        </p:spPr>
        <p:txBody>
          <a:bodyPr/>
          <a:lstStyle/>
          <a:p>
            <a:r>
              <a:rPr lang="en-US" dirty="0"/>
              <a:t>Absorption/Beer-Lambert Crosscheck</a:t>
            </a:r>
          </a:p>
        </p:txBody>
      </p:sp>
      <p:pic>
        <p:nvPicPr>
          <p:cNvPr id="6" name="Content Placeholder 5">
            <a:extLst>
              <a:ext uri="{FF2B5EF4-FFF2-40B4-BE49-F238E27FC236}">
                <a16:creationId xmlns:a16="http://schemas.microsoft.com/office/drawing/2014/main" id="{C9BBE854-CF5E-5F60-728F-58D0ED72869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03313" y="2510036"/>
            <a:ext cx="4395787" cy="3296840"/>
          </a:xfrm>
          <a:prstGeom prst="rect">
            <a:avLst/>
          </a:prstGeom>
        </p:spPr>
      </p:pic>
      <p:graphicFrame>
        <p:nvGraphicFramePr>
          <p:cNvPr id="7" name="Content Placeholder 6">
            <a:extLst>
              <a:ext uri="{FF2B5EF4-FFF2-40B4-BE49-F238E27FC236}">
                <a16:creationId xmlns:a16="http://schemas.microsoft.com/office/drawing/2014/main" id="{88D83059-441A-03D2-BE01-4CCFDE08CAAB}"/>
              </a:ext>
            </a:extLst>
          </p:cNvPr>
          <p:cNvGraphicFramePr>
            <a:graphicFrameLocks noGrp="1"/>
          </p:cNvGraphicFramePr>
          <p:nvPr>
            <p:ph sz="half" idx="2"/>
            <p:extLst>
              <p:ext uri="{D42A27DB-BD31-4B8C-83A1-F6EECF244321}">
                <p14:modId xmlns:p14="http://schemas.microsoft.com/office/powerpoint/2010/main" val="2131740297"/>
              </p:ext>
            </p:extLst>
          </p:nvPr>
        </p:nvGraphicFramePr>
        <p:xfrm>
          <a:off x="7212496" y="2441851"/>
          <a:ext cx="3108957" cy="3022600"/>
        </p:xfrm>
        <a:graphic>
          <a:graphicData uri="http://schemas.openxmlformats.org/drawingml/2006/table">
            <a:tbl>
              <a:tblPr firstRow="1" bandRow="1">
                <a:tableStyleId>{5C22544A-7EE6-4342-B048-85BDC9FD1C3A}</a:tableStyleId>
              </a:tblPr>
              <a:tblGrid>
                <a:gridCol w="1036319">
                  <a:extLst>
                    <a:ext uri="{9D8B030D-6E8A-4147-A177-3AD203B41FA5}">
                      <a16:colId xmlns:a16="http://schemas.microsoft.com/office/drawing/2014/main" val="1730474470"/>
                    </a:ext>
                  </a:extLst>
                </a:gridCol>
                <a:gridCol w="1040959">
                  <a:extLst>
                    <a:ext uri="{9D8B030D-6E8A-4147-A177-3AD203B41FA5}">
                      <a16:colId xmlns:a16="http://schemas.microsoft.com/office/drawing/2014/main" val="567074295"/>
                    </a:ext>
                  </a:extLst>
                </a:gridCol>
                <a:gridCol w="1031679">
                  <a:extLst>
                    <a:ext uri="{9D8B030D-6E8A-4147-A177-3AD203B41FA5}">
                      <a16:colId xmlns:a16="http://schemas.microsoft.com/office/drawing/2014/main" val="1091934216"/>
                    </a:ext>
                  </a:extLst>
                </a:gridCol>
              </a:tblGrid>
              <a:tr h="370840">
                <a:tc>
                  <a:txBody>
                    <a:bodyPr/>
                    <a:lstStyle/>
                    <a:p>
                      <a:r>
                        <a:rPr lang="en-US" sz="1100" dirty="0"/>
                        <a:t>Absorption Coeff</a:t>
                      </a:r>
                    </a:p>
                  </a:txBody>
                  <a:tcPr/>
                </a:tc>
                <a:tc>
                  <a:txBody>
                    <a:bodyPr/>
                    <a:lstStyle/>
                    <a:p>
                      <a:r>
                        <a:rPr lang="en-US" sz="1100" b="1" kern="1200" dirty="0">
                          <a:solidFill>
                            <a:schemeClr val="lt1"/>
                          </a:solidFill>
                          <a:latin typeface="+mn-lt"/>
                          <a:ea typeface="+mn-ea"/>
                          <a:cs typeface="+mn-cs"/>
                        </a:rPr>
                        <a:t>Normalized Fluence</a:t>
                      </a:r>
                    </a:p>
                  </a:txBody>
                  <a:tcPr/>
                </a:tc>
                <a:tc>
                  <a:txBody>
                    <a:bodyPr/>
                    <a:lstStyle/>
                    <a:p>
                      <a:r>
                        <a:rPr lang="en-US" sz="1100" b="1" kern="1200" dirty="0">
                          <a:solidFill>
                            <a:schemeClr val="lt1"/>
                          </a:solidFill>
                          <a:latin typeface="+mn-lt"/>
                          <a:ea typeface="+mn-ea"/>
                          <a:cs typeface="+mn-cs"/>
                        </a:rPr>
                        <a:t>Beer-Lambert</a:t>
                      </a:r>
                    </a:p>
                  </a:txBody>
                  <a:tcPr/>
                </a:tc>
                <a:extLst>
                  <a:ext uri="{0D108BD9-81ED-4DB2-BD59-A6C34878D82A}">
                    <a16:rowId xmlns:a16="http://schemas.microsoft.com/office/drawing/2014/main" val="650001899"/>
                  </a:ext>
                </a:extLst>
              </a:tr>
              <a:tr h="370840">
                <a:tc>
                  <a:txBody>
                    <a:bodyPr/>
                    <a:lstStyle/>
                    <a:p>
                      <a:r>
                        <a:rPr lang="en-US" dirty="0"/>
                        <a:t>1e-7</a:t>
                      </a:r>
                    </a:p>
                  </a:txBody>
                  <a:tcPr/>
                </a:tc>
                <a:tc>
                  <a:txBody>
                    <a:bodyPr/>
                    <a:lstStyle/>
                    <a:p>
                      <a:r>
                        <a:rPr lang="en-US" dirty="0"/>
                        <a:t>1.000</a:t>
                      </a:r>
                    </a:p>
                  </a:txBody>
                  <a:tcPr/>
                </a:tc>
                <a:tc>
                  <a:txBody>
                    <a:bodyPr/>
                    <a:lstStyle/>
                    <a:p>
                      <a:r>
                        <a:rPr lang="en-US" dirty="0"/>
                        <a:t>1.000</a:t>
                      </a:r>
                    </a:p>
                  </a:txBody>
                  <a:tcPr/>
                </a:tc>
                <a:extLst>
                  <a:ext uri="{0D108BD9-81ED-4DB2-BD59-A6C34878D82A}">
                    <a16:rowId xmlns:a16="http://schemas.microsoft.com/office/drawing/2014/main" val="665223954"/>
                  </a:ext>
                </a:extLst>
              </a:tr>
              <a:tr h="370840">
                <a:tc>
                  <a:txBody>
                    <a:bodyPr/>
                    <a:lstStyle/>
                    <a:p>
                      <a:r>
                        <a:rPr lang="en-US" dirty="0"/>
                        <a:t>1e-5</a:t>
                      </a:r>
                    </a:p>
                  </a:txBody>
                  <a:tcPr/>
                </a:tc>
                <a:tc>
                  <a:txBody>
                    <a:bodyPr/>
                    <a:lstStyle/>
                    <a:p>
                      <a:r>
                        <a:rPr lang="en-US" dirty="0"/>
                        <a:t>1.007</a:t>
                      </a:r>
                    </a:p>
                  </a:txBody>
                  <a:tcPr/>
                </a:tc>
                <a:tc>
                  <a:txBody>
                    <a:bodyPr/>
                    <a:lstStyle/>
                    <a:p>
                      <a:r>
                        <a:rPr lang="en-US" dirty="0"/>
                        <a:t>0.999</a:t>
                      </a:r>
                    </a:p>
                  </a:txBody>
                  <a:tcPr/>
                </a:tc>
                <a:extLst>
                  <a:ext uri="{0D108BD9-81ED-4DB2-BD59-A6C34878D82A}">
                    <a16:rowId xmlns:a16="http://schemas.microsoft.com/office/drawing/2014/main" val="3692346084"/>
                  </a:ext>
                </a:extLst>
              </a:tr>
              <a:tr h="370840">
                <a:tc>
                  <a:txBody>
                    <a:bodyPr/>
                    <a:lstStyle/>
                    <a:p>
                      <a:r>
                        <a:rPr lang="en-US" dirty="0"/>
                        <a:t>1e-4</a:t>
                      </a:r>
                    </a:p>
                  </a:txBody>
                  <a:tcPr/>
                </a:tc>
                <a:tc>
                  <a:txBody>
                    <a:bodyPr/>
                    <a:lstStyle/>
                    <a:p>
                      <a:r>
                        <a:rPr lang="en-US" dirty="0"/>
                        <a:t>0.990</a:t>
                      </a:r>
                    </a:p>
                  </a:txBody>
                  <a:tcPr/>
                </a:tc>
                <a:tc>
                  <a:txBody>
                    <a:bodyPr/>
                    <a:lstStyle/>
                    <a:p>
                      <a:r>
                        <a:rPr lang="en-US" dirty="0"/>
                        <a:t>0.990</a:t>
                      </a:r>
                    </a:p>
                  </a:txBody>
                  <a:tcPr/>
                </a:tc>
                <a:extLst>
                  <a:ext uri="{0D108BD9-81ED-4DB2-BD59-A6C34878D82A}">
                    <a16:rowId xmlns:a16="http://schemas.microsoft.com/office/drawing/2014/main" val="2385474528"/>
                  </a:ext>
                </a:extLst>
              </a:tr>
              <a:tr h="370840">
                <a:tc>
                  <a:txBody>
                    <a:bodyPr/>
                    <a:lstStyle/>
                    <a:p>
                      <a:r>
                        <a:rPr lang="en-US" dirty="0"/>
                        <a:t>1e-3</a:t>
                      </a:r>
                    </a:p>
                  </a:txBody>
                  <a:tcPr/>
                </a:tc>
                <a:tc>
                  <a:txBody>
                    <a:bodyPr/>
                    <a:lstStyle/>
                    <a:p>
                      <a:r>
                        <a:rPr lang="en-US" dirty="0"/>
                        <a:t>0.904</a:t>
                      </a:r>
                    </a:p>
                  </a:txBody>
                  <a:tcPr/>
                </a:tc>
                <a:tc>
                  <a:txBody>
                    <a:bodyPr/>
                    <a:lstStyle/>
                    <a:p>
                      <a:r>
                        <a:rPr lang="en-US" dirty="0"/>
                        <a:t>0.904</a:t>
                      </a:r>
                    </a:p>
                  </a:txBody>
                  <a:tcPr/>
                </a:tc>
                <a:extLst>
                  <a:ext uri="{0D108BD9-81ED-4DB2-BD59-A6C34878D82A}">
                    <a16:rowId xmlns:a16="http://schemas.microsoft.com/office/drawing/2014/main" val="1067846971"/>
                  </a:ext>
                </a:extLst>
              </a:tr>
              <a:tr h="370840">
                <a:tc>
                  <a:txBody>
                    <a:bodyPr/>
                    <a:lstStyle/>
                    <a:p>
                      <a:r>
                        <a:rPr lang="en-US" dirty="0"/>
                        <a:t>1e-2</a:t>
                      </a:r>
                    </a:p>
                  </a:txBody>
                  <a:tcPr/>
                </a:tc>
                <a:tc>
                  <a:txBody>
                    <a:bodyPr/>
                    <a:lstStyle/>
                    <a:p>
                      <a:r>
                        <a:rPr lang="en-US" dirty="0"/>
                        <a:t>0.366</a:t>
                      </a:r>
                    </a:p>
                  </a:txBody>
                  <a:tcPr/>
                </a:tc>
                <a:tc>
                  <a:txBody>
                    <a:bodyPr/>
                    <a:lstStyle/>
                    <a:p>
                      <a:r>
                        <a:rPr lang="en-US" dirty="0"/>
                        <a:t>0.367</a:t>
                      </a:r>
                    </a:p>
                  </a:txBody>
                  <a:tcPr/>
                </a:tc>
                <a:extLst>
                  <a:ext uri="{0D108BD9-81ED-4DB2-BD59-A6C34878D82A}">
                    <a16:rowId xmlns:a16="http://schemas.microsoft.com/office/drawing/2014/main" val="4090446643"/>
                  </a:ext>
                </a:extLst>
              </a:tr>
              <a:tr h="370840">
                <a:tc>
                  <a:txBody>
                    <a:bodyPr/>
                    <a:lstStyle/>
                    <a:p>
                      <a:r>
                        <a:rPr lang="en-US" dirty="0"/>
                        <a:t>0.1</a:t>
                      </a:r>
                    </a:p>
                  </a:txBody>
                  <a:tcPr/>
                </a:tc>
                <a:tc>
                  <a:txBody>
                    <a:bodyPr/>
                    <a:lstStyle/>
                    <a:p>
                      <a:r>
                        <a:rPr lang="en-US" dirty="0"/>
                        <a:t>4.32e-5</a:t>
                      </a:r>
                    </a:p>
                  </a:txBody>
                  <a:tcPr/>
                </a:tc>
                <a:tc>
                  <a:txBody>
                    <a:bodyPr/>
                    <a:lstStyle/>
                    <a:p>
                      <a:r>
                        <a:rPr lang="en-US" dirty="0"/>
                        <a:t>4.54e-5</a:t>
                      </a:r>
                    </a:p>
                  </a:txBody>
                  <a:tcPr/>
                </a:tc>
                <a:extLst>
                  <a:ext uri="{0D108BD9-81ED-4DB2-BD59-A6C34878D82A}">
                    <a16:rowId xmlns:a16="http://schemas.microsoft.com/office/drawing/2014/main" val="1206642378"/>
                  </a:ext>
                </a:extLst>
              </a:tr>
              <a:tr h="370840">
                <a:tc>
                  <a:txBody>
                    <a:bodyPr/>
                    <a:lstStyle/>
                    <a:p>
                      <a:r>
                        <a:rPr lang="en-US" dirty="0"/>
                        <a:t>0.5</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595614629"/>
                  </a:ext>
                </a:extLst>
              </a:tr>
            </a:tbl>
          </a:graphicData>
        </a:graphic>
      </p:graphicFrame>
    </p:spTree>
    <p:extLst>
      <p:ext uri="{BB962C8B-B14F-4D97-AF65-F5344CB8AC3E}">
        <p14:creationId xmlns:p14="http://schemas.microsoft.com/office/powerpoint/2010/main" val="972256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1B274C-CE28-9F6D-3076-878C5449F4C1}"/>
              </a:ext>
            </a:extLst>
          </p:cNvPr>
          <p:cNvPicPr>
            <a:picLocks noChangeAspect="1"/>
          </p:cNvPicPr>
          <p:nvPr/>
        </p:nvPicPr>
        <p:blipFill>
          <a:blip r:embed="rId2"/>
          <a:stretch>
            <a:fillRect/>
          </a:stretch>
        </p:blipFill>
        <p:spPr>
          <a:xfrm>
            <a:off x="2890814" y="1271571"/>
            <a:ext cx="6410372" cy="4314857"/>
          </a:xfrm>
          <a:prstGeom prst="rect">
            <a:avLst/>
          </a:prstGeom>
        </p:spPr>
      </p:pic>
    </p:spTree>
    <p:extLst>
      <p:ext uri="{BB962C8B-B14F-4D97-AF65-F5344CB8AC3E}">
        <p14:creationId xmlns:p14="http://schemas.microsoft.com/office/powerpoint/2010/main" val="1636505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37D191-13D4-4D46-AA31-AA8157D3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796756-8CDE-44C7-BF60-022DF3B3A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502A146-6461-45FE-B52F-8F9B510D9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2CFCEAB-ABFC-8D66-7156-C4D4613FC08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342" b="90598" l="10000" r="90000">
                        <a14:foregroundMark x1="55429" y1="8761" x2="55429" y2="8761"/>
                        <a14:foregroundMark x1="58762" y1="5342" x2="58762" y2="5342"/>
                        <a14:foregroundMark x1="32952" y1="82372" x2="32952" y2="82372"/>
                        <a14:foregroundMark x1="40762" y1="90598" x2="40762" y2="90598"/>
                      </a14:backgroundRemoval>
                    </a14:imgEffect>
                  </a14:imgLayer>
                </a14:imgProps>
              </a:ext>
            </a:extLst>
          </a:blip>
          <a:stretch>
            <a:fillRect/>
          </a:stretch>
        </p:blipFill>
        <p:spPr>
          <a:xfrm>
            <a:off x="3072504" y="1126600"/>
            <a:ext cx="5159439" cy="4604800"/>
          </a:xfrm>
          <a:prstGeom prst="rect">
            <a:avLst/>
          </a:prstGeom>
        </p:spPr>
      </p:pic>
      <p:sp>
        <p:nvSpPr>
          <p:cNvPr id="14" name="Rectangle 13">
            <a:extLst>
              <a:ext uri="{FF2B5EF4-FFF2-40B4-BE49-F238E27FC236}">
                <a16:creationId xmlns:a16="http://schemas.microsoft.com/office/drawing/2014/main" id="{95A115E8-EE09-4F41-9329-56DEEE8AB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Left Brace 3">
            <a:extLst>
              <a:ext uri="{FF2B5EF4-FFF2-40B4-BE49-F238E27FC236}">
                <a16:creationId xmlns:a16="http://schemas.microsoft.com/office/drawing/2014/main" id="{CC0281F9-AE33-C54F-6371-5A8BA4F8BBE5}"/>
              </a:ext>
            </a:extLst>
          </p:cNvPr>
          <p:cNvSpPr/>
          <p:nvPr/>
        </p:nvSpPr>
        <p:spPr>
          <a:xfrm>
            <a:off x="3634740" y="2007870"/>
            <a:ext cx="266700" cy="206121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Left Brace 5">
            <a:extLst>
              <a:ext uri="{FF2B5EF4-FFF2-40B4-BE49-F238E27FC236}">
                <a16:creationId xmlns:a16="http://schemas.microsoft.com/office/drawing/2014/main" id="{77D1CEEF-E4DF-C033-6E35-437D4DB84C17}"/>
              </a:ext>
            </a:extLst>
          </p:cNvPr>
          <p:cNvSpPr/>
          <p:nvPr/>
        </p:nvSpPr>
        <p:spPr>
          <a:xfrm rot="18917699">
            <a:off x="4243709" y="3954707"/>
            <a:ext cx="348921" cy="173124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555C0671-64F6-8017-0160-04A07EC42E40}"/>
              </a:ext>
            </a:extLst>
          </p:cNvPr>
          <p:cNvSpPr/>
          <p:nvPr/>
        </p:nvSpPr>
        <p:spPr>
          <a:xfrm rot="15111459">
            <a:off x="6104704" y="3969511"/>
            <a:ext cx="348921" cy="226585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6" name="Connector: Curved 15">
            <a:extLst>
              <a:ext uri="{FF2B5EF4-FFF2-40B4-BE49-F238E27FC236}">
                <a16:creationId xmlns:a16="http://schemas.microsoft.com/office/drawing/2014/main" id="{02529DFC-20CC-F07A-DB02-6A99A547BEE3}"/>
              </a:ext>
            </a:extLst>
          </p:cNvPr>
          <p:cNvCxnSpPr>
            <a:cxnSpLocks/>
          </p:cNvCxnSpPr>
          <p:nvPr/>
        </p:nvCxnSpPr>
        <p:spPr>
          <a:xfrm rot="5400000" flipH="1" flipV="1">
            <a:off x="5562600" y="1644650"/>
            <a:ext cx="1651000" cy="1562100"/>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CCBA14ED-B918-C490-6FC0-67843D77AB5B}"/>
              </a:ext>
            </a:extLst>
          </p:cNvPr>
          <p:cNvSpPr txBox="1"/>
          <p:nvPr/>
        </p:nvSpPr>
        <p:spPr>
          <a:xfrm>
            <a:off x="2892170" y="2907670"/>
            <a:ext cx="831851" cy="261610"/>
          </a:xfrm>
          <a:prstGeom prst="rect">
            <a:avLst/>
          </a:prstGeom>
          <a:noFill/>
        </p:spPr>
        <p:txBody>
          <a:bodyPr wrap="square" rtlCol="0">
            <a:spAutoFit/>
          </a:bodyPr>
          <a:lstStyle/>
          <a:p>
            <a:pPr algn="ctr"/>
            <a:r>
              <a:rPr lang="en-US" sz="1100" dirty="0">
                <a:solidFill>
                  <a:schemeClr val="bg1"/>
                </a:solidFill>
              </a:rPr>
              <a:t>250mm</a:t>
            </a:r>
          </a:p>
        </p:txBody>
      </p:sp>
      <p:sp>
        <p:nvSpPr>
          <p:cNvPr id="21" name="TextBox 20">
            <a:extLst>
              <a:ext uri="{FF2B5EF4-FFF2-40B4-BE49-F238E27FC236}">
                <a16:creationId xmlns:a16="http://schemas.microsoft.com/office/drawing/2014/main" id="{39AE0237-E7C1-4247-ED49-15AE6D84F59E}"/>
              </a:ext>
            </a:extLst>
          </p:cNvPr>
          <p:cNvSpPr txBox="1"/>
          <p:nvPr/>
        </p:nvSpPr>
        <p:spPr>
          <a:xfrm>
            <a:off x="3561987" y="4840828"/>
            <a:ext cx="831851" cy="261610"/>
          </a:xfrm>
          <a:prstGeom prst="rect">
            <a:avLst/>
          </a:prstGeom>
          <a:noFill/>
        </p:spPr>
        <p:txBody>
          <a:bodyPr wrap="square" rtlCol="0">
            <a:spAutoFit/>
          </a:bodyPr>
          <a:lstStyle/>
          <a:p>
            <a:pPr algn="ctr"/>
            <a:r>
              <a:rPr lang="en-US" sz="1100" dirty="0">
                <a:solidFill>
                  <a:schemeClr val="bg1"/>
                </a:solidFill>
              </a:rPr>
              <a:t>250mm</a:t>
            </a:r>
          </a:p>
        </p:txBody>
      </p:sp>
      <p:sp>
        <p:nvSpPr>
          <p:cNvPr id="23" name="TextBox 22">
            <a:extLst>
              <a:ext uri="{FF2B5EF4-FFF2-40B4-BE49-F238E27FC236}">
                <a16:creationId xmlns:a16="http://schemas.microsoft.com/office/drawing/2014/main" id="{4B17BF37-57D3-74A6-969A-C0B868A90B66}"/>
              </a:ext>
            </a:extLst>
          </p:cNvPr>
          <p:cNvSpPr txBox="1"/>
          <p:nvPr/>
        </p:nvSpPr>
        <p:spPr>
          <a:xfrm>
            <a:off x="5972174" y="5257800"/>
            <a:ext cx="831851" cy="261610"/>
          </a:xfrm>
          <a:prstGeom prst="rect">
            <a:avLst/>
          </a:prstGeom>
          <a:noFill/>
        </p:spPr>
        <p:txBody>
          <a:bodyPr wrap="square" rtlCol="0">
            <a:spAutoFit/>
          </a:bodyPr>
          <a:lstStyle/>
          <a:p>
            <a:pPr algn="ctr"/>
            <a:r>
              <a:rPr lang="en-US" sz="1100" dirty="0">
                <a:solidFill>
                  <a:schemeClr val="bg1"/>
                </a:solidFill>
              </a:rPr>
              <a:t>250mm</a:t>
            </a:r>
          </a:p>
        </p:txBody>
      </p:sp>
      <p:sp>
        <p:nvSpPr>
          <p:cNvPr id="25" name="TextBox 24">
            <a:extLst>
              <a:ext uri="{FF2B5EF4-FFF2-40B4-BE49-F238E27FC236}">
                <a16:creationId xmlns:a16="http://schemas.microsoft.com/office/drawing/2014/main" id="{5D1DAB4E-913E-4468-8737-25AA69951F3C}"/>
              </a:ext>
            </a:extLst>
          </p:cNvPr>
          <p:cNvSpPr txBox="1"/>
          <p:nvPr/>
        </p:nvSpPr>
        <p:spPr>
          <a:xfrm>
            <a:off x="6814311" y="1387691"/>
            <a:ext cx="831851" cy="261610"/>
          </a:xfrm>
          <a:prstGeom prst="rect">
            <a:avLst/>
          </a:prstGeom>
          <a:noFill/>
        </p:spPr>
        <p:txBody>
          <a:bodyPr wrap="square" rtlCol="0">
            <a:spAutoFit/>
          </a:bodyPr>
          <a:lstStyle/>
          <a:p>
            <a:pPr algn="ctr"/>
            <a:r>
              <a:rPr lang="en-US" sz="1100" dirty="0">
                <a:solidFill>
                  <a:schemeClr val="bg1"/>
                </a:solidFill>
              </a:rPr>
              <a:t>Source</a:t>
            </a:r>
          </a:p>
        </p:txBody>
      </p:sp>
    </p:spTree>
    <p:extLst>
      <p:ext uri="{BB962C8B-B14F-4D97-AF65-F5344CB8AC3E}">
        <p14:creationId xmlns:p14="http://schemas.microsoft.com/office/powerpoint/2010/main" val="2594440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37D191-13D4-4D46-AA31-AA8157D3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796756-8CDE-44C7-BF60-022DF3B3A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502A146-6461-45FE-B52F-8F9B510D9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8587B9A-4547-6171-10C9-2D4D6D6338EA}"/>
              </a:ext>
            </a:extLst>
          </p:cNvPr>
          <p:cNvPicPr>
            <a:picLocks noChangeAspect="1"/>
          </p:cNvPicPr>
          <p:nvPr/>
        </p:nvPicPr>
        <p:blipFill>
          <a:blip r:embed="rId2"/>
          <a:srcRect/>
          <a:stretch>
            <a:fillRect/>
          </a:stretch>
        </p:blipFill>
        <p:spPr>
          <a:xfrm>
            <a:off x="2647828" y="1143000"/>
            <a:ext cx="7084308" cy="4602214"/>
          </a:xfrm>
          <a:prstGeom prst="rect">
            <a:avLst/>
          </a:prstGeom>
        </p:spPr>
      </p:pic>
      <p:sp>
        <p:nvSpPr>
          <p:cNvPr id="14" name="Rectangle 13">
            <a:extLst>
              <a:ext uri="{FF2B5EF4-FFF2-40B4-BE49-F238E27FC236}">
                <a16:creationId xmlns:a16="http://schemas.microsoft.com/office/drawing/2014/main" id="{95A115E8-EE09-4F41-9329-56DEEE8AB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Left Brace 4">
            <a:extLst>
              <a:ext uri="{FF2B5EF4-FFF2-40B4-BE49-F238E27FC236}">
                <a16:creationId xmlns:a16="http://schemas.microsoft.com/office/drawing/2014/main" id="{91182A7D-3A1B-CA10-457B-75A904ECC71D}"/>
              </a:ext>
            </a:extLst>
          </p:cNvPr>
          <p:cNvSpPr/>
          <p:nvPr/>
        </p:nvSpPr>
        <p:spPr>
          <a:xfrm>
            <a:off x="2879090" y="2413502"/>
            <a:ext cx="232410" cy="238074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7936EFB9-9A34-AD74-917E-A7738C6D91C6}"/>
              </a:ext>
            </a:extLst>
          </p:cNvPr>
          <p:cNvSpPr txBox="1"/>
          <p:nvPr/>
        </p:nvSpPr>
        <p:spPr>
          <a:xfrm>
            <a:off x="2102230" y="3444107"/>
            <a:ext cx="831851" cy="430887"/>
          </a:xfrm>
          <a:prstGeom prst="rect">
            <a:avLst/>
          </a:prstGeom>
          <a:noFill/>
        </p:spPr>
        <p:txBody>
          <a:bodyPr wrap="square" rtlCol="0">
            <a:spAutoFit/>
          </a:bodyPr>
          <a:lstStyle/>
          <a:p>
            <a:pPr algn="ctr"/>
            <a:r>
              <a:rPr lang="en-US" sz="1100" dirty="0">
                <a:solidFill>
                  <a:schemeClr val="bg1"/>
                </a:solidFill>
              </a:rPr>
              <a:t>Variable </a:t>
            </a:r>
            <a:r>
              <a:rPr lang="en-US" sz="1100" dirty="0" err="1">
                <a:solidFill>
                  <a:schemeClr val="bg1"/>
                </a:solidFill>
              </a:rPr>
              <a:t>lenght</a:t>
            </a:r>
            <a:endParaRPr lang="en-US" sz="1100" dirty="0">
              <a:solidFill>
                <a:schemeClr val="bg1"/>
              </a:solidFill>
            </a:endParaRPr>
          </a:p>
        </p:txBody>
      </p:sp>
      <p:sp>
        <p:nvSpPr>
          <p:cNvPr id="11" name="Left Brace 10">
            <a:extLst>
              <a:ext uri="{FF2B5EF4-FFF2-40B4-BE49-F238E27FC236}">
                <a16:creationId xmlns:a16="http://schemas.microsoft.com/office/drawing/2014/main" id="{EE78F493-D7DA-AC7E-FB1D-92CFD2CD4D89}"/>
              </a:ext>
            </a:extLst>
          </p:cNvPr>
          <p:cNvSpPr/>
          <p:nvPr/>
        </p:nvSpPr>
        <p:spPr>
          <a:xfrm rot="18070434">
            <a:off x="3674177" y="4487545"/>
            <a:ext cx="327829" cy="1723597"/>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EF317805-2428-4D7D-B131-A8EDFE352F9B}"/>
              </a:ext>
            </a:extLst>
          </p:cNvPr>
          <p:cNvSpPr txBox="1"/>
          <p:nvPr/>
        </p:nvSpPr>
        <p:spPr>
          <a:xfrm>
            <a:off x="3189303" y="5483604"/>
            <a:ext cx="831851" cy="261610"/>
          </a:xfrm>
          <a:prstGeom prst="rect">
            <a:avLst/>
          </a:prstGeom>
          <a:noFill/>
        </p:spPr>
        <p:txBody>
          <a:bodyPr wrap="square" rtlCol="0">
            <a:spAutoFit/>
          </a:bodyPr>
          <a:lstStyle/>
          <a:p>
            <a:pPr algn="ctr"/>
            <a:r>
              <a:rPr lang="en-US" sz="1100" dirty="0">
                <a:solidFill>
                  <a:schemeClr val="bg1"/>
                </a:solidFill>
              </a:rPr>
              <a:t>30mm</a:t>
            </a:r>
          </a:p>
        </p:txBody>
      </p:sp>
      <p:sp>
        <p:nvSpPr>
          <p:cNvPr id="17" name="Left Brace 16">
            <a:extLst>
              <a:ext uri="{FF2B5EF4-FFF2-40B4-BE49-F238E27FC236}">
                <a16:creationId xmlns:a16="http://schemas.microsoft.com/office/drawing/2014/main" id="{817FC13F-B617-6FC9-0C13-F8CCA7F4BD28}"/>
              </a:ext>
            </a:extLst>
          </p:cNvPr>
          <p:cNvSpPr/>
          <p:nvPr/>
        </p:nvSpPr>
        <p:spPr>
          <a:xfrm rot="15289893">
            <a:off x="6761718" y="2906870"/>
            <a:ext cx="327829" cy="4605342"/>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34C019C-78AB-3A17-A8D5-7EC2A0A22964}"/>
              </a:ext>
            </a:extLst>
          </p:cNvPr>
          <p:cNvSpPr txBox="1"/>
          <p:nvPr/>
        </p:nvSpPr>
        <p:spPr>
          <a:xfrm>
            <a:off x="6616791" y="5385881"/>
            <a:ext cx="831851" cy="261610"/>
          </a:xfrm>
          <a:prstGeom prst="rect">
            <a:avLst/>
          </a:prstGeom>
          <a:noFill/>
        </p:spPr>
        <p:txBody>
          <a:bodyPr wrap="square" rtlCol="0">
            <a:spAutoFit/>
          </a:bodyPr>
          <a:lstStyle/>
          <a:p>
            <a:pPr algn="ctr"/>
            <a:r>
              <a:rPr lang="en-US" sz="1100" dirty="0">
                <a:solidFill>
                  <a:schemeClr val="bg1"/>
                </a:solidFill>
              </a:rPr>
              <a:t>100mm</a:t>
            </a:r>
          </a:p>
        </p:txBody>
      </p:sp>
      <p:cxnSp>
        <p:nvCxnSpPr>
          <p:cNvPr id="21" name="Connector: Curved 20">
            <a:extLst>
              <a:ext uri="{FF2B5EF4-FFF2-40B4-BE49-F238E27FC236}">
                <a16:creationId xmlns:a16="http://schemas.microsoft.com/office/drawing/2014/main" id="{FE673AFA-A224-ECC8-2CCD-81465970948C}"/>
              </a:ext>
            </a:extLst>
          </p:cNvPr>
          <p:cNvCxnSpPr>
            <a:cxnSpLocks/>
          </p:cNvCxnSpPr>
          <p:nvPr/>
        </p:nvCxnSpPr>
        <p:spPr>
          <a:xfrm rot="5400000" flipH="1" flipV="1">
            <a:off x="3712377" y="1686727"/>
            <a:ext cx="1377950" cy="76039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032AF19-96BE-F49F-C8A1-164A4CBAF944}"/>
                  </a:ext>
                </a:extLst>
              </p:cNvPr>
              <p:cNvSpPr txBox="1"/>
              <p:nvPr/>
            </p:nvSpPr>
            <p:spPr>
              <a:xfrm>
                <a:off x="3908391" y="927556"/>
                <a:ext cx="1928985" cy="445378"/>
              </a:xfrm>
              <a:prstGeom prst="rect">
                <a:avLst/>
              </a:prstGeom>
              <a:noFill/>
            </p:spPr>
            <p:txBody>
              <a:bodyPr wrap="square" rtlCol="0">
                <a:spAutoFit/>
              </a:bodyPr>
              <a:lstStyle/>
              <a:p>
                <a:pPr algn="ctr"/>
                <a:r>
                  <a:rPr lang="en-US" sz="1100" dirty="0">
                    <a:solidFill>
                      <a:schemeClr val="bg1"/>
                    </a:solidFill>
                  </a:rPr>
                  <a:t>Each square serves as a </a:t>
                </a:r>
                <a14:m>
                  <m:oMath xmlns:m="http://schemas.openxmlformats.org/officeDocument/2006/math">
                    <m:r>
                      <a:rPr lang="en-US" sz="1100" b="0" i="1" smtClean="0">
                        <a:solidFill>
                          <a:schemeClr val="bg1"/>
                        </a:solidFill>
                        <a:latin typeface="Cambria Math" panose="02040503050406030204" pitchFamily="18" charset="0"/>
                      </a:rPr>
                      <m:t>1</m:t>
                    </m:r>
                    <m:sSup>
                      <m:sSupPr>
                        <m:ctrlPr>
                          <a:rPr lang="en-US" sz="1100" b="0" i="1" smtClean="0">
                            <a:solidFill>
                              <a:schemeClr val="bg1"/>
                            </a:solidFill>
                            <a:latin typeface="Cambria Math" panose="02040503050406030204" pitchFamily="18" charset="0"/>
                          </a:rPr>
                        </m:ctrlPr>
                      </m:sSupPr>
                      <m:e>
                        <m:r>
                          <a:rPr lang="en-US" sz="1100" b="0" i="1" smtClean="0">
                            <a:solidFill>
                              <a:schemeClr val="bg1"/>
                            </a:solidFill>
                            <a:latin typeface="Cambria Math" panose="02040503050406030204" pitchFamily="18" charset="0"/>
                          </a:rPr>
                          <m:t>𝑚𝑚</m:t>
                        </m:r>
                      </m:e>
                      <m:sup>
                        <m:r>
                          <a:rPr lang="en-US" sz="1100" b="0" i="1" smtClean="0">
                            <a:solidFill>
                              <a:schemeClr val="bg1"/>
                            </a:solidFill>
                            <a:latin typeface="Cambria Math" panose="02040503050406030204" pitchFamily="18" charset="0"/>
                          </a:rPr>
                          <m:t>2</m:t>
                        </m:r>
                      </m:sup>
                    </m:sSup>
                  </m:oMath>
                </a14:m>
                <a:r>
                  <a:rPr lang="en-US" sz="1100" dirty="0">
                    <a:solidFill>
                      <a:schemeClr val="bg1"/>
                    </a:solidFill>
                  </a:rPr>
                  <a:t> detector</a:t>
                </a:r>
              </a:p>
            </p:txBody>
          </p:sp>
        </mc:Choice>
        <mc:Fallback xmlns="">
          <p:sp>
            <p:nvSpPr>
              <p:cNvPr id="27" name="TextBox 26">
                <a:extLst>
                  <a:ext uri="{FF2B5EF4-FFF2-40B4-BE49-F238E27FC236}">
                    <a16:creationId xmlns:a16="http://schemas.microsoft.com/office/drawing/2014/main" id="{9032AF19-96BE-F49F-C8A1-164A4CBAF944}"/>
                  </a:ext>
                </a:extLst>
              </p:cNvPr>
              <p:cNvSpPr txBox="1">
                <a:spLocks noRot="1" noChangeAspect="1" noMove="1" noResize="1" noEditPoints="1" noAdjustHandles="1" noChangeArrowheads="1" noChangeShapeType="1" noTextEdit="1"/>
              </p:cNvSpPr>
              <p:nvPr/>
            </p:nvSpPr>
            <p:spPr>
              <a:xfrm>
                <a:off x="3908391" y="927556"/>
                <a:ext cx="1928985" cy="445378"/>
              </a:xfrm>
              <a:prstGeom prst="rect">
                <a:avLst/>
              </a:prstGeom>
              <a:blipFill>
                <a:blip r:embed="rId4"/>
                <a:stretch>
                  <a:fillRect t="-1370" b="-5479"/>
                </a:stretch>
              </a:blipFill>
            </p:spPr>
            <p:txBody>
              <a:bodyPr/>
              <a:lstStyle/>
              <a:p>
                <a:r>
                  <a:rPr lang="en-US">
                    <a:noFill/>
                  </a:rPr>
                  <a:t> </a:t>
                </a:r>
              </a:p>
            </p:txBody>
          </p:sp>
        </mc:Fallback>
      </mc:AlternateContent>
    </p:spTree>
    <p:extLst>
      <p:ext uri="{BB962C8B-B14F-4D97-AF65-F5344CB8AC3E}">
        <p14:creationId xmlns:p14="http://schemas.microsoft.com/office/powerpoint/2010/main" val="2473605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6565BAA-2301-7451-36E9-D39A95C08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cxnSp>
        <p:nvCxnSpPr>
          <p:cNvPr id="15" name="Straight Arrow Connector 14">
            <a:extLst>
              <a:ext uri="{FF2B5EF4-FFF2-40B4-BE49-F238E27FC236}">
                <a16:creationId xmlns:a16="http://schemas.microsoft.com/office/drawing/2014/main" id="{2726CD68-6D14-CDB0-C0F5-0885DEA481F1}"/>
              </a:ext>
            </a:extLst>
          </p:cNvPr>
          <p:cNvCxnSpPr/>
          <p:nvPr/>
        </p:nvCxnSpPr>
        <p:spPr>
          <a:xfrm>
            <a:off x="2767018" y="3252786"/>
            <a:ext cx="461963"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7" name="Straight Connector 16">
            <a:extLst>
              <a:ext uri="{FF2B5EF4-FFF2-40B4-BE49-F238E27FC236}">
                <a16:creationId xmlns:a16="http://schemas.microsoft.com/office/drawing/2014/main" id="{34C4DE47-CA65-2EA4-16EC-64D3F3FE5C7A}"/>
              </a:ext>
            </a:extLst>
          </p:cNvPr>
          <p:cNvCxnSpPr>
            <a:cxnSpLocks/>
          </p:cNvCxnSpPr>
          <p:nvPr/>
        </p:nvCxnSpPr>
        <p:spPr>
          <a:xfrm>
            <a:off x="2714625" y="2624143"/>
            <a:ext cx="5657850"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C948FBA-A5C8-DB5F-CCBE-CAC1844D4B83}"/>
              </a:ext>
            </a:extLst>
          </p:cNvPr>
          <p:cNvCxnSpPr>
            <a:cxnSpLocks/>
          </p:cNvCxnSpPr>
          <p:nvPr/>
        </p:nvCxnSpPr>
        <p:spPr>
          <a:xfrm>
            <a:off x="2714625" y="2752731"/>
            <a:ext cx="5657850" cy="0"/>
          </a:xfrm>
          <a:prstGeom prst="line">
            <a:avLst/>
          </a:prstGeom>
        </p:spPr>
        <p:style>
          <a:lnRef idx="1">
            <a:schemeClr val="dk1"/>
          </a:lnRef>
          <a:fillRef idx="0">
            <a:schemeClr val="dk1"/>
          </a:fillRef>
          <a:effectRef idx="0">
            <a:schemeClr val="dk1"/>
          </a:effectRef>
          <a:fontRef idx="minor">
            <a:schemeClr val="tx1"/>
          </a:fontRef>
        </p:style>
      </p:cxnSp>
      <p:pic>
        <p:nvPicPr>
          <p:cNvPr id="22" name="Graphic 21" descr="Magnifying glass with solid fill">
            <a:extLst>
              <a:ext uri="{FF2B5EF4-FFF2-40B4-BE49-F238E27FC236}">
                <a16:creationId xmlns:a16="http://schemas.microsoft.com/office/drawing/2014/main" id="{39911F8E-0344-5EDD-10E3-9D39D8096A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606" y="2495554"/>
            <a:ext cx="457199" cy="457199"/>
          </a:xfrm>
          <a:prstGeom prst="rect">
            <a:avLst/>
          </a:prstGeom>
        </p:spPr>
      </p:pic>
      <p:pic>
        <p:nvPicPr>
          <p:cNvPr id="24" name="Graphic 23" descr="Magnifying glass with solid fill">
            <a:extLst>
              <a:ext uri="{FF2B5EF4-FFF2-40B4-BE49-F238E27FC236}">
                <a16:creationId xmlns:a16="http://schemas.microsoft.com/office/drawing/2014/main" id="{23EBFE45-F981-D5CA-7096-3BBD1E5ADC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57099" y="2495555"/>
            <a:ext cx="457199" cy="457199"/>
          </a:xfrm>
          <a:prstGeom prst="rect">
            <a:avLst/>
          </a:prstGeom>
        </p:spPr>
      </p:pic>
      <p:pic>
        <p:nvPicPr>
          <p:cNvPr id="26" name="Graphic 25" descr="Magnifying glass with solid fill">
            <a:extLst>
              <a:ext uri="{FF2B5EF4-FFF2-40B4-BE49-F238E27FC236}">
                <a16:creationId xmlns:a16="http://schemas.microsoft.com/office/drawing/2014/main" id="{EB670656-E039-CF94-5F78-DFE9814631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54496" y="2495555"/>
            <a:ext cx="457199" cy="457199"/>
          </a:xfrm>
          <a:prstGeom prst="rect">
            <a:avLst/>
          </a:prstGeom>
        </p:spPr>
      </p:pic>
      <p:cxnSp>
        <p:nvCxnSpPr>
          <p:cNvPr id="28" name="Straight Connector 27">
            <a:extLst>
              <a:ext uri="{FF2B5EF4-FFF2-40B4-BE49-F238E27FC236}">
                <a16:creationId xmlns:a16="http://schemas.microsoft.com/office/drawing/2014/main" id="{7A4EEE27-7790-816F-93F0-6BAEAF9F8021}"/>
              </a:ext>
            </a:extLst>
          </p:cNvPr>
          <p:cNvCxnSpPr>
            <a:cxnSpLocks/>
          </p:cNvCxnSpPr>
          <p:nvPr/>
        </p:nvCxnSpPr>
        <p:spPr>
          <a:xfrm>
            <a:off x="4495203" y="2686050"/>
            <a:ext cx="0" cy="2052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055ECCD-39FF-CCA8-7A12-51DBEE28A669}"/>
              </a:ext>
            </a:extLst>
          </p:cNvPr>
          <p:cNvCxnSpPr>
            <a:cxnSpLocks/>
          </p:cNvCxnSpPr>
          <p:nvPr/>
        </p:nvCxnSpPr>
        <p:spPr>
          <a:xfrm>
            <a:off x="4776183" y="2686050"/>
            <a:ext cx="0" cy="205263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53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9A481D-307C-847F-B2F1-0C2C981678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cxnSp>
        <p:nvCxnSpPr>
          <p:cNvPr id="5" name="Straight Arrow Connector 4">
            <a:extLst>
              <a:ext uri="{FF2B5EF4-FFF2-40B4-BE49-F238E27FC236}">
                <a16:creationId xmlns:a16="http://schemas.microsoft.com/office/drawing/2014/main" id="{D5E44C2C-AE89-9A7E-0DBB-47A8EE8FEDA0}"/>
              </a:ext>
            </a:extLst>
          </p:cNvPr>
          <p:cNvCxnSpPr/>
          <p:nvPr/>
        </p:nvCxnSpPr>
        <p:spPr>
          <a:xfrm>
            <a:off x="2767018" y="3252786"/>
            <a:ext cx="461963"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 name="Straight Connector 5">
            <a:extLst>
              <a:ext uri="{FF2B5EF4-FFF2-40B4-BE49-F238E27FC236}">
                <a16:creationId xmlns:a16="http://schemas.microsoft.com/office/drawing/2014/main" id="{D0F42AF4-820B-6BFD-D357-C8D6B5D6F72A}"/>
              </a:ext>
            </a:extLst>
          </p:cNvPr>
          <p:cNvCxnSpPr>
            <a:cxnSpLocks/>
          </p:cNvCxnSpPr>
          <p:nvPr/>
        </p:nvCxnSpPr>
        <p:spPr>
          <a:xfrm>
            <a:off x="2714625" y="2624143"/>
            <a:ext cx="565785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8FC9C1E3-57BF-581A-DBC1-D304040A83CB}"/>
              </a:ext>
            </a:extLst>
          </p:cNvPr>
          <p:cNvCxnSpPr>
            <a:cxnSpLocks/>
          </p:cNvCxnSpPr>
          <p:nvPr/>
        </p:nvCxnSpPr>
        <p:spPr>
          <a:xfrm>
            <a:off x="2714625" y="2752731"/>
            <a:ext cx="5657850" cy="0"/>
          </a:xfrm>
          <a:prstGeom prst="line">
            <a:avLst/>
          </a:prstGeom>
        </p:spPr>
        <p:style>
          <a:lnRef idx="1">
            <a:schemeClr val="dk1"/>
          </a:lnRef>
          <a:fillRef idx="0">
            <a:schemeClr val="dk1"/>
          </a:fillRef>
          <a:effectRef idx="0">
            <a:schemeClr val="dk1"/>
          </a:effectRef>
          <a:fontRef idx="minor">
            <a:schemeClr val="tx1"/>
          </a:fontRef>
        </p:style>
      </p:cxnSp>
      <p:pic>
        <p:nvPicPr>
          <p:cNvPr id="8" name="Graphic 7" descr="Magnifying glass with solid fill">
            <a:extLst>
              <a:ext uri="{FF2B5EF4-FFF2-40B4-BE49-F238E27FC236}">
                <a16:creationId xmlns:a16="http://schemas.microsoft.com/office/drawing/2014/main" id="{C7D21AF2-C79F-C3BD-BF02-19805959A5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606" y="2495554"/>
            <a:ext cx="457199" cy="457199"/>
          </a:xfrm>
          <a:prstGeom prst="rect">
            <a:avLst/>
          </a:prstGeom>
        </p:spPr>
      </p:pic>
      <p:pic>
        <p:nvPicPr>
          <p:cNvPr id="9" name="Graphic 8" descr="Magnifying glass with solid fill">
            <a:extLst>
              <a:ext uri="{FF2B5EF4-FFF2-40B4-BE49-F238E27FC236}">
                <a16:creationId xmlns:a16="http://schemas.microsoft.com/office/drawing/2014/main" id="{DCFD35F9-3519-E81C-26FD-65AEB3273B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7980" y="2495555"/>
            <a:ext cx="457199" cy="457199"/>
          </a:xfrm>
          <a:prstGeom prst="rect">
            <a:avLst/>
          </a:prstGeom>
        </p:spPr>
      </p:pic>
      <p:pic>
        <p:nvPicPr>
          <p:cNvPr id="10" name="Graphic 9" descr="Magnifying glass with solid fill">
            <a:extLst>
              <a:ext uri="{FF2B5EF4-FFF2-40B4-BE49-F238E27FC236}">
                <a16:creationId xmlns:a16="http://schemas.microsoft.com/office/drawing/2014/main" id="{1EB81947-DBD2-4362-A8F5-2E35026353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97147" y="2495555"/>
            <a:ext cx="457199" cy="457199"/>
          </a:xfrm>
          <a:prstGeom prst="rect">
            <a:avLst/>
          </a:prstGeom>
        </p:spPr>
      </p:pic>
      <p:cxnSp>
        <p:nvCxnSpPr>
          <p:cNvPr id="11" name="Straight Connector 10">
            <a:extLst>
              <a:ext uri="{FF2B5EF4-FFF2-40B4-BE49-F238E27FC236}">
                <a16:creationId xmlns:a16="http://schemas.microsoft.com/office/drawing/2014/main" id="{5FEC0EB9-5106-1402-D101-A1020E1D4F98}"/>
              </a:ext>
            </a:extLst>
          </p:cNvPr>
          <p:cNvCxnSpPr>
            <a:cxnSpLocks/>
          </p:cNvCxnSpPr>
          <p:nvPr/>
        </p:nvCxnSpPr>
        <p:spPr>
          <a:xfrm>
            <a:off x="3976084" y="2686050"/>
            <a:ext cx="0" cy="2052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D7B982-F4D4-8F47-A101-11DE9425D99C}"/>
              </a:ext>
            </a:extLst>
          </p:cNvPr>
          <p:cNvCxnSpPr>
            <a:cxnSpLocks/>
          </p:cNvCxnSpPr>
          <p:nvPr/>
        </p:nvCxnSpPr>
        <p:spPr>
          <a:xfrm>
            <a:off x="4257064" y="2686050"/>
            <a:ext cx="0" cy="205263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961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93928D5-FE2F-56A9-1EB2-04FB7DA64D97}"/>
              </a:ext>
            </a:extLst>
          </p:cNvPr>
          <p:cNvSpPr/>
          <p:nvPr/>
        </p:nvSpPr>
        <p:spPr>
          <a:xfrm>
            <a:off x="428625" y="2247511"/>
            <a:ext cx="2679700" cy="13623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7BCE1DC3-23C8-4AF9-DBEE-91E1C778D22E}"/>
              </a:ext>
            </a:extLst>
          </p:cNvPr>
          <p:cNvSpPr/>
          <p:nvPr/>
        </p:nvSpPr>
        <p:spPr>
          <a:xfrm>
            <a:off x="1543050" y="2476500"/>
            <a:ext cx="177800" cy="27940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E4038BC-EDA0-9FD1-51C2-5BCB77F620EF}"/>
              </a:ext>
            </a:extLst>
          </p:cNvPr>
          <p:cNvSpPr/>
          <p:nvPr/>
        </p:nvSpPr>
        <p:spPr>
          <a:xfrm rot="5400000">
            <a:off x="2371542" y="3021012"/>
            <a:ext cx="177800" cy="27940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Arrow: Bent 7">
            <a:extLst>
              <a:ext uri="{FF2B5EF4-FFF2-40B4-BE49-F238E27FC236}">
                <a16:creationId xmlns:a16="http://schemas.microsoft.com/office/drawing/2014/main" id="{76B0FFDC-9F49-5DC8-380D-393933D3E5F6}"/>
              </a:ext>
            </a:extLst>
          </p:cNvPr>
          <p:cNvSpPr/>
          <p:nvPr/>
        </p:nvSpPr>
        <p:spPr>
          <a:xfrm rot="16200000" flipV="1">
            <a:off x="1347045" y="2832713"/>
            <a:ext cx="361615" cy="385994"/>
          </a:xfrm>
          <a:prstGeom prst="bentArrow">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pic>
        <p:nvPicPr>
          <p:cNvPr id="10" name="Graphic 9" descr="Flashlight with solid fill">
            <a:extLst>
              <a:ext uri="{FF2B5EF4-FFF2-40B4-BE49-F238E27FC236}">
                <a16:creationId xmlns:a16="http://schemas.microsoft.com/office/drawing/2014/main" id="{63D2EDFB-DA38-B575-1A8F-EFD6D0FD45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700000">
            <a:off x="842385" y="2901374"/>
            <a:ext cx="518677" cy="518677"/>
          </a:xfrm>
          <a:prstGeom prst="rect">
            <a:avLst/>
          </a:prstGeom>
        </p:spPr>
      </p:pic>
      <p:sp>
        <p:nvSpPr>
          <p:cNvPr id="12" name="Arrow: Right 11">
            <a:extLst>
              <a:ext uri="{FF2B5EF4-FFF2-40B4-BE49-F238E27FC236}">
                <a16:creationId xmlns:a16="http://schemas.microsoft.com/office/drawing/2014/main" id="{799E2070-AAC8-60B5-4838-E005FE0868B2}"/>
              </a:ext>
            </a:extLst>
          </p:cNvPr>
          <p:cNvSpPr/>
          <p:nvPr/>
        </p:nvSpPr>
        <p:spPr>
          <a:xfrm>
            <a:off x="1334853" y="3071812"/>
            <a:ext cx="913047" cy="177800"/>
          </a:xfrm>
          <a:prstGeom prst="rightArrow">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Trapezoid 12">
            <a:extLst>
              <a:ext uri="{FF2B5EF4-FFF2-40B4-BE49-F238E27FC236}">
                <a16:creationId xmlns:a16="http://schemas.microsoft.com/office/drawing/2014/main" id="{999240F6-7D50-7FEF-B896-ED2E06AA7B22}"/>
              </a:ext>
            </a:extLst>
          </p:cNvPr>
          <p:cNvSpPr/>
          <p:nvPr/>
        </p:nvSpPr>
        <p:spPr>
          <a:xfrm>
            <a:off x="1489030" y="2737320"/>
            <a:ext cx="279400" cy="105007"/>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rapezoid 16">
            <a:extLst>
              <a:ext uri="{FF2B5EF4-FFF2-40B4-BE49-F238E27FC236}">
                <a16:creationId xmlns:a16="http://schemas.microsoft.com/office/drawing/2014/main" id="{653CD136-25E3-97C2-2304-E9E0AC8301A1}"/>
              </a:ext>
            </a:extLst>
          </p:cNvPr>
          <p:cNvSpPr/>
          <p:nvPr/>
        </p:nvSpPr>
        <p:spPr>
          <a:xfrm rot="5400000">
            <a:off x="2142122" y="3108209"/>
            <a:ext cx="279400" cy="105007"/>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8049443-D6DA-9B48-29F0-A2D0B0A4AA80}"/>
              </a:ext>
            </a:extLst>
          </p:cNvPr>
          <p:cNvSpPr txBox="1"/>
          <p:nvPr/>
        </p:nvSpPr>
        <p:spPr>
          <a:xfrm flipH="1">
            <a:off x="1979428" y="2887146"/>
            <a:ext cx="962027" cy="184666"/>
          </a:xfrm>
          <a:prstGeom prst="rect">
            <a:avLst/>
          </a:prstGeom>
          <a:noFill/>
        </p:spPr>
        <p:txBody>
          <a:bodyPr wrap="square" rtlCol="0">
            <a:spAutoFit/>
          </a:bodyPr>
          <a:lstStyle/>
          <a:p>
            <a:r>
              <a:rPr lang="en-US" sz="600" dirty="0">
                <a:solidFill>
                  <a:schemeClr val="bg1"/>
                </a:solidFill>
              </a:rPr>
              <a:t>Beam Line Detector</a:t>
            </a:r>
          </a:p>
        </p:txBody>
      </p:sp>
      <p:sp>
        <p:nvSpPr>
          <p:cNvPr id="20" name="TextBox 19">
            <a:extLst>
              <a:ext uri="{FF2B5EF4-FFF2-40B4-BE49-F238E27FC236}">
                <a16:creationId xmlns:a16="http://schemas.microsoft.com/office/drawing/2014/main" id="{534C194B-D7B0-E2C0-7900-C3EA08778D59}"/>
              </a:ext>
            </a:extLst>
          </p:cNvPr>
          <p:cNvSpPr txBox="1"/>
          <p:nvPr/>
        </p:nvSpPr>
        <p:spPr>
          <a:xfrm flipH="1">
            <a:off x="1102380" y="2333366"/>
            <a:ext cx="1218361" cy="184666"/>
          </a:xfrm>
          <a:prstGeom prst="rect">
            <a:avLst/>
          </a:prstGeom>
          <a:noFill/>
        </p:spPr>
        <p:txBody>
          <a:bodyPr wrap="square" rtlCol="0">
            <a:spAutoFit/>
          </a:bodyPr>
          <a:lstStyle/>
          <a:p>
            <a:r>
              <a:rPr lang="en-US" sz="600" dirty="0">
                <a:solidFill>
                  <a:schemeClr val="bg1"/>
                </a:solidFill>
              </a:rPr>
              <a:t>Off the Beam Line Detector</a:t>
            </a:r>
          </a:p>
        </p:txBody>
      </p:sp>
      <p:sp>
        <p:nvSpPr>
          <p:cNvPr id="22" name="TextBox 21">
            <a:extLst>
              <a:ext uri="{FF2B5EF4-FFF2-40B4-BE49-F238E27FC236}">
                <a16:creationId xmlns:a16="http://schemas.microsoft.com/office/drawing/2014/main" id="{FBD6792D-EF1D-74B6-DA51-B144128FF391}"/>
              </a:ext>
            </a:extLst>
          </p:cNvPr>
          <p:cNvSpPr txBox="1"/>
          <p:nvPr/>
        </p:nvSpPr>
        <p:spPr>
          <a:xfrm flipH="1">
            <a:off x="761884" y="2928678"/>
            <a:ext cx="640556" cy="184666"/>
          </a:xfrm>
          <a:prstGeom prst="rect">
            <a:avLst/>
          </a:prstGeom>
          <a:noFill/>
        </p:spPr>
        <p:txBody>
          <a:bodyPr wrap="square" rtlCol="0">
            <a:spAutoFit/>
          </a:bodyPr>
          <a:lstStyle/>
          <a:p>
            <a:r>
              <a:rPr lang="en-US" sz="600" dirty="0">
                <a:solidFill>
                  <a:schemeClr val="bg1"/>
                </a:solidFill>
              </a:rPr>
              <a:t>Light Source</a:t>
            </a:r>
          </a:p>
        </p:txBody>
      </p:sp>
    </p:spTree>
    <p:extLst>
      <p:ext uri="{BB962C8B-B14F-4D97-AF65-F5344CB8AC3E}">
        <p14:creationId xmlns:p14="http://schemas.microsoft.com/office/powerpoint/2010/main" val="2131573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543F2CCF-7C66-8710-8D35-02CA9B1E5B4C}"/>
              </a:ext>
            </a:extLst>
          </p:cNvPr>
          <p:cNvGrpSpPr/>
          <p:nvPr/>
        </p:nvGrpSpPr>
        <p:grpSpPr>
          <a:xfrm>
            <a:off x="422275" y="2254055"/>
            <a:ext cx="2519180" cy="1803789"/>
            <a:chOff x="422275" y="2254055"/>
            <a:chExt cx="2519180" cy="1803789"/>
          </a:xfrm>
        </p:grpSpPr>
        <p:sp>
          <p:nvSpPr>
            <p:cNvPr id="3" name="Rectangle 2">
              <a:extLst>
                <a:ext uri="{FF2B5EF4-FFF2-40B4-BE49-F238E27FC236}">
                  <a16:creationId xmlns:a16="http://schemas.microsoft.com/office/drawing/2014/main" id="{78CEFEE2-E6F4-EAB6-6B0A-56572145281E}"/>
                </a:ext>
              </a:extLst>
            </p:cNvPr>
            <p:cNvSpPr/>
            <p:nvPr/>
          </p:nvSpPr>
          <p:spPr>
            <a:xfrm>
              <a:off x="422275" y="2254055"/>
              <a:ext cx="2447925" cy="180378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CE18682A-2059-3BF3-6B41-1C918CF28CC0}"/>
                </a:ext>
              </a:extLst>
            </p:cNvPr>
            <p:cNvSpPr/>
            <p:nvPr/>
          </p:nvSpPr>
          <p:spPr>
            <a:xfrm>
              <a:off x="1543050" y="2476500"/>
              <a:ext cx="177800" cy="27940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EDD1C9B8-7814-761A-5475-B8676EDAA114}"/>
                </a:ext>
              </a:extLst>
            </p:cNvPr>
            <p:cNvSpPr/>
            <p:nvPr/>
          </p:nvSpPr>
          <p:spPr>
            <a:xfrm rot="5400000">
              <a:off x="2371542" y="3021012"/>
              <a:ext cx="177800" cy="27940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9" name="Arrow: Bent 8">
              <a:extLst>
                <a:ext uri="{FF2B5EF4-FFF2-40B4-BE49-F238E27FC236}">
                  <a16:creationId xmlns:a16="http://schemas.microsoft.com/office/drawing/2014/main" id="{05D96BFF-93A7-FCBE-39C1-6D0812CC75C4}"/>
                </a:ext>
              </a:extLst>
            </p:cNvPr>
            <p:cNvSpPr/>
            <p:nvPr/>
          </p:nvSpPr>
          <p:spPr>
            <a:xfrm rot="16200000" flipV="1">
              <a:off x="1347045" y="2832713"/>
              <a:ext cx="361615" cy="385994"/>
            </a:xfrm>
            <a:prstGeom prst="bentArrow">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pic>
          <p:nvPicPr>
            <p:cNvPr id="11" name="Graphic 10" descr="Flashlight with solid fill">
              <a:extLst>
                <a:ext uri="{FF2B5EF4-FFF2-40B4-BE49-F238E27FC236}">
                  <a16:creationId xmlns:a16="http://schemas.microsoft.com/office/drawing/2014/main" id="{EE4C366C-0BAD-CE8C-1578-D1C864E656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700000">
              <a:off x="842385" y="2901374"/>
              <a:ext cx="518677" cy="518677"/>
            </a:xfrm>
            <a:prstGeom prst="rect">
              <a:avLst/>
            </a:prstGeom>
          </p:spPr>
        </p:pic>
        <p:sp>
          <p:nvSpPr>
            <p:cNvPr id="13" name="Arrow: Right 12">
              <a:extLst>
                <a:ext uri="{FF2B5EF4-FFF2-40B4-BE49-F238E27FC236}">
                  <a16:creationId xmlns:a16="http://schemas.microsoft.com/office/drawing/2014/main" id="{78CBA959-807B-20AA-1177-65F8811B3440}"/>
                </a:ext>
              </a:extLst>
            </p:cNvPr>
            <p:cNvSpPr/>
            <p:nvPr/>
          </p:nvSpPr>
          <p:spPr>
            <a:xfrm>
              <a:off x="1334853" y="3071812"/>
              <a:ext cx="913047" cy="177800"/>
            </a:xfrm>
            <a:prstGeom prst="rightArrow">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Trapezoid 14">
              <a:extLst>
                <a:ext uri="{FF2B5EF4-FFF2-40B4-BE49-F238E27FC236}">
                  <a16:creationId xmlns:a16="http://schemas.microsoft.com/office/drawing/2014/main" id="{9E918602-34A7-39B5-85DC-7BB68CE43956}"/>
                </a:ext>
              </a:extLst>
            </p:cNvPr>
            <p:cNvSpPr/>
            <p:nvPr/>
          </p:nvSpPr>
          <p:spPr>
            <a:xfrm>
              <a:off x="1489030" y="2737320"/>
              <a:ext cx="279400" cy="105007"/>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rapezoid 16">
              <a:extLst>
                <a:ext uri="{FF2B5EF4-FFF2-40B4-BE49-F238E27FC236}">
                  <a16:creationId xmlns:a16="http://schemas.microsoft.com/office/drawing/2014/main" id="{4F0E34AA-E366-DB82-1CF4-CA9C7A0DA43F}"/>
                </a:ext>
              </a:extLst>
            </p:cNvPr>
            <p:cNvSpPr/>
            <p:nvPr/>
          </p:nvSpPr>
          <p:spPr>
            <a:xfrm rot="5400000">
              <a:off x="2142122" y="3108209"/>
              <a:ext cx="279400" cy="105007"/>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00BA997-9CA1-3F5B-53C2-52FE1083E497}"/>
                </a:ext>
              </a:extLst>
            </p:cNvPr>
            <p:cNvSpPr txBox="1"/>
            <p:nvPr/>
          </p:nvSpPr>
          <p:spPr>
            <a:xfrm flipH="1">
              <a:off x="1979428" y="2887146"/>
              <a:ext cx="962027" cy="184666"/>
            </a:xfrm>
            <a:prstGeom prst="rect">
              <a:avLst/>
            </a:prstGeom>
            <a:noFill/>
          </p:spPr>
          <p:txBody>
            <a:bodyPr wrap="square" rtlCol="0">
              <a:spAutoFit/>
            </a:bodyPr>
            <a:lstStyle/>
            <a:p>
              <a:r>
                <a:rPr lang="en-US" sz="600" dirty="0">
                  <a:solidFill>
                    <a:schemeClr val="bg1"/>
                  </a:solidFill>
                </a:rPr>
                <a:t>Beam Line Detector</a:t>
              </a:r>
            </a:p>
          </p:txBody>
        </p:sp>
        <p:sp>
          <p:nvSpPr>
            <p:cNvPr id="21" name="TextBox 20">
              <a:extLst>
                <a:ext uri="{FF2B5EF4-FFF2-40B4-BE49-F238E27FC236}">
                  <a16:creationId xmlns:a16="http://schemas.microsoft.com/office/drawing/2014/main" id="{88DB975E-2D67-7407-BC7E-C35B94137F48}"/>
                </a:ext>
              </a:extLst>
            </p:cNvPr>
            <p:cNvSpPr txBox="1"/>
            <p:nvPr/>
          </p:nvSpPr>
          <p:spPr>
            <a:xfrm flipH="1">
              <a:off x="1102380" y="2333366"/>
              <a:ext cx="1218361" cy="184666"/>
            </a:xfrm>
            <a:prstGeom prst="rect">
              <a:avLst/>
            </a:prstGeom>
            <a:noFill/>
          </p:spPr>
          <p:txBody>
            <a:bodyPr wrap="square" rtlCol="0">
              <a:spAutoFit/>
            </a:bodyPr>
            <a:lstStyle/>
            <a:p>
              <a:r>
                <a:rPr lang="en-US" sz="600" dirty="0">
                  <a:solidFill>
                    <a:schemeClr val="bg1"/>
                  </a:solidFill>
                </a:rPr>
                <a:t>Off the Beam Line Detector</a:t>
              </a:r>
            </a:p>
          </p:txBody>
        </p:sp>
        <p:sp>
          <p:nvSpPr>
            <p:cNvPr id="23" name="TextBox 22">
              <a:extLst>
                <a:ext uri="{FF2B5EF4-FFF2-40B4-BE49-F238E27FC236}">
                  <a16:creationId xmlns:a16="http://schemas.microsoft.com/office/drawing/2014/main" id="{32407710-A1AD-D399-6E30-A411FADE02D4}"/>
                </a:ext>
              </a:extLst>
            </p:cNvPr>
            <p:cNvSpPr txBox="1"/>
            <p:nvPr/>
          </p:nvSpPr>
          <p:spPr>
            <a:xfrm flipH="1">
              <a:off x="761884" y="2928678"/>
              <a:ext cx="640556" cy="184666"/>
            </a:xfrm>
            <a:prstGeom prst="rect">
              <a:avLst/>
            </a:prstGeom>
            <a:noFill/>
          </p:spPr>
          <p:txBody>
            <a:bodyPr wrap="square" rtlCol="0">
              <a:spAutoFit/>
            </a:bodyPr>
            <a:lstStyle/>
            <a:p>
              <a:r>
                <a:rPr lang="en-US" sz="600" dirty="0">
                  <a:solidFill>
                    <a:schemeClr val="bg1"/>
                  </a:solidFill>
                </a:rPr>
                <a:t>Light Source</a:t>
              </a:r>
            </a:p>
          </p:txBody>
        </p:sp>
        <p:sp>
          <p:nvSpPr>
            <p:cNvPr id="24" name="Left Brace 23">
              <a:extLst>
                <a:ext uri="{FF2B5EF4-FFF2-40B4-BE49-F238E27FC236}">
                  <a16:creationId xmlns:a16="http://schemas.microsoft.com/office/drawing/2014/main" id="{940DC2C5-F385-E6A4-FBA5-548D1471B8E6}"/>
                </a:ext>
              </a:extLst>
            </p:cNvPr>
            <p:cNvSpPr/>
            <p:nvPr/>
          </p:nvSpPr>
          <p:spPr>
            <a:xfrm>
              <a:off x="687383" y="2476500"/>
              <a:ext cx="93299" cy="6794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Left Brace 25">
              <a:extLst>
                <a:ext uri="{FF2B5EF4-FFF2-40B4-BE49-F238E27FC236}">
                  <a16:creationId xmlns:a16="http://schemas.microsoft.com/office/drawing/2014/main" id="{D577B799-758C-701C-4B2A-577949E84DE6}"/>
                </a:ext>
              </a:extLst>
            </p:cNvPr>
            <p:cNvSpPr/>
            <p:nvPr/>
          </p:nvSpPr>
          <p:spPr>
            <a:xfrm rot="16200000">
              <a:off x="1208293" y="2969954"/>
              <a:ext cx="93299" cy="6794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8" name="TextBox 27">
              <a:extLst>
                <a:ext uri="{FF2B5EF4-FFF2-40B4-BE49-F238E27FC236}">
                  <a16:creationId xmlns:a16="http://schemas.microsoft.com/office/drawing/2014/main" id="{91A14923-249E-CFD9-209D-8DEDFB22F0FB}"/>
                </a:ext>
              </a:extLst>
            </p:cNvPr>
            <p:cNvSpPr txBox="1"/>
            <p:nvPr/>
          </p:nvSpPr>
          <p:spPr>
            <a:xfrm rot="16200000" flipH="1">
              <a:off x="308585" y="2723892"/>
              <a:ext cx="640556" cy="184666"/>
            </a:xfrm>
            <a:prstGeom prst="rect">
              <a:avLst/>
            </a:prstGeom>
            <a:noFill/>
          </p:spPr>
          <p:txBody>
            <a:bodyPr wrap="square" rtlCol="0">
              <a:spAutoFit/>
            </a:bodyPr>
            <a:lstStyle/>
            <a:p>
              <a:pPr algn="ctr"/>
              <a:r>
                <a:rPr lang="en-US" sz="600" dirty="0">
                  <a:solidFill>
                    <a:schemeClr val="bg1"/>
                  </a:solidFill>
                </a:rPr>
                <a:t>15mm</a:t>
              </a:r>
            </a:p>
          </p:txBody>
        </p:sp>
        <p:sp>
          <p:nvSpPr>
            <p:cNvPr id="30" name="TextBox 29">
              <a:extLst>
                <a:ext uri="{FF2B5EF4-FFF2-40B4-BE49-F238E27FC236}">
                  <a16:creationId xmlns:a16="http://schemas.microsoft.com/office/drawing/2014/main" id="{6157834D-C66F-BFC9-1221-2543514059C8}"/>
                </a:ext>
              </a:extLst>
            </p:cNvPr>
            <p:cNvSpPr txBox="1"/>
            <p:nvPr/>
          </p:nvSpPr>
          <p:spPr>
            <a:xfrm flipH="1">
              <a:off x="915217" y="3317006"/>
              <a:ext cx="640556" cy="184666"/>
            </a:xfrm>
            <a:prstGeom prst="rect">
              <a:avLst/>
            </a:prstGeom>
            <a:noFill/>
          </p:spPr>
          <p:txBody>
            <a:bodyPr wrap="square" rtlCol="0">
              <a:spAutoFit/>
            </a:bodyPr>
            <a:lstStyle/>
            <a:p>
              <a:pPr algn="ctr"/>
              <a:r>
                <a:rPr lang="en-US" sz="600" dirty="0">
                  <a:solidFill>
                    <a:schemeClr val="bg1"/>
                  </a:solidFill>
                </a:rPr>
                <a:t>75.5mm</a:t>
              </a:r>
            </a:p>
          </p:txBody>
        </p:sp>
      </p:grpSp>
    </p:spTree>
    <p:extLst>
      <p:ext uri="{BB962C8B-B14F-4D97-AF65-F5344CB8AC3E}">
        <p14:creationId xmlns:p14="http://schemas.microsoft.com/office/powerpoint/2010/main" val="1053671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B7A506-8321-BE3B-28AC-188C3776C8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499" y="1919301"/>
            <a:ext cx="10658475" cy="3019398"/>
          </a:xfrm>
          <a:prstGeom prst="rect">
            <a:avLst/>
          </a:prstGeom>
        </p:spPr>
      </p:pic>
      <p:sp>
        <p:nvSpPr>
          <p:cNvPr id="4" name="Oval 3">
            <a:extLst>
              <a:ext uri="{FF2B5EF4-FFF2-40B4-BE49-F238E27FC236}">
                <a16:creationId xmlns:a16="http://schemas.microsoft.com/office/drawing/2014/main" id="{BC043817-0EA5-C7AA-70BB-F9004AC3674D}"/>
              </a:ext>
            </a:extLst>
          </p:cNvPr>
          <p:cNvSpPr/>
          <p:nvPr/>
        </p:nvSpPr>
        <p:spPr>
          <a:xfrm>
            <a:off x="2711450" y="2520950"/>
            <a:ext cx="355600" cy="355600"/>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FB80D1D1-6E93-3912-E999-1BF513CFAC1A}"/>
              </a:ext>
            </a:extLst>
          </p:cNvPr>
          <p:cNvCxnSpPr/>
          <p:nvPr/>
        </p:nvCxnSpPr>
        <p:spPr>
          <a:xfrm>
            <a:off x="2889250" y="2876550"/>
            <a:ext cx="0" cy="14668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8B205F4A-E26A-7F96-CC0B-6FC9F31C3B9D}"/>
              </a:ext>
            </a:extLst>
          </p:cNvPr>
          <p:cNvSpPr txBox="1"/>
          <p:nvPr/>
        </p:nvSpPr>
        <p:spPr>
          <a:xfrm>
            <a:off x="2603504" y="4343400"/>
            <a:ext cx="571491" cy="246221"/>
          </a:xfrm>
          <a:prstGeom prst="rect">
            <a:avLst/>
          </a:prstGeom>
          <a:noFill/>
        </p:spPr>
        <p:txBody>
          <a:bodyPr wrap="square" rtlCol="0">
            <a:spAutoFit/>
          </a:bodyPr>
          <a:lstStyle/>
          <a:p>
            <a:r>
              <a:rPr lang="en-US" sz="1000" dirty="0">
                <a:solidFill>
                  <a:schemeClr val="bg1"/>
                </a:solidFill>
              </a:rPr>
              <a:t>75mm</a:t>
            </a:r>
          </a:p>
        </p:txBody>
      </p:sp>
    </p:spTree>
    <p:extLst>
      <p:ext uri="{BB962C8B-B14F-4D97-AF65-F5344CB8AC3E}">
        <p14:creationId xmlns:p14="http://schemas.microsoft.com/office/powerpoint/2010/main" val="1655192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3FD87CF-E1DE-91E2-F3BD-CD9EB43D2004}"/>
              </a:ext>
            </a:extLst>
          </p:cNvPr>
          <p:cNvGrpSpPr/>
          <p:nvPr/>
        </p:nvGrpSpPr>
        <p:grpSpPr>
          <a:xfrm>
            <a:off x="0" y="1702088"/>
            <a:ext cx="12192000" cy="3453824"/>
            <a:chOff x="0" y="1702088"/>
            <a:chExt cx="12192000" cy="3453824"/>
          </a:xfrm>
        </p:grpSpPr>
        <p:pic>
          <p:nvPicPr>
            <p:cNvPr id="3" name="Picture 2">
              <a:extLst>
                <a:ext uri="{FF2B5EF4-FFF2-40B4-BE49-F238E27FC236}">
                  <a16:creationId xmlns:a16="http://schemas.microsoft.com/office/drawing/2014/main" id="{2C8BE4B1-5691-A9A5-43B6-DABCA5E682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2088"/>
              <a:ext cx="12192000" cy="3453824"/>
            </a:xfrm>
            <a:prstGeom prst="rect">
              <a:avLst/>
            </a:prstGeom>
          </p:spPr>
        </p:pic>
        <p:sp>
          <p:nvSpPr>
            <p:cNvPr id="4" name="Oval 3">
              <a:extLst>
                <a:ext uri="{FF2B5EF4-FFF2-40B4-BE49-F238E27FC236}">
                  <a16:creationId xmlns:a16="http://schemas.microsoft.com/office/drawing/2014/main" id="{968A4776-C05F-648E-7C33-3BA3B5C233C7}"/>
                </a:ext>
              </a:extLst>
            </p:cNvPr>
            <p:cNvSpPr/>
            <p:nvPr/>
          </p:nvSpPr>
          <p:spPr>
            <a:xfrm>
              <a:off x="2000249" y="3232150"/>
              <a:ext cx="355600" cy="355600"/>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A2DFD35E-59A2-EDF0-533C-59C64393E960}"/>
                </a:ext>
              </a:extLst>
            </p:cNvPr>
            <p:cNvCxnSpPr>
              <a:cxnSpLocks/>
            </p:cNvCxnSpPr>
            <p:nvPr/>
          </p:nvCxnSpPr>
          <p:spPr>
            <a:xfrm>
              <a:off x="2178050" y="3429000"/>
              <a:ext cx="0" cy="10223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9241EDA1-5AC1-92E5-E34B-696DC169A0BF}"/>
                </a:ext>
              </a:extLst>
            </p:cNvPr>
            <p:cNvSpPr txBox="1"/>
            <p:nvPr/>
          </p:nvSpPr>
          <p:spPr>
            <a:xfrm>
              <a:off x="1797055" y="4525089"/>
              <a:ext cx="666740" cy="246221"/>
            </a:xfrm>
            <a:prstGeom prst="rect">
              <a:avLst/>
            </a:prstGeom>
            <a:noFill/>
          </p:spPr>
          <p:txBody>
            <a:bodyPr wrap="square" rtlCol="0">
              <a:spAutoFit/>
            </a:bodyPr>
            <a:lstStyle/>
            <a:p>
              <a:r>
                <a:rPr lang="en-US" sz="1000" dirty="0">
                  <a:solidFill>
                    <a:schemeClr val="bg1"/>
                  </a:solidFill>
                </a:rPr>
                <a:t>75.5mm</a:t>
              </a:r>
            </a:p>
          </p:txBody>
        </p:sp>
      </p:grpSp>
    </p:spTree>
    <p:extLst>
      <p:ext uri="{BB962C8B-B14F-4D97-AF65-F5344CB8AC3E}">
        <p14:creationId xmlns:p14="http://schemas.microsoft.com/office/powerpoint/2010/main" val="201324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46802E7D-E23E-4C4B-DFB8-D6359F278899}"/>
              </a:ext>
            </a:extLst>
          </p:cNvPr>
          <p:cNvGrpSpPr/>
          <p:nvPr/>
        </p:nvGrpSpPr>
        <p:grpSpPr>
          <a:xfrm>
            <a:off x="1524000" y="1313542"/>
            <a:ext cx="9144000" cy="3955144"/>
            <a:chOff x="1524000" y="1313542"/>
            <a:chExt cx="9144000" cy="3955144"/>
          </a:xfrm>
        </p:grpSpPr>
        <p:pic>
          <p:nvPicPr>
            <p:cNvPr id="33" name="Picture 32">
              <a:extLst>
                <a:ext uri="{FF2B5EF4-FFF2-40B4-BE49-F238E27FC236}">
                  <a16:creationId xmlns:a16="http://schemas.microsoft.com/office/drawing/2014/main" id="{B471F65A-0FBB-5D3D-D317-34339D0DFD60}"/>
                </a:ext>
              </a:extLst>
            </p:cNvPr>
            <p:cNvPicPr>
              <a:picLocks noChangeAspect="1"/>
            </p:cNvPicPr>
            <p:nvPr/>
          </p:nvPicPr>
          <p:blipFill>
            <a:blip r:embed="rId2">
              <a:extLst>
                <a:ext uri="{28A0092B-C50C-407E-A947-70E740481C1C}">
                  <a14:useLocalDpi xmlns:a14="http://schemas.microsoft.com/office/drawing/2010/main" val="0"/>
                </a:ext>
              </a:extLst>
            </a:blip>
            <a:srcRect t="19154" b="23175"/>
            <a:stretch>
              <a:fillRect/>
            </a:stretch>
          </p:blipFill>
          <p:spPr>
            <a:xfrm>
              <a:off x="1524000" y="1313542"/>
              <a:ext cx="9144000" cy="3955144"/>
            </a:xfrm>
            <a:prstGeom prst="rect">
              <a:avLst/>
            </a:prstGeom>
          </p:spPr>
        </p:pic>
        <p:cxnSp>
          <p:nvCxnSpPr>
            <p:cNvPr id="5" name="Straight Connector 4">
              <a:extLst>
                <a:ext uri="{FF2B5EF4-FFF2-40B4-BE49-F238E27FC236}">
                  <a16:creationId xmlns:a16="http://schemas.microsoft.com/office/drawing/2014/main" id="{0A78F476-65E3-CC67-B54B-6DC457479E0A}"/>
                </a:ext>
              </a:extLst>
            </p:cNvPr>
            <p:cNvCxnSpPr/>
            <p:nvPr/>
          </p:nvCxnSpPr>
          <p:spPr>
            <a:xfrm>
              <a:off x="2709863" y="2957512"/>
              <a:ext cx="5667375" cy="0"/>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1CF5EDF9-03F4-E2B6-9CF8-1A7E226609C9}"/>
                </a:ext>
              </a:extLst>
            </p:cNvPr>
            <p:cNvCxnSpPr/>
            <p:nvPr/>
          </p:nvCxnSpPr>
          <p:spPr>
            <a:xfrm>
              <a:off x="2709863" y="3128962"/>
              <a:ext cx="566737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01339EB0-4AE0-76B3-AF4F-2D795D8624C0}"/>
                </a:ext>
              </a:extLst>
            </p:cNvPr>
            <p:cNvCxnSpPr>
              <a:cxnSpLocks/>
            </p:cNvCxnSpPr>
            <p:nvPr/>
          </p:nvCxnSpPr>
          <p:spPr>
            <a:xfrm>
              <a:off x="1866900" y="2738438"/>
              <a:ext cx="842963" cy="561975"/>
            </a:xfrm>
            <a:prstGeom prst="curvedConnector3">
              <a:avLst>
                <a:gd name="adj1" fmla="val 7033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CBFCA810-AA08-55FD-DFC8-6C936D7BDC9B}"/>
                </a:ext>
              </a:extLst>
            </p:cNvPr>
            <p:cNvSpPr txBox="1"/>
            <p:nvPr/>
          </p:nvSpPr>
          <p:spPr>
            <a:xfrm>
              <a:off x="1524000" y="2519691"/>
              <a:ext cx="831851" cy="261610"/>
            </a:xfrm>
            <a:prstGeom prst="rect">
              <a:avLst/>
            </a:prstGeom>
            <a:noFill/>
          </p:spPr>
          <p:txBody>
            <a:bodyPr wrap="square" rtlCol="0">
              <a:spAutoFit/>
            </a:bodyPr>
            <a:lstStyle/>
            <a:p>
              <a:pPr algn="ctr"/>
              <a:r>
                <a:rPr lang="en-US" sz="1100" dirty="0">
                  <a:solidFill>
                    <a:schemeClr val="bg1"/>
                  </a:solidFill>
                </a:rPr>
                <a:t>Source</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516EC1C-D738-CA04-DAC2-D35F36A5D587}"/>
                    </a:ext>
                  </a:extLst>
                </p:cNvPr>
                <p:cNvSpPr txBox="1"/>
                <p:nvPr/>
              </p:nvSpPr>
              <p:spPr>
                <a:xfrm>
                  <a:off x="8558213" y="1687297"/>
                  <a:ext cx="1371600" cy="43088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100" dirty="0">
                      <a:solidFill>
                        <a:schemeClr val="bg1"/>
                      </a:solidFill>
                    </a:rPr>
                    <a:t>Measurement at distance </a:t>
                  </a:r>
                  <a14:m>
                    <m:oMath xmlns:m="http://schemas.openxmlformats.org/officeDocument/2006/math">
                      <m:r>
                        <m:rPr>
                          <m:sty m:val="p"/>
                        </m:rPr>
                        <a:rPr lang="en-US" sz="1100">
                          <a:solidFill>
                            <a:schemeClr val="bg1"/>
                          </a:solidFill>
                          <a:latin typeface="Cambria Math" panose="02040503050406030204" pitchFamily="18" charset="0"/>
                          <a:ea typeface="Cambria Math" panose="02040503050406030204" pitchFamily="18" charset="0"/>
                        </a:rPr>
                        <m:t>d</m:t>
                      </m:r>
                      <m:r>
                        <a:rPr lang="en-US" sz="1100" i="1" smtClean="0">
                          <a:solidFill>
                            <a:schemeClr val="bg1"/>
                          </a:solidFill>
                          <a:latin typeface="Cambria Math" panose="02040503050406030204" pitchFamily="18" charset="0"/>
                          <a:ea typeface="Cambria Math" panose="02040503050406030204" pitchFamily="18" charset="0"/>
                        </a:rPr>
                        <m:t>≈</m:t>
                      </m:r>
                      <m:r>
                        <a:rPr lang="en-US" sz="1100" b="0" i="0" smtClean="0">
                          <a:solidFill>
                            <a:schemeClr val="bg1"/>
                          </a:solidFill>
                          <a:latin typeface="Cambria Math" panose="02040503050406030204" pitchFamily="18" charset="0"/>
                          <a:ea typeface="Cambria Math" panose="02040503050406030204" pitchFamily="18" charset="0"/>
                        </a:rPr>
                        <m:t>5</m:t>
                      </m:r>
                    </m:oMath>
                  </a14:m>
                  <a:endParaRPr lang="en-US" sz="1100" dirty="0">
                    <a:solidFill>
                      <a:schemeClr val="bg1"/>
                    </a:solidFill>
                  </a:endParaRPr>
                </a:p>
              </p:txBody>
            </p:sp>
          </mc:Choice>
          <mc:Fallback xmlns="">
            <p:sp>
              <p:nvSpPr>
                <p:cNvPr id="29" name="TextBox 28">
                  <a:extLst>
                    <a:ext uri="{FF2B5EF4-FFF2-40B4-BE49-F238E27FC236}">
                      <a16:creationId xmlns:a16="http://schemas.microsoft.com/office/drawing/2014/main" id="{E516EC1C-D738-CA04-DAC2-D35F36A5D587}"/>
                    </a:ext>
                  </a:extLst>
                </p:cNvPr>
                <p:cNvSpPr txBox="1">
                  <a:spLocks noRot="1" noChangeAspect="1" noMove="1" noResize="1" noEditPoints="1" noAdjustHandles="1" noChangeArrowheads="1" noChangeShapeType="1" noTextEdit="1"/>
                </p:cNvSpPr>
                <p:nvPr/>
              </p:nvSpPr>
              <p:spPr>
                <a:xfrm>
                  <a:off x="8558213" y="1687297"/>
                  <a:ext cx="1371600" cy="430887"/>
                </a:xfrm>
                <a:prstGeom prst="rect">
                  <a:avLst/>
                </a:prstGeom>
                <a:blipFill>
                  <a:blip r:embed="rId3"/>
                  <a:stretch>
                    <a:fillRect b="-68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4162831-4917-407E-4AA4-94F091851993}"/>
                    </a:ext>
                  </a:extLst>
                </p:cNvPr>
                <p:cNvSpPr txBox="1"/>
                <p:nvPr/>
              </p:nvSpPr>
              <p:spPr>
                <a:xfrm>
                  <a:off x="8624887" y="4520985"/>
                  <a:ext cx="1371600" cy="43088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100" dirty="0">
                      <a:solidFill>
                        <a:schemeClr val="bg1"/>
                      </a:solidFill>
                    </a:rPr>
                    <a:t>Measurement at distance </a:t>
                  </a:r>
                  <a14:m>
                    <m:oMath xmlns:m="http://schemas.openxmlformats.org/officeDocument/2006/math">
                      <m:r>
                        <m:rPr>
                          <m:sty m:val="p"/>
                        </m:rPr>
                        <a:rPr lang="en-US" sz="1100">
                          <a:solidFill>
                            <a:schemeClr val="bg1"/>
                          </a:solidFill>
                          <a:latin typeface="Cambria Math" panose="02040503050406030204" pitchFamily="18" charset="0"/>
                          <a:ea typeface="Cambria Math" panose="02040503050406030204" pitchFamily="18" charset="0"/>
                        </a:rPr>
                        <m:t>d</m:t>
                      </m:r>
                      <m:r>
                        <a:rPr lang="en-US" sz="1100" i="1" smtClean="0">
                          <a:solidFill>
                            <a:schemeClr val="bg1"/>
                          </a:solidFill>
                          <a:latin typeface="Cambria Math" panose="02040503050406030204" pitchFamily="18" charset="0"/>
                          <a:ea typeface="Cambria Math" panose="02040503050406030204" pitchFamily="18" charset="0"/>
                        </a:rPr>
                        <m:t>≈</m:t>
                      </m:r>
                      <m:r>
                        <a:rPr lang="en-US" sz="1100" b="0" i="0" smtClean="0">
                          <a:solidFill>
                            <a:schemeClr val="bg1"/>
                          </a:solidFill>
                          <a:latin typeface="Cambria Math" panose="02040503050406030204" pitchFamily="18" charset="0"/>
                          <a:ea typeface="Cambria Math" panose="02040503050406030204" pitchFamily="18" charset="0"/>
                        </a:rPr>
                        <m:t>2.5</m:t>
                      </m:r>
                    </m:oMath>
                  </a14:m>
                  <a:endParaRPr lang="en-US" sz="1100" dirty="0">
                    <a:solidFill>
                      <a:schemeClr val="bg1"/>
                    </a:solidFill>
                  </a:endParaRPr>
                </a:p>
              </p:txBody>
            </p:sp>
          </mc:Choice>
          <mc:Fallback xmlns="">
            <p:sp>
              <p:nvSpPr>
                <p:cNvPr id="36" name="TextBox 35">
                  <a:extLst>
                    <a:ext uri="{FF2B5EF4-FFF2-40B4-BE49-F238E27FC236}">
                      <a16:creationId xmlns:a16="http://schemas.microsoft.com/office/drawing/2014/main" id="{F4162831-4917-407E-4AA4-94F091851993}"/>
                    </a:ext>
                  </a:extLst>
                </p:cNvPr>
                <p:cNvSpPr txBox="1">
                  <a:spLocks noRot="1" noChangeAspect="1" noMove="1" noResize="1" noEditPoints="1" noAdjustHandles="1" noChangeArrowheads="1" noChangeShapeType="1" noTextEdit="1"/>
                </p:cNvSpPr>
                <p:nvPr/>
              </p:nvSpPr>
              <p:spPr>
                <a:xfrm>
                  <a:off x="8624887" y="4520985"/>
                  <a:ext cx="1371600" cy="430887"/>
                </a:xfrm>
                <a:prstGeom prst="rect">
                  <a:avLst/>
                </a:prstGeom>
                <a:blipFill>
                  <a:blip r:embed="rId4"/>
                  <a:stretch>
                    <a:fillRect b="-6849"/>
                  </a:stretch>
                </a:blipFill>
              </p:spPr>
              <p:txBody>
                <a:bodyPr/>
                <a:lstStyle/>
                <a:p>
                  <a:r>
                    <a:rPr lang="en-US">
                      <a:noFill/>
                    </a:rPr>
                    <a:t> </a:t>
                  </a:r>
                </a:p>
              </p:txBody>
            </p:sp>
          </mc:Fallback>
        </mc:AlternateContent>
        <p:cxnSp>
          <p:nvCxnSpPr>
            <p:cNvPr id="40" name="Connector: Curved 39">
              <a:extLst>
                <a:ext uri="{FF2B5EF4-FFF2-40B4-BE49-F238E27FC236}">
                  <a16:creationId xmlns:a16="http://schemas.microsoft.com/office/drawing/2014/main" id="{5B59110F-A86B-6112-C414-F7AC9F6D4602}"/>
                </a:ext>
              </a:extLst>
            </p:cNvPr>
            <p:cNvCxnSpPr>
              <a:cxnSpLocks/>
              <a:endCxn id="29" idx="2"/>
            </p:cNvCxnSpPr>
            <p:nvPr/>
          </p:nvCxnSpPr>
          <p:spPr>
            <a:xfrm flipV="1">
              <a:off x="8377238" y="2118184"/>
              <a:ext cx="866775" cy="839328"/>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2" name="Connector: Curved 41">
              <a:extLst>
                <a:ext uri="{FF2B5EF4-FFF2-40B4-BE49-F238E27FC236}">
                  <a16:creationId xmlns:a16="http://schemas.microsoft.com/office/drawing/2014/main" id="{B9707475-7EBB-C803-83ED-291E2DE23166}"/>
                </a:ext>
              </a:extLst>
            </p:cNvPr>
            <p:cNvCxnSpPr>
              <a:cxnSpLocks/>
              <a:endCxn id="36" idx="0"/>
            </p:cNvCxnSpPr>
            <p:nvPr/>
          </p:nvCxnSpPr>
          <p:spPr>
            <a:xfrm rot="16200000" flipH="1">
              <a:off x="8147950" y="3358248"/>
              <a:ext cx="1392024" cy="9334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c 46" descr="Magnifying glass with solid fill">
              <a:extLst>
                <a:ext uri="{FF2B5EF4-FFF2-40B4-BE49-F238E27FC236}">
                  <a16:creationId xmlns:a16="http://schemas.microsoft.com/office/drawing/2014/main" id="{444E70E9-1A1E-3822-98B6-9B3F43C4A4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55178" y="2795584"/>
              <a:ext cx="333377" cy="333377"/>
            </a:xfrm>
            <a:prstGeom prst="rect">
              <a:avLst/>
            </a:prstGeom>
          </p:spPr>
        </p:pic>
        <p:pic>
          <p:nvPicPr>
            <p:cNvPr id="49" name="Graphic 48" descr="Magnifying glass with solid fill">
              <a:extLst>
                <a:ext uri="{FF2B5EF4-FFF2-40B4-BE49-F238E27FC236}">
                  <a16:creationId xmlns:a16="http://schemas.microsoft.com/office/drawing/2014/main" id="{7AC0CF23-0B44-F95C-4CAC-EA293AC3EC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02728" y="2986086"/>
              <a:ext cx="333377" cy="333377"/>
            </a:xfrm>
            <a:prstGeom prst="rect">
              <a:avLst/>
            </a:prstGeom>
          </p:spPr>
        </p:pic>
      </p:grpSp>
    </p:spTree>
    <p:extLst>
      <p:ext uri="{BB962C8B-B14F-4D97-AF65-F5344CB8AC3E}">
        <p14:creationId xmlns:p14="http://schemas.microsoft.com/office/powerpoint/2010/main" val="5351131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A6B577B-9404-5360-580A-48C8983F091F}"/>
              </a:ext>
            </a:extLst>
          </p:cNvPr>
          <p:cNvGrpSpPr/>
          <p:nvPr/>
        </p:nvGrpSpPr>
        <p:grpSpPr>
          <a:xfrm>
            <a:off x="0" y="1702088"/>
            <a:ext cx="12192000" cy="3453824"/>
            <a:chOff x="0" y="1702088"/>
            <a:chExt cx="12192000" cy="3453824"/>
          </a:xfrm>
        </p:grpSpPr>
        <p:pic>
          <p:nvPicPr>
            <p:cNvPr id="3" name="Picture 2">
              <a:extLst>
                <a:ext uri="{FF2B5EF4-FFF2-40B4-BE49-F238E27FC236}">
                  <a16:creationId xmlns:a16="http://schemas.microsoft.com/office/drawing/2014/main" id="{2838CC93-68E7-4D55-8D36-745F6C822E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2088"/>
              <a:ext cx="12192000" cy="3453824"/>
            </a:xfrm>
            <a:prstGeom prst="rect">
              <a:avLst/>
            </a:prstGeom>
          </p:spPr>
        </p:pic>
        <p:sp>
          <p:nvSpPr>
            <p:cNvPr id="5" name="Oval 4">
              <a:extLst>
                <a:ext uri="{FF2B5EF4-FFF2-40B4-BE49-F238E27FC236}">
                  <a16:creationId xmlns:a16="http://schemas.microsoft.com/office/drawing/2014/main" id="{477BDA5F-82AD-7ACE-D27E-E698D0D5BB85}"/>
                </a:ext>
              </a:extLst>
            </p:cNvPr>
            <p:cNvSpPr/>
            <p:nvPr/>
          </p:nvSpPr>
          <p:spPr>
            <a:xfrm>
              <a:off x="2216605" y="3040742"/>
              <a:ext cx="214539" cy="214539"/>
            </a:xfrm>
            <a:prstGeom prst="ellipse">
              <a:avLst/>
            </a:prstGeom>
            <a:solidFill>
              <a:schemeClr val="accent4">
                <a:alpha val="50000"/>
              </a:schemeClr>
            </a:soli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2662E0-8B6D-878C-5335-44B6F15B28CB}"/>
                </a:ext>
              </a:extLst>
            </p:cNvPr>
            <p:cNvSpPr/>
            <p:nvPr/>
          </p:nvSpPr>
          <p:spPr>
            <a:xfrm>
              <a:off x="2216605" y="2797175"/>
              <a:ext cx="214539" cy="214539"/>
            </a:xfrm>
            <a:prstGeom prst="ellipse">
              <a:avLst/>
            </a:prstGeom>
            <a:solidFill>
              <a:schemeClr val="accent2">
                <a:alpha val="50000"/>
              </a:schemeClr>
            </a:soli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A198C95-D7EA-B670-DEDB-33ABF7A5648A}"/>
                </a:ext>
              </a:extLst>
            </p:cNvPr>
            <p:cNvSpPr/>
            <p:nvPr/>
          </p:nvSpPr>
          <p:spPr>
            <a:xfrm>
              <a:off x="2216604" y="2582636"/>
              <a:ext cx="214539" cy="214539"/>
            </a:xfrm>
            <a:prstGeom prst="ellipse">
              <a:avLst/>
            </a:prstGeom>
            <a:solidFill>
              <a:schemeClr val="accent5">
                <a:alpha val="50000"/>
              </a:schemeClr>
            </a:soli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504006-311C-104B-756F-EB52DCBF2834}"/>
                </a:ext>
              </a:extLst>
            </p:cNvPr>
            <p:cNvSpPr/>
            <p:nvPr/>
          </p:nvSpPr>
          <p:spPr>
            <a:xfrm>
              <a:off x="2216604" y="3321730"/>
              <a:ext cx="214539" cy="214539"/>
            </a:xfrm>
            <a:prstGeom prst="ellipse">
              <a:avLst/>
            </a:prstGeom>
            <a:solidFill>
              <a:schemeClr val="accent1">
                <a:alpha val="50000"/>
              </a:schemeClr>
            </a:soli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3AE0195-60B1-AFC6-362C-0F5623606927}"/>
                </a:ext>
              </a:extLst>
            </p:cNvPr>
            <p:cNvSpPr/>
            <p:nvPr/>
          </p:nvSpPr>
          <p:spPr>
            <a:xfrm>
              <a:off x="2216604" y="3784992"/>
              <a:ext cx="214539" cy="214539"/>
            </a:xfrm>
            <a:prstGeom prst="ellipse">
              <a:avLst/>
            </a:prstGeom>
            <a:solidFill>
              <a:schemeClr val="accent6">
                <a:alpha val="50000"/>
              </a:schemeClr>
            </a:soli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1733134A-64EE-F784-38B0-EAF9136D7E06}"/>
                </a:ext>
              </a:extLst>
            </p:cNvPr>
            <p:cNvCxnSpPr/>
            <p:nvPr/>
          </p:nvCxnSpPr>
          <p:spPr>
            <a:xfrm>
              <a:off x="2155825" y="3428999"/>
              <a:ext cx="0" cy="570532"/>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36EBE449-395F-97BB-F052-040571023CBB}"/>
                </a:ext>
              </a:extLst>
            </p:cNvPr>
            <p:cNvCxnSpPr>
              <a:cxnSpLocks/>
            </p:cNvCxnSpPr>
            <p:nvPr/>
          </p:nvCxnSpPr>
          <p:spPr>
            <a:xfrm>
              <a:off x="2155825" y="3117850"/>
              <a:ext cx="0" cy="307263"/>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a:extLst>
                <a:ext uri="{FF2B5EF4-FFF2-40B4-BE49-F238E27FC236}">
                  <a16:creationId xmlns:a16="http://schemas.microsoft.com/office/drawing/2014/main" id="{A47A5F1B-83FC-85DC-9EEA-4E14FF456B3C}"/>
                </a:ext>
              </a:extLst>
            </p:cNvPr>
            <p:cNvCxnSpPr>
              <a:cxnSpLocks/>
            </p:cNvCxnSpPr>
            <p:nvPr/>
          </p:nvCxnSpPr>
          <p:spPr>
            <a:xfrm>
              <a:off x="2155825" y="2864983"/>
              <a:ext cx="0" cy="243567"/>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BA357F66-C891-7E05-AF45-021F9BF69419}"/>
                </a:ext>
              </a:extLst>
            </p:cNvPr>
            <p:cNvCxnSpPr>
              <a:cxnSpLocks/>
            </p:cNvCxnSpPr>
            <p:nvPr/>
          </p:nvCxnSpPr>
          <p:spPr>
            <a:xfrm>
              <a:off x="2155825" y="2621416"/>
              <a:ext cx="0" cy="243567"/>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6210509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Bjorn</Template>
  <TotalTime>10549</TotalTime>
  <Words>1330</Words>
  <Application>Microsoft Office PowerPoint</Application>
  <PresentationFormat>Widescreen</PresentationFormat>
  <Paragraphs>146</Paragraphs>
  <Slides>44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Aptos</vt:lpstr>
      <vt:lpstr>Cambria Math</vt:lpstr>
      <vt:lpstr>Century Gothic</vt:lpstr>
      <vt:lpstr>Wingdings 3</vt:lpstr>
      <vt:lpstr>Ion</vt:lpstr>
      <vt:lpstr>Turbidity Meter Simulation</vt:lpstr>
      <vt:lpstr>The Question</vt:lpstr>
      <vt:lpstr>The Irradiation Problem</vt:lpstr>
      <vt:lpstr>The Fornier Forand Distribution</vt:lpstr>
      <vt:lpstr>How to Position The Detector</vt:lpstr>
      <vt:lpstr>Experimental Setup</vt:lpstr>
      <vt:lpstr>Results z=65,75</vt:lpstr>
      <vt:lpstr>Results for other Z</vt:lpstr>
      <vt:lpstr>Comparison of different heights</vt:lpstr>
      <vt:lpstr>How tall are the peaks</vt:lpstr>
      <vt:lpstr>The Sensitivity Problem</vt:lpstr>
      <vt:lpstr>Defining Sensitivity</vt:lpstr>
      <vt:lpstr>Example Sensitivity Measurement</vt:lpstr>
      <vt:lpstr>Example Sensitivity measurement</vt:lpstr>
      <vt:lpstr>Example Sensitivity Measurement</vt:lpstr>
      <vt:lpstr>Moving beyond the example case: Relationship between detector height, z, and detector sensitivity</vt:lpstr>
      <vt:lpstr>Moving beyond the example case: Relationship between detector height, z, and detector sensitivity</vt:lpstr>
      <vt:lpstr>Conclusion</vt:lpstr>
      <vt:lpstr>PowerPoint Presentation</vt:lpstr>
      <vt:lpstr>How to position the detector</vt:lpstr>
      <vt:lpstr>Simulation Innerworkings</vt:lpstr>
      <vt:lpstr>PowerPoint Presentation</vt:lpstr>
      <vt:lpstr>Monte Carlo Simulation Result</vt:lpstr>
      <vt:lpstr>PowerPoint Presentation</vt:lpstr>
      <vt:lpstr>Angle test</vt:lpstr>
      <vt:lpstr>A better way</vt:lpstr>
      <vt:lpstr>Results for the off beam detector at 50 mm </vt:lpstr>
      <vt:lpstr>Results for the off beam detector at 50 mm continued</vt:lpstr>
      <vt:lpstr>Results on the face perpendicular to the beamline at 100mm</vt:lpstr>
      <vt:lpstr>What if we go higher off the beam?</vt:lpstr>
      <vt:lpstr>Sanity Checks</vt:lpstr>
      <vt:lpstr>Zero Scattering Check</vt:lpstr>
      <vt:lpstr>Absorption/Beer-Lambert Crosscheck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Kaan Volkan</dc:creator>
  <cp:lastModifiedBy>Kaan Volkan</cp:lastModifiedBy>
  <cp:revision>22</cp:revision>
  <dcterms:created xsi:type="dcterms:W3CDTF">2026-08-17T19:46:41Z</dcterms:created>
  <dcterms:modified xsi:type="dcterms:W3CDTF">2026-10-13T02:53:49Z</dcterms:modified>
</cp:coreProperties>
</file>