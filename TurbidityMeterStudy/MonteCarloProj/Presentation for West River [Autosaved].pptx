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63" r:id="rId3"/>
    <p:sldId id="264" r:id="rId4"/>
    <p:sldId id="265" r:id="rId5"/>
    <p:sldId id="269" r:id="rId6"/>
    <p:sldId id="278" r:id="rId7"/>
    <p:sldId id="271" r:id="rId8"/>
    <p:sldId id="272" r:id="rId9"/>
    <p:sldId id="273" r:id="rId10"/>
    <p:sldId id="274" r:id="rId11"/>
    <p:sldId id="275" r:id="rId12"/>
    <p:sldId id="276" r:id="rId13"/>
    <p:sldId id="258" r:id="rId14"/>
    <p:sldId id="260" r:id="rId15"/>
    <p:sldId id="261" r:id="rId16"/>
    <p:sldId id="279" r:id="rId17"/>
    <p:sldId id="280" r:id="rId18"/>
    <p:sldId id="281" r:id="rId19"/>
    <p:sldId id="282" r:id="rId20"/>
    <p:sldId id="283" r:id="rId21"/>
    <p:sldId id="286" r:id="rId22"/>
    <p:sldId id="287" r:id="rId23"/>
    <p:sldId id="288" r:id="rId24"/>
    <p:sldId id="289" r:id="rId25"/>
    <p:sldId id="290" r:id="rId26"/>
    <p:sldId id="291" r:id="rId27"/>
    <p:sldId id="293" r:id="rId28"/>
    <p:sldId id="292" r:id="rId29"/>
    <p:sldId id="284" r:id="rId30"/>
    <p:sldId id="285" r:id="rId31"/>
    <p:sldId id="29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1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4336B-4CB7-4458-A505-B21BCF4C16A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8404C-8785-4F08-89F6-A92B0B229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8404C-8785-4F08-89F6-A92B0B22966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6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8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3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7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0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1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7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9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313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0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3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04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31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6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58E1C9A-47F7-4494-B9B8-0D060B88ACB1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21D86-E9AE-4904-807B-12096BA8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98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29.svg"/><Relationship Id="rId4" Type="http://schemas.openxmlformats.org/officeDocument/2006/relationships/image" Target="../media/image38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83FD-EB31-5518-6A59-7C2E9A326F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Turbidity Meter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91836-D58B-5389-0008-54551E15A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Pre-Results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37CC8-38DA-8ECC-FE91-146B615A8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962" y="3875315"/>
            <a:ext cx="3880152" cy="291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6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885E-7E45-1838-C5CE-F10B02BE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Experimental Setup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79D269-78B7-1CB2-DED0-0A47B66C7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246" y="2736970"/>
            <a:ext cx="4010054" cy="2990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B91F91-4097-493D-65AB-5A166AFFB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68" y="2979859"/>
            <a:ext cx="3562376" cy="250509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1E60410-D2D2-80E1-8BB0-68BD9497A657}"/>
              </a:ext>
            </a:extLst>
          </p:cNvPr>
          <p:cNvSpPr/>
          <p:nvPr/>
        </p:nvSpPr>
        <p:spPr>
          <a:xfrm>
            <a:off x="2406649" y="4013199"/>
            <a:ext cx="212725" cy="244475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1E650-593F-1E09-81AB-496D0BD94930}"/>
              </a:ext>
            </a:extLst>
          </p:cNvPr>
          <p:cNvSpPr txBox="1"/>
          <p:nvPr/>
        </p:nvSpPr>
        <p:spPr>
          <a:xfrm>
            <a:off x="4013199" y="2295525"/>
            <a:ext cx="1454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source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0FD5669-7FE1-BA61-9F4F-F229D21DB396}"/>
              </a:ext>
            </a:extLst>
          </p:cNvPr>
          <p:cNvCxnSpPr>
            <a:cxnSpLocks/>
            <a:stCxn id="10" idx="6"/>
            <a:endCxn id="11" idx="1"/>
          </p:cNvCxnSpPr>
          <p:nvPr/>
        </p:nvCxnSpPr>
        <p:spPr>
          <a:xfrm flipV="1">
            <a:off x="2619374" y="2464802"/>
            <a:ext cx="1393825" cy="167063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4CB1B2-1D9D-7F03-DCF9-43633DE715E9}"/>
              </a:ext>
            </a:extLst>
          </p:cNvPr>
          <p:cNvSpPr txBox="1"/>
          <p:nvPr/>
        </p:nvSpPr>
        <p:spPr>
          <a:xfrm>
            <a:off x="4743449" y="4197350"/>
            <a:ext cx="146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Boundary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28DB5EB-C3BF-1505-4C8D-69869071366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378325" y="4314825"/>
            <a:ext cx="365124" cy="1749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4597057-9281-2B75-01EC-8ACEAC1FCDEC}"/>
              </a:ext>
            </a:extLst>
          </p:cNvPr>
          <p:cNvSpPr/>
          <p:nvPr/>
        </p:nvSpPr>
        <p:spPr>
          <a:xfrm>
            <a:off x="7294077" y="3484562"/>
            <a:ext cx="1425575" cy="1425575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0CB751-AAB9-858F-647A-4FA0D7604A12}"/>
              </a:ext>
            </a:extLst>
          </p:cNvPr>
          <p:cNvSpPr/>
          <p:nvPr/>
        </p:nvSpPr>
        <p:spPr>
          <a:xfrm>
            <a:off x="7322926" y="3513411"/>
            <a:ext cx="1367875" cy="1367875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8882FF-07FF-6165-7054-61A776DFEDB0}"/>
              </a:ext>
            </a:extLst>
          </p:cNvPr>
          <p:cNvSpPr txBox="1"/>
          <p:nvPr/>
        </p:nvSpPr>
        <p:spPr>
          <a:xfrm>
            <a:off x="7896224" y="2531528"/>
            <a:ext cx="2311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Zone(1) of interest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2EA7DA-8570-1224-F1F7-B0127DC73EF8}"/>
              </a:ext>
            </a:extLst>
          </p:cNvPr>
          <p:cNvCxnSpPr/>
          <p:nvPr/>
        </p:nvCxnSpPr>
        <p:spPr>
          <a:xfrm flipV="1">
            <a:off x="8197756" y="3984625"/>
            <a:ext cx="1270095" cy="2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A34D47-6D1C-904F-88DE-F7CB0E4DF642}"/>
              </a:ext>
            </a:extLst>
          </p:cNvPr>
          <p:cNvCxnSpPr>
            <a:cxnSpLocks/>
          </p:cNvCxnSpPr>
          <p:nvPr/>
        </p:nvCxnSpPr>
        <p:spPr>
          <a:xfrm>
            <a:off x="8197755" y="4220232"/>
            <a:ext cx="1270095" cy="2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164D63-2122-6D15-236F-8CBCB67ABA74}"/>
              </a:ext>
            </a:extLst>
          </p:cNvPr>
          <p:cNvCxnSpPr/>
          <p:nvPr/>
        </p:nvCxnSpPr>
        <p:spPr>
          <a:xfrm>
            <a:off x="9467850" y="3984625"/>
            <a:ext cx="0" cy="448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340BF6-8631-0EEE-55D3-9397A3FE36EE}"/>
              </a:ext>
            </a:extLst>
          </p:cNvPr>
          <p:cNvSpPr txBox="1"/>
          <p:nvPr/>
        </p:nvSpPr>
        <p:spPr>
          <a:xfrm>
            <a:off x="10216048" y="4740860"/>
            <a:ext cx="2130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Zone(2) of interest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4987ABB5-9CA5-8241-A4DD-D8F94585A0BA}"/>
              </a:ext>
            </a:extLst>
          </p:cNvPr>
          <p:cNvCxnSpPr>
            <a:cxnSpLocks/>
            <a:endCxn id="25" idx="1"/>
          </p:cNvCxnSpPr>
          <p:nvPr/>
        </p:nvCxnSpPr>
        <p:spPr>
          <a:xfrm rot="5400000" flipH="1" flipV="1">
            <a:off x="7193989" y="3012516"/>
            <a:ext cx="1013946" cy="3905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C105E3A2-5B12-362D-2BBD-41ADEDE4416A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9239250" y="4283075"/>
            <a:ext cx="2042058" cy="4577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FA885E1-9B3B-36F2-C04E-BF29C9BB9DF5}"/>
              </a:ext>
            </a:extLst>
          </p:cNvPr>
          <p:cNvSpPr txBox="1"/>
          <p:nvPr/>
        </p:nvSpPr>
        <p:spPr>
          <a:xfrm>
            <a:off x="647922" y="5792896"/>
            <a:ext cx="424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3D image of the experimental setup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F7F0FB-27E7-7596-EC56-19CA6574F7A4}"/>
              </a:ext>
            </a:extLst>
          </p:cNvPr>
          <p:cNvSpPr txBox="1"/>
          <p:nvPr/>
        </p:nvSpPr>
        <p:spPr>
          <a:xfrm>
            <a:off x="6073404" y="5551505"/>
            <a:ext cx="424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plane of the experimental setup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044F69-07BD-2751-24FF-8652B93A6368}"/>
              </a:ext>
            </a:extLst>
          </p:cNvPr>
          <p:cNvSpPr txBox="1"/>
          <p:nvPr/>
        </p:nvSpPr>
        <p:spPr>
          <a:xfrm>
            <a:off x="1066800" y="1320800"/>
            <a:ext cx="891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setup(1) consists of a source in the middle of out domain. The domain boundary is </a:t>
            </a:r>
            <a:r>
              <a:rPr lang="en-US" dirty="0" err="1"/>
              <a:t>absorbant</a:t>
            </a:r>
            <a:r>
              <a:rPr lang="en-US" dirty="0"/>
              <a:t>, and the source is a pencil source. </a:t>
            </a:r>
          </a:p>
        </p:txBody>
      </p:sp>
    </p:spTree>
    <p:extLst>
      <p:ext uri="{BB962C8B-B14F-4D97-AF65-F5344CB8AC3E}">
        <p14:creationId xmlns:p14="http://schemas.microsoft.com/office/powerpoint/2010/main" val="286755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43A8-74B2-78E6-FCA9-17B2EACE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Innerworkings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BAC1-1CF2-92D1-B9E7-C497CD66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Photon launches with a packet weight 1 and direction v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Based on an exponential distribution based on the scattering coefficient (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of the current voxel, it  decides how many voxels to travel in v direction.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Steps 1 voxel in v direction and looses packet weight based on the absorption coefficient </a:t>
            </a:r>
            <a:r>
              <a:rPr lang="en-US" dirty="0"/>
              <a:t>(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packet weight is added to its current voxel’s raw probability,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previous 2 steps are repeated until the package reaches the next scattering voxel decided in the second step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Calculate a new scattering direction vector: the azimuth and zenith scattering angles are computed, respectively, by a random number uniformly distributed in [0,2pi] and a random number between [0,pi) following an assigned phase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Repeat from step 2 until the max time is reached or the photon exits the domain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Repeat all steps for next photon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4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5E6297A-D824-851D-1682-E7DB224153CD}"/>
              </a:ext>
            </a:extLst>
          </p:cNvPr>
          <p:cNvSpPr/>
          <p:nvPr/>
        </p:nvSpPr>
        <p:spPr>
          <a:xfrm>
            <a:off x="53009" y="1358348"/>
            <a:ext cx="11940208" cy="467139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58B961-E562-FC88-8A0E-3FC06955C401}"/>
              </a:ext>
            </a:extLst>
          </p:cNvPr>
          <p:cNvSpPr/>
          <p:nvPr/>
        </p:nvSpPr>
        <p:spPr>
          <a:xfrm>
            <a:off x="114504" y="1842052"/>
            <a:ext cx="1881809" cy="11529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Photon Launches with weight 1 in v </a:t>
            </a:r>
            <a:r>
              <a:rPr lang="en-US" dirty="0" err="1"/>
              <a:t>dir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A17908-4E4A-2C7B-8F3E-38AE0389FF97}"/>
              </a:ext>
            </a:extLst>
          </p:cNvPr>
          <p:cNvSpPr/>
          <p:nvPr/>
        </p:nvSpPr>
        <p:spPr>
          <a:xfrm>
            <a:off x="3730895" y="280346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99E545-9608-7184-1081-9E7EC5F6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16" y="2746514"/>
            <a:ext cx="1543061" cy="126683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19AE099-0597-5E63-4686-68D2FB27CCD5}"/>
              </a:ext>
            </a:extLst>
          </p:cNvPr>
          <p:cNvSpPr/>
          <p:nvPr/>
        </p:nvSpPr>
        <p:spPr>
          <a:xfrm>
            <a:off x="2110816" y="1842052"/>
            <a:ext cx="6096006" cy="115294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Based on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dirty="0"/>
              <a:t>, photon travels n voxels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5261AD-26CE-077F-A73A-9E0CAB08E63D}"/>
              </a:ext>
            </a:extLst>
          </p:cNvPr>
          <p:cNvSpPr/>
          <p:nvPr/>
        </p:nvSpPr>
        <p:spPr>
          <a:xfrm>
            <a:off x="4046930" y="3131296"/>
            <a:ext cx="497269" cy="497269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E8AE43-0D28-F6DC-0FC1-3121AEBF9B70}"/>
              </a:ext>
            </a:extLst>
          </p:cNvPr>
          <p:cNvSpPr/>
          <p:nvPr/>
        </p:nvSpPr>
        <p:spPr>
          <a:xfrm>
            <a:off x="4937253" y="280346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D25659-77B4-9FF8-C456-39935DD55A9C}"/>
              </a:ext>
            </a:extLst>
          </p:cNvPr>
          <p:cNvSpPr/>
          <p:nvPr/>
        </p:nvSpPr>
        <p:spPr>
          <a:xfrm>
            <a:off x="5326176" y="3209766"/>
            <a:ext cx="319252" cy="319252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70FDC6-969A-4902-83E7-BDBF27EDAC0E}"/>
              </a:ext>
            </a:extLst>
          </p:cNvPr>
          <p:cNvSpPr/>
          <p:nvPr/>
        </p:nvSpPr>
        <p:spPr>
          <a:xfrm>
            <a:off x="6143611" y="2776801"/>
            <a:ext cx="1129340" cy="11529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79CE46-865E-A188-6C39-74E03E74C1B4}"/>
              </a:ext>
            </a:extLst>
          </p:cNvPr>
          <p:cNvSpPr/>
          <p:nvPr/>
        </p:nvSpPr>
        <p:spPr>
          <a:xfrm>
            <a:off x="6532533" y="3226958"/>
            <a:ext cx="242479" cy="242479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EF43584-8A09-DF8D-E946-B0FE437CAA09}"/>
              </a:ext>
            </a:extLst>
          </p:cNvPr>
          <p:cNvCxnSpPr>
            <a:stCxn id="8" idx="2"/>
            <a:endCxn id="15" idx="2"/>
          </p:cNvCxnSpPr>
          <p:nvPr/>
        </p:nvCxnSpPr>
        <p:spPr>
          <a:xfrm rot="16200000" flipH="1">
            <a:off x="4898744" y="3353222"/>
            <a:ext cx="12700" cy="120635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A0717F08-B786-FF34-5EAC-26C9DA0DB85C}"/>
              </a:ext>
            </a:extLst>
          </p:cNvPr>
          <p:cNvCxnSpPr/>
          <p:nvPr/>
        </p:nvCxnSpPr>
        <p:spPr>
          <a:xfrm rot="16200000" flipH="1">
            <a:off x="6097142" y="3334171"/>
            <a:ext cx="12700" cy="120635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14E54FC-995B-9FD9-B4D0-A9CFAEA84012}"/>
              </a:ext>
            </a:extLst>
          </p:cNvPr>
          <p:cNvSpPr/>
          <p:nvPr/>
        </p:nvSpPr>
        <p:spPr>
          <a:xfrm>
            <a:off x="7427844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E07292-A4D4-72BA-E678-155CB70D2120}"/>
              </a:ext>
            </a:extLst>
          </p:cNvPr>
          <p:cNvSpPr/>
          <p:nvPr/>
        </p:nvSpPr>
        <p:spPr>
          <a:xfrm>
            <a:off x="7661873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8315BD-41CC-6F90-B553-8AE5999C2239}"/>
              </a:ext>
            </a:extLst>
          </p:cNvPr>
          <p:cNvSpPr/>
          <p:nvPr/>
        </p:nvSpPr>
        <p:spPr>
          <a:xfrm>
            <a:off x="7895902" y="3348197"/>
            <a:ext cx="92765" cy="927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54670A-1960-82BB-9C71-DF05F66283AB}"/>
              </a:ext>
            </a:extLst>
          </p:cNvPr>
          <p:cNvSpPr txBox="1"/>
          <p:nvPr/>
        </p:nvSpPr>
        <p:spPr>
          <a:xfrm>
            <a:off x="7609733" y="3469437"/>
            <a:ext cx="49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EE55A7-84BF-6E4B-6CB7-FBDF4CC8589A}"/>
              </a:ext>
            </a:extLst>
          </p:cNvPr>
          <p:cNvSpPr txBox="1"/>
          <p:nvPr/>
        </p:nvSpPr>
        <p:spPr>
          <a:xfrm>
            <a:off x="3637150" y="4161015"/>
            <a:ext cx="3599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 is reduced based on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/>
              <a:t>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CED0CBE-4FA2-0A39-27D5-62030A9E7494}"/>
              </a:ext>
            </a:extLst>
          </p:cNvPr>
          <p:cNvSpPr/>
          <p:nvPr/>
        </p:nvSpPr>
        <p:spPr>
          <a:xfrm>
            <a:off x="8335618" y="1795669"/>
            <a:ext cx="1663148" cy="11529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scatter direction is determined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3483FE8-D6C3-9B74-285A-09BD500A6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6" y="1353608"/>
            <a:ext cx="9446193" cy="615176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0E84804B-640A-9B18-7608-E5DB48BBBE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62551" y="-776815"/>
            <a:ext cx="915026" cy="422993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5D8F6E7-FEDD-F497-CCD5-4F9E8ABF1236}"/>
              </a:ext>
            </a:extLst>
          </p:cNvPr>
          <p:cNvSpPr/>
          <p:nvPr/>
        </p:nvSpPr>
        <p:spPr>
          <a:xfrm rot="5400000">
            <a:off x="7776604" y="3979996"/>
            <a:ext cx="2883454" cy="1018356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A415F6-6CC3-DBFF-FDCE-3E7E211DC316}"/>
              </a:ext>
            </a:extLst>
          </p:cNvPr>
          <p:cNvSpPr txBox="1"/>
          <p:nvPr/>
        </p:nvSpPr>
        <p:spPr>
          <a:xfrm>
            <a:off x="9672340" y="3253547"/>
            <a:ext cx="1782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steps are repeated until the boundary is left or no more time is left</a:t>
            </a:r>
          </a:p>
        </p:txBody>
      </p:sp>
    </p:spTree>
    <p:extLst>
      <p:ext uri="{BB962C8B-B14F-4D97-AF65-F5344CB8AC3E}">
        <p14:creationId xmlns:p14="http://schemas.microsoft.com/office/powerpoint/2010/main" val="160163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B6C8-2B20-F7A7-DA70-2F191D99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86805-400A-E772-78E2-27D8B5552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800" y="1413405"/>
            <a:ext cx="6655835" cy="499187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389F85F-5017-D968-1F54-7D29472F73B0}"/>
              </a:ext>
            </a:extLst>
          </p:cNvPr>
          <p:cNvSpPr/>
          <p:nvPr/>
        </p:nvSpPr>
        <p:spPr>
          <a:xfrm>
            <a:off x="4426857" y="2106309"/>
            <a:ext cx="3338286" cy="3338286"/>
          </a:xfrm>
          <a:prstGeom prst="ellips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138A7-AEAD-B31A-FEC5-F6B9386AB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943" y="2256971"/>
            <a:ext cx="5302550" cy="3976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90A62-0952-860A-ECD3-D3095D3E3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07" y="1995714"/>
            <a:ext cx="5863768" cy="439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D232-3F5E-61B1-E61F-8DA93831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Angle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BCCF5-06D0-4A88-D221-08B91CAB6B39}"/>
              </a:ext>
            </a:extLst>
          </p:cNvPr>
          <p:cNvSpPr txBox="1"/>
          <p:nvPr/>
        </p:nvSpPr>
        <p:spPr>
          <a:xfrm>
            <a:off x="6894394" y="1606477"/>
            <a:ext cx="43864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smaller radius the difference between the peak and bottom </a:t>
            </a:r>
            <a:r>
              <a:rPr lang="en-US" dirty="0" err="1"/>
              <a:t>plateu</a:t>
            </a:r>
            <a:r>
              <a:rPr lang="en-US" dirty="0"/>
              <a:t> become smaller from 4 times to 3 times the difference.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issue is that these voxels have no min acceptance angle, so this is not an accurate representation of what the detector would see. 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C47EA91-0DF6-26FD-0684-6A5A7A09E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07" y="1606477"/>
            <a:ext cx="6398406" cy="47988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733DC3-FC48-DED9-C563-138E8D47F0E9}"/>
              </a:ext>
            </a:extLst>
          </p:cNvPr>
          <p:cNvSpPr/>
          <p:nvPr/>
        </p:nvSpPr>
        <p:spPr>
          <a:xfrm>
            <a:off x="9173028" y="4943094"/>
            <a:ext cx="616857" cy="61685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46E7BA-52AF-AEB3-B765-9984E3705A58}"/>
              </a:ext>
            </a:extLst>
          </p:cNvPr>
          <p:cNvCxnSpPr>
            <a:endCxn id="11" idx="1"/>
          </p:cNvCxnSpPr>
          <p:nvPr/>
        </p:nvCxnSpPr>
        <p:spPr>
          <a:xfrm flipV="1">
            <a:off x="8040914" y="5251523"/>
            <a:ext cx="1132114" cy="677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4B5380-F88C-9EC7-2CB3-440884F34EB8}"/>
              </a:ext>
            </a:extLst>
          </p:cNvPr>
          <p:cNvCxnSpPr>
            <a:cxnSpLocks/>
          </p:cNvCxnSpPr>
          <p:nvPr/>
        </p:nvCxnSpPr>
        <p:spPr>
          <a:xfrm flipV="1">
            <a:off x="8040914" y="5405737"/>
            <a:ext cx="1197429" cy="523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3572D7-8C16-97AE-799F-DF6FF2D7D81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040914" y="5559951"/>
            <a:ext cx="1440543" cy="33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1BEBB-D3BD-C788-116B-BCD1B5B370CA}"/>
              </a:ext>
            </a:extLst>
          </p:cNvPr>
          <p:cNvCxnSpPr>
            <a:cxnSpLocks/>
          </p:cNvCxnSpPr>
          <p:nvPr/>
        </p:nvCxnSpPr>
        <p:spPr>
          <a:xfrm flipV="1">
            <a:off x="8073571" y="5559951"/>
            <a:ext cx="1716314" cy="383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9942EB-0800-16DC-8273-AB7DE88DBC9B}"/>
              </a:ext>
            </a:extLst>
          </p:cNvPr>
          <p:cNvCxnSpPr>
            <a:cxnSpLocks/>
          </p:cNvCxnSpPr>
          <p:nvPr/>
        </p:nvCxnSpPr>
        <p:spPr>
          <a:xfrm flipV="1">
            <a:off x="8073571" y="5899557"/>
            <a:ext cx="1338943" cy="51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844AB8-9997-FC6E-4794-B6455324B225}"/>
              </a:ext>
            </a:extLst>
          </p:cNvPr>
          <p:cNvCxnSpPr>
            <a:cxnSpLocks/>
          </p:cNvCxnSpPr>
          <p:nvPr/>
        </p:nvCxnSpPr>
        <p:spPr>
          <a:xfrm flipV="1">
            <a:off x="9412514" y="5590304"/>
            <a:ext cx="246743" cy="30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AC60BB-30F4-3A48-AF82-7AA1061789CA}"/>
              </a:ext>
            </a:extLst>
          </p:cNvPr>
          <p:cNvCxnSpPr>
            <a:cxnSpLocks/>
          </p:cNvCxnSpPr>
          <p:nvPr/>
        </p:nvCxnSpPr>
        <p:spPr>
          <a:xfrm flipV="1">
            <a:off x="8073571" y="5054227"/>
            <a:ext cx="1132114" cy="814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38CD91-A5D7-367E-43E5-D329AB265129}"/>
              </a:ext>
            </a:extLst>
          </p:cNvPr>
          <p:cNvCxnSpPr>
            <a:cxnSpLocks/>
          </p:cNvCxnSpPr>
          <p:nvPr/>
        </p:nvCxnSpPr>
        <p:spPr>
          <a:xfrm flipV="1">
            <a:off x="8048235" y="4738823"/>
            <a:ext cx="1364279" cy="118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F50F66-9F1C-938E-AD51-AA349E8002A1}"/>
              </a:ext>
            </a:extLst>
          </p:cNvPr>
          <p:cNvCxnSpPr/>
          <p:nvPr/>
        </p:nvCxnSpPr>
        <p:spPr>
          <a:xfrm>
            <a:off x="9376073" y="4760199"/>
            <a:ext cx="210766" cy="138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C35404-9943-BE1E-3971-914160D3CB93}"/>
              </a:ext>
            </a:extLst>
          </p:cNvPr>
          <p:cNvCxnSpPr>
            <a:cxnSpLocks/>
          </p:cNvCxnSpPr>
          <p:nvPr/>
        </p:nvCxnSpPr>
        <p:spPr>
          <a:xfrm flipV="1">
            <a:off x="8113713" y="5575466"/>
            <a:ext cx="1149966" cy="334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06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CFD2-76F1-1597-7B39-73FFC073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72D75-58DA-AFAC-2D07-4EE315537E29}"/>
              </a:ext>
            </a:extLst>
          </p:cNvPr>
          <p:cNvSpPr/>
          <p:nvPr/>
        </p:nvSpPr>
        <p:spPr>
          <a:xfrm>
            <a:off x="827314" y="4459514"/>
            <a:ext cx="6618515" cy="1817914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B7DBEE-7FE6-A02F-E309-880E801FC400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827314" y="5368471"/>
            <a:ext cx="38462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803698B-C0FC-2CAC-79F9-6AD0D8BFB308}"/>
              </a:ext>
            </a:extLst>
          </p:cNvPr>
          <p:cNvSpPr txBox="1"/>
          <p:nvPr/>
        </p:nvSpPr>
        <p:spPr>
          <a:xfrm>
            <a:off x="827314" y="1625600"/>
            <a:ext cx="851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the image below is the x-y slice where the source is. The idea is to measure the light exiting the top boundary. Represent the intensity at the boundary along the y direction in a bar graph. Hence we know the best position to place the detector. The same can be done at the front face.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B3B4D9-A9EE-1180-F1CC-6E2D50CF76F5}"/>
              </a:ext>
            </a:extLst>
          </p:cNvPr>
          <p:cNvSpPr/>
          <p:nvPr/>
        </p:nvSpPr>
        <p:spPr>
          <a:xfrm>
            <a:off x="2525485" y="3563256"/>
            <a:ext cx="232229" cy="896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B9092F-5634-F7AE-58B4-2605DFB23955}"/>
              </a:ext>
            </a:extLst>
          </p:cNvPr>
          <p:cNvSpPr/>
          <p:nvPr/>
        </p:nvSpPr>
        <p:spPr>
          <a:xfrm>
            <a:off x="2902857" y="3252332"/>
            <a:ext cx="232229" cy="1201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EF5C7-0D8E-F0F6-504C-9655EBBA1B34}"/>
              </a:ext>
            </a:extLst>
          </p:cNvPr>
          <p:cNvSpPr/>
          <p:nvPr/>
        </p:nvSpPr>
        <p:spPr>
          <a:xfrm>
            <a:off x="2148114" y="4005263"/>
            <a:ext cx="232229" cy="454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2E9B13-5574-815C-1E73-7C70740B0DC2}"/>
              </a:ext>
            </a:extLst>
          </p:cNvPr>
          <p:cNvSpPr/>
          <p:nvPr/>
        </p:nvSpPr>
        <p:spPr>
          <a:xfrm>
            <a:off x="1654628" y="4034707"/>
            <a:ext cx="232229" cy="454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4F71CE-270D-F875-EE01-F5396BDF4131}"/>
              </a:ext>
            </a:extLst>
          </p:cNvPr>
          <p:cNvSpPr/>
          <p:nvPr/>
        </p:nvSpPr>
        <p:spPr>
          <a:xfrm>
            <a:off x="3388387" y="3095626"/>
            <a:ext cx="232229" cy="1363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F898B-6839-AE58-A385-0CACC6C548C3}"/>
              </a:ext>
            </a:extLst>
          </p:cNvPr>
          <p:cNvSpPr/>
          <p:nvPr/>
        </p:nvSpPr>
        <p:spPr>
          <a:xfrm>
            <a:off x="3860690" y="3081888"/>
            <a:ext cx="232229" cy="1363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E11BCD-4A77-1753-95B5-191FD6C2127C}"/>
              </a:ext>
            </a:extLst>
          </p:cNvPr>
          <p:cNvSpPr/>
          <p:nvPr/>
        </p:nvSpPr>
        <p:spPr>
          <a:xfrm>
            <a:off x="4318157" y="3319461"/>
            <a:ext cx="232229" cy="1125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E6074D-1F23-EA3C-B866-8AD3F231C066}"/>
              </a:ext>
            </a:extLst>
          </p:cNvPr>
          <p:cNvSpPr/>
          <p:nvPr/>
        </p:nvSpPr>
        <p:spPr>
          <a:xfrm>
            <a:off x="4914422" y="3548969"/>
            <a:ext cx="232229" cy="896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16182-E633-2210-5390-12AB57314715}"/>
              </a:ext>
            </a:extLst>
          </p:cNvPr>
          <p:cNvSpPr/>
          <p:nvPr/>
        </p:nvSpPr>
        <p:spPr>
          <a:xfrm>
            <a:off x="5461679" y="3635819"/>
            <a:ext cx="232229" cy="817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83F79C-7AA7-23F4-31D4-6DD263900530}"/>
              </a:ext>
            </a:extLst>
          </p:cNvPr>
          <p:cNvSpPr/>
          <p:nvPr/>
        </p:nvSpPr>
        <p:spPr>
          <a:xfrm rot="5400000">
            <a:off x="8683210" y="4037835"/>
            <a:ext cx="232229" cy="2621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FE40C5-9AA7-54A5-AF84-0EF622F49558}"/>
              </a:ext>
            </a:extLst>
          </p:cNvPr>
          <p:cNvSpPr/>
          <p:nvPr/>
        </p:nvSpPr>
        <p:spPr>
          <a:xfrm rot="5400000">
            <a:off x="8346723" y="4095737"/>
            <a:ext cx="232230" cy="189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64218F-F695-1655-8B32-047384F002B3}"/>
              </a:ext>
            </a:extLst>
          </p:cNvPr>
          <p:cNvSpPr/>
          <p:nvPr/>
        </p:nvSpPr>
        <p:spPr>
          <a:xfrm rot="5400000">
            <a:off x="7955550" y="4154559"/>
            <a:ext cx="190518" cy="120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DEBEE8-F4CB-F001-CA5E-2FE33C094105}"/>
              </a:ext>
            </a:extLst>
          </p:cNvPr>
          <p:cNvSpPr/>
          <p:nvPr/>
        </p:nvSpPr>
        <p:spPr>
          <a:xfrm rot="5400000">
            <a:off x="8346723" y="4723651"/>
            <a:ext cx="232230" cy="1895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591057-B4D9-347A-7B43-03C7292C335F}"/>
              </a:ext>
            </a:extLst>
          </p:cNvPr>
          <p:cNvSpPr/>
          <p:nvPr/>
        </p:nvSpPr>
        <p:spPr>
          <a:xfrm rot="5400000">
            <a:off x="7959903" y="5397589"/>
            <a:ext cx="190518" cy="120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C608CD-2EB3-1B0A-9447-B18D20AE3BF4}"/>
              </a:ext>
            </a:extLst>
          </p:cNvPr>
          <p:cNvSpPr txBox="1"/>
          <p:nvPr/>
        </p:nvSpPr>
        <p:spPr>
          <a:xfrm>
            <a:off x="6886301" y="3331374"/>
            <a:ext cx="163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</a:t>
            </a:r>
            <a:r>
              <a:rPr lang="en-US" dirty="0" err="1"/>
              <a:t>dir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4E9CDF0-950B-B810-5AB7-D92FC297F9AC}"/>
              </a:ext>
            </a:extLst>
          </p:cNvPr>
          <p:cNvCxnSpPr>
            <a:cxnSpLocks/>
          </p:cNvCxnSpPr>
          <p:nvPr/>
        </p:nvCxnSpPr>
        <p:spPr>
          <a:xfrm>
            <a:off x="6974114" y="3777570"/>
            <a:ext cx="820057" cy="2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6B814BB-BB07-7DC4-175B-DC78E2C05023}"/>
              </a:ext>
            </a:extLst>
          </p:cNvPr>
          <p:cNvSpPr txBox="1"/>
          <p:nvPr/>
        </p:nvSpPr>
        <p:spPr>
          <a:xfrm>
            <a:off x="10580914" y="4232388"/>
            <a:ext cx="79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</a:t>
            </a:r>
            <a:r>
              <a:rPr lang="en-US" dirty="0" err="1"/>
              <a:t>dir</a:t>
            </a:r>
            <a:endParaRPr lang="en-US" dirty="0"/>
          </a:p>
          <a:p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931D66-0D18-797A-2DDC-D206709F3DF1}"/>
              </a:ext>
            </a:extLst>
          </p:cNvPr>
          <p:cNvCxnSpPr>
            <a:cxnSpLocks/>
          </p:cNvCxnSpPr>
          <p:nvPr/>
        </p:nvCxnSpPr>
        <p:spPr>
          <a:xfrm flipV="1">
            <a:off x="10580914" y="4395260"/>
            <a:ext cx="0" cy="554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504438-4BA5-B6ED-76FE-D5D33EC5C0FD}"/>
              </a:ext>
            </a:extLst>
          </p:cNvPr>
          <p:cNvCxnSpPr/>
          <p:nvPr/>
        </p:nvCxnSpPr>
        <p:spPr>
          <a:xfrm>
            <a:off x="529771" y="4453389"/>
            <a:ext cx="0" cy="7790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C2D94D5-14D0-BE1A-8498-440A1232497F}"/>
              </a:ext>
            </a:extLst>
          </p:cNvPr>
          <p:cNvSpPr txBox="1"/>
          <p:nvPr/>
        </p:nvSpPr>
        <p:spPr>
          <a:xfrm>
            <a:off x="-94863" y="4578666"/>
            <a:ext cx="917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50mm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792742-F6FC-9411-F113-4B2F069A449C}"/>
              </a:ext>
            </a:extLst>
          </p:cNvPr>
          <p:cNvCxnSpPr>
            <a:cxnSpLocks/>
          </p:cNvCxnSpPr>
          <p:nvPr/>
        </p:nvCxnSpPr>
        <p:spPr>
          <a:xfrm flipV="1">
            <a:off x="2811097" y="4453389"/>
            <a:ext cx="3517022" cy="38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AB86-2DBC-0B06-22E7-36DC6750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the off beam detector at 50 mm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60738-074D-CE49-AABC-8098EA717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220686"/>
            <a:ext cx="4538133" cy="34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89C81D-21B9-E6C4-633F-D8BFC46DC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276" y="2220686"/>
            <a:ext cx="4538133" cy="3403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2F019C-A6E9-513E-0DC8-D355A11CB504}"/>
              </a:ext>
            </a:extLst>
          </p:cNvPr>
          <p:cNvSpPr/>
          <p:nvPr/>
        </p:nvSpPr>
        <p:spPr>
          <a:xfrm>
            <a:off x="1734457" y="1853248"/>
            <a:ext cx="8498114" cy="577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2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4353-51EB-52A8-831C-C3B35976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the off beam detector at 50 mm continued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6A7D8-BF7F-B10E-F428-7255E2F8E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61" y="1952070"/>
            <a:ext cx="6100839" cy="45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2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4619-7D3B-529C-5753-894E1F0D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on the face perpendicular to the beamline at 100mm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3A0969-9A81-1DC8-873A-2335A2823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2292123"/>
            <a:ext cx="5594349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234F4-79D5-3A6E-CDEB-2BE150ECE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623" y="2292123"/>
            <a:ext cx="559435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5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7E78-A326-71AB-52D1-8F790BA3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021889" cy="1400530"/>
          </a:xfrm>
        </p:spPr>
        <p:txBody>
          <a:bodyPr/>
          <a:lstStyle/>
          <a:p>
            <a:r>
              <a:rPr lang="en-US" dirty="0"/>
              <a:t>What if we go higher off the beam?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F9E79-446C-6EBC-81EE-831DCE3BF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4" y="2126343"/>
            <a:ext cx="6028266" cy="452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F7D74-F458-1217-2C14-7AF1792F0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6343"/>
            <a:ext cx="6028266" cy="452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C38AE6-8375-C451-2760-F24FC0F6F9EC}"/>
              </a:ext>
            </a:extLst>
          </p:cNvPr>
          <p:cNvSpPr txBox="1"/>
          <p:nvPr/>
        </p:nvSpPr>
        <p:spPr>
          <a:xfrm>
            <a:off x="725714" y="1545771"/>
            <a:ext cx="478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100mm off beam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6EEAD-D3D3-7729-44F5-043CEBC72987}"/>
              </a:ext>
            </a:extLst>
          </p:cNvPr>
          <p:cNvSpPr txBox="1"/>
          <p:nvPr/>
        </p:nvSpPr>
        <p:spPr>
          <a:xfrm>
            <a:off x="7341809" y="1498430"/>
            <a:ext cx="478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50mm off beam</a:t>
            </a:r>
          </a:p>
        </p:txBody>
      </p:sp>
    </p:spTree>
    <p:extLst>
      <p:ext uri="{BB962C8B-B14F-4D97-AF65-F5344CB8AC3E}">
        <p14:creationId xmlns:p14="http://schemas.microsoft.com/office/powerpoint/2010/main" val="179368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E3B1-A1D1-CD63-EFDA-1AE7F26F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68" y="257628"/>
            <a:ext cx="1668075" cy="1447800"/>
          </a:xfrm>
        </p:spPr>
        <p:txBody>
          <a:bodyPr/>
          <a:lstStyle/>
          <a:p>
            <a:r>
              <a:rPr lang="en-US" dirty="0"/>
              <a:t>Sanity Checks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CF0A-A784-9712-C2C8-FC454923D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9143" y="2191657"/>
            <a:ext cx="10980057" cy="4521199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buAutoNum type="arabicPeriod"/>
            </a:pPr>
            <a:r>
              <a:rPr lang="en-US" sz="3300" dirty="0"/>
              <a:t>Under 0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Peak at zero degrees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Absorption dependance must recover the beer lambert law</a:t>
            </a:r>
          </a:p>
          <a:p>
            <a:pPr marL="342900" indent="-342900">
              <a:buAutoNum type="arabicPeriod"/>
            </a:pPr>
            <a:r>
              <a:rPr lang="en-US" sz="3300" dirty="0"/>
              <a:t>Under conditions where 1 scattering event per photon on average occurs: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We must recover the Fornier Forand distribution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be close</a:t>
            </a:r>
          </a:p>
          <a:p>
            <a:pPr marL="342900" indent="-342900">
              <a:buAutoNum type="arabicPeriod"/>
            </a:pPr>
            <a:r>
              <a:rPr lang="en-US" sz="3300" dirty="0"/>
              <a:t>Under reasonable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Increasing photon number must reduce std of solutions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</a:t>
            </a:r>
            <a:r>
              <a:rPr lang="en-US" sz="3300" dirty="0" err="1"/>
              <a:t>divarge</a:t>
            </a:r>
            <a:endParaRPr lang="en-US" sz="3300" dirty="0"/>
          </a:p>
          <a:p>
            <a:pPr marL="342900" indent="-342900">
              <a:buAutoNum type="arabicPeriod"/>
            </a:pPr>
            <a:r>
              <a:rPr lang="en-US" sz="3300" dirty="0"/>
              <a:t> Under very large scattering: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Source must look isotropic at a distance with no forward bias</a:t>
            </a:r>
          </a:p>
          <a:p>
            <a:pPr marL="800100" lvl="1" indent="-342900">
              <a:buAutoNum type="arabicPeriod"/>
            </a:pPr>
            <a:r>
              <a:rPr lang="en-US" sz="3300" dirty="0"/>
              <a:t>HG and FF must converge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07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77E8-C58B-D8E1-A3AD-F4FA7A6F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Scattering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E261-3E13-2E5E-33EF-D6FD51D80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X-Y Slice of Monte Carlo Sim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8ECB81-F538-BEF0-3CDD-5EF1CB03CF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737049"/>
            <a:ext cx="4395787" cy="329684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E22DB-48CA-CC3E-4860-A85544A96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Fluence measured at angles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FF93458-1A9C-97F1-32B3-696333D6E3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2737048"/>
            <a:ext cx="4395788" cy="329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1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EC54-3F47-EEB3-F49C-6ADDCD54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75342" cy="1400530"/>
          </a:xfrm>
        </p:spPr>
        <p:txBody>
          <a:bodyPr/>
          <a:lstStyle/>
          <a:p>
            <a:r>
              <a:rPr lang="en-US" dirty="0"/>
              <a:t>Absorption/Beer-Lambert Crosscheck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BBE854-CF5E-5F60-728F-58D0ED7286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2510036"/>
            <a:ext cx="4395787" cy="3296840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8D83059-441A-03D2-BE01-4CCFDE08CA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1740297"/>
              </p:ext>
            </p:extLst>
          </p:nvPr>
        </p:nvGraphicFramePr>
        <p:xfrm>
          <a:off x="7212496" y="2441851"/>
          <a:ext cx="310895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1730474470"/>
                    </a:ext>
                  </a:extLst>
                </a:gridCol>
                <a:gridCol w="1040959">
                  <a:extLst>
                    <a:ext uri="{9D8B030D-6E8A-4147-A177-3AD203B41FA5}">
                      <a16:colId xmlns:a16="http://schemas.microsoft.com/office/drawing/2014/main" val="567074295"/>
                    </a:ext>
                  </a:extLst>
                </a:gridCol>
                <a:gridCol w="1031679">
                  <a:extLst>
                    <a:ext uri="{9D8B030D-6E8A-4147-A177-3AD203B41FA5}">
                      <a16:colId xmlns:a16="http://schemas.microsoft.com/office/drawing/2014/main" val="1091934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Absorption 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Normalized 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Beer-Lambert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001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2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4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47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846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44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4.32e-5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4.54e-5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61462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B67D98-2AB6-50D2-9945-27B920CEACCA}"/>
              </a:ext>
            </a:extLst>
          </p:cNvPr>
          <p:cNvGraphicFramePr>
            <a:graphicFrameLocks noGrp="1"/>
          </p:cNvGraphicFramePr>
          <p:nvPr/>
        </p:nvGraphicFramePr>
        <p:xfrm>
          <a:off x="1103313" y="2052638"/>
          <a:ext cx="3108957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1411392253"/>
                    </a:ext>
                  </a:extLst>
                </a:gridCol>
                <a:gridCol w="1040959">
                  <a:extLst>
                    <a:ext uri="{9D8B030D-6E8A-4147-A177-3AD203B41FA5}">
                      <a16:colId xmlns:a16="http://schemas.microsoft.com/office/drawing/2014/main" val="1959931963"/>
                    </a:ext>
                  </a:extLst>
                </a:gridCol>
                <a:gridCol w="1031679">
                  <a:extLst>
                    <a:ext uri="{9D8B030D-6E8A-4147-A177-3AD203B41FA5}">
                      <a16:colId xmlns:a16="http://schemas.microsoft.com/office/drawing/2014/main" val="1429822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Absorption Coeff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Normalized 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Beer-Lambert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13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69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17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2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3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26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4.32e-5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4.54e-5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18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022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25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1B274C-CE28-9F6D-3076-878C5449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14" y="1271571"/>
            <a:ext cx="6410372" cy="431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0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FCEAB-ABFC-8D66-7156-C4D4613FC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42" b="90598" l="10000" r="90000">
                        <a14:foregroundMark x1="55429" y1="8761" x2="55429" y2="8761"/>
                        <a14:foregroundMark x1="58762" y1="5342" x2="58762" y2="5342"/>
                        <a14:foregroundMark x1="32952" y1="82372" x2="32952" y2="82372"/>
                        <a14:foregroundMark x1="40762" y1="90598" x2="40762" y2="905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2504" y="1126600"/>
            <a:ext cx="5159439" cy="4604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C0281F9-AE33-C54F-6371-5A8BA4F8BBE5}"/>
              </a:ext>
            </a:extLst>
          </p:cNvPr>
          <p:cNvSpPr/>
          <p:nvPr/>
        </p:nvSpPr>
        <p:spPr>
          <a:xfrm>
            <a:off x="3634740" y="2007870"/>
            <a:ext cx="266700" cy="206121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7D1CEEF-E4DF-C033-6E35-437D4DB84C17}"/>
              </a:ext>
            </a:extLst>
          </p:cNvPr>
          <p:cNvSpPr/>
          <p:nvPr/>
        </p:nvSpPr>
        <p:spPr>
          <a:xfrm rot="18917699">
            <a:off x="4243709" y="3954707"/>
            <a:ext cx="348921" cy="173124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55C0671-64F6-8017-0160-04A07EC42E40}"/>
              </a:ext>
            </a:extLst>
          </p:cNvPr>
          <p:cNvSpPr/>
          <p:nvPr/>
        </p:nvSpPr>
        <p:spPr>
          <a:xfrm rot="15111459">
            <a:off x="6104704" y="3969511"/>
            <a:ext cx="348921" cy="226585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2529DFC-20CC-F07A-DB02-6A99A547BE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562600" y="1644650"/>
            <a:ext cx="1651000" cy="15621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BA14ED-B918-C490-6FC0-67843D77AB5B}"/>
              </a:ext>
            </a:extLst>
          </p:cNvPr>
          <p:cNvSpPr txBox="1"/>
          <p:nvPr/>
        </p:nvSpPr>
        <p:spPr>
          <a:xfrm>
            <a:off x="2892170" y="2907670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AE0237-E7C1-4247-ED49-15AE6D84F59E}"/>
              </a:ext>
            </a:extLst>
          </p:cNvPr>
          <p:cNvSpPr txBox="1"/>
          <p:nvPr/>
        </p:nvSpPr>
        <p:spPr>
          <a:xfrm>
            <a:off x="3561987" y="4840828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7BF37-57D3-74A6-969A-C0B868A90B66}"/>
              </a:ext>
            </a:extLst>
          </p:cNvPr>
          <p:cNvSpPr txBox="1"/>
          <p:nvPr/>
        </p:nvSpPr>
        <p:spPr>
          <a:xfrm>
            <a:off x="5972174" y="5257800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250mm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DAB4E-913E-4468-8737-25AA69951F3C}"/>
              </a:ext>
            </a:extLst>
          </p:cNvPr>
          <p:cNvSpPr txBox="1"/>
          <p:nvPr/>
        </p:nvSpPr>
        <p:spPr>
          <a:xfrm>
            <a:off x="6814311" y="1387691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594440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87B9A-4547-6171-10C9-2D4D6D63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47828" y="1143000"/>
            <a:ext cx="7084308" cy="460221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1182A7D-3A1B-CA10-457B-75A904ECC71D}"/>
              </a:ext>
            </a:extLst>
          </p:cNvPr>
          <p:cNvSpPr/>
          <p:nvPr/>
        </p:nvSpPr>
        <p:spPr>
          <a:xfrm>
            <a:off x="2879090" y="2413502"/>
            <a:ext cx="232410" cy="238074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6EFB9-9A34-AD74-917E-A7738C6D91C6}"/>
              </a:ext>
            </a:extLst>
          </p:cNvPr>
          <p:cNvSpPr txBox="1"/>
          <p:nvPr/>
        </p:nvSpPr>
        <p:spPr>
          <a:xfrm>
            <a:off x="2102230" y="3444107"/>
            <a:ext cx="8318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Variable </a:t>
            </a:r>
            <a:r>
              <a:rPr lang="en-US" sz="1100" dirty="0" err="1">
                <a:solidFill>
                  <a:schemeClr val="bg1"/>
                </a:solidFill>
              </a:rPr>
              <a:t>lenght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E78F493-D7DA-AC7E-FB1D-92CFD2CD4D89}"/>
              </a:ext>
            </a:extLst>
          </p:cNvPr>
          <p:cNvSpPr/>
          <p:nvPr/>
        </p:nvSpPr>
        <p:spPr>
          <a:xfrm rot="18070434">
            <a:off x="3674177" y="4487545"/>
            <a:ext cx="327829" cy="172359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317805-2428-4D7D-B131-A8EDFE352F9B}"/>
              </a:ext>
            </a:extLst>
          </p:cNvPr>
          <p:cNvSpPr txBox="1"/>
          <p:nvPr/>
        </p:nvSpPr>
        <p:spPr>
          <a:xfrm>
            <a:off x="3189303" y="5483604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30mm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17FC13F-B617-6FC9-0C13-F8CCA7F4BD28}"/>
              </a:ext>
            </a:extLst>
          </p:cNvPr>
          <p:cNvSpPr/>
          <p:nvPr/>
        </p:nvSpPr>
        <p:spPr>
          <a:xfrm rot="15289893">
            <a:off x="6761718" y="2906870"/>
            <a:ext cx="327829" cy="460534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4C019C-78AB-3A17-A8D5-7EC2A0A22964}"/>
              </a:ext>
            </a:extLst>
          </p:cNvPr>
          <p:cNvSpPr txBox="1"/>
          <p:nvPr/>
        </p:nvSpPr>
        <p:spPr>
          <a:xfrm>
            <a:off x="6616791" y="5385881"/>
            <a:ext cx="83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100mm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E673AFA-A224-ECC8-2CCD-8146597094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12377" y="1686727"/>
            <a:ext cx="1377950" cy="76039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32AF19-96BE-F49F-C8A1-164A4CBAF944}"/>
                  </a:ext>
                </a:extLst>
              </p:cNvPr>
              <p:cNvSpPr txBox="1"/>
              <p:nvPr/>
            </p:nvSpPr>
            <p:spPr>
              <a:xfrm>
                <a:off x="3908391" y="927556"/>
                <a:ext cx="1928985" cy="44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Each square serves as a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chemeClr val="bg1"/>
                    </a:solidFill>
                  </a:rPr>
                  <a:t> detector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32AF19-96BE-F49F-C8A1-164A4CBAF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91" y="927556"/>
                <a:ext cx="1928985" cy="445378"/>
              </a:xfrm>
              <a:prstGeom prst="rect">
                <a:avLst/>
              </a:prstGeom>
              <a:blipFill>
                <a:blip r:embed="rId4"/>
                <a:stretch>
                  <a:fillRect t="-137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605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6565BAA-2301-7451-36E9-D39A95C08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6CD68-6D14-CDB0-C0F5-0885DEA481F1}"/>
              </a:ext>
            </a:extLst>
          </p:cNvPr>
          <p:cNvCxnSpPr/>
          <p:nvPr/>
        </p:nvCxnSpPr>
        <p:spPr>
          <a:xfrm>
            <a:off x="2767018" y="3252786"/>
            <a:ext cx="4619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C4DE47-CA65-2EA4-16EC-64D3F3FE5C7A}"/>
              </a:ext>
            </a:extLst>
          </p:cNvPr>
          <p:cNvCxnSpPr>
            <a:cxnSpLocks/>
          </p:cNvCxnSpPr>
          <p:nvPr/>
        </p:nvCxnSpPr>
        <p:spPr>
          <a:xfrm>
            <a:off x="2714625" y="2624143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948FBA-A5C8-DB5F-CCBE-CAC1844D4B83}"/>
              </a:ext>
            </a:extLst>
          </p:cNvPr>
          <p:cNvCxnSpPr>
            <a:cxnSpLocks/>
          </p:cNvCxnSpPr>
          <p:nvPr/>
        </p:nvCxnSpPr>
        <p:spPr>
          <a:xfrm>
            <a:off x="2714625" y="2752731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Magnifying glass with solid fill">
            <a:extLst>
              <a:ext uri="{FF2B5EF4-FFF2-40B4-BE49-F238E27FC236}">
                <a16:creationId xmlns:a16="http://schemas.microsoft.com/office/drawing/2014/main" id="{39911F8E-0344-5EDD-10E3-9D39D8096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5606" y="2495554"/>
            <a:ext cx="457199" cy="457199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23EBFE45-F981-D5CA-7096-3BBD1E5A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099" y="2495555"/>
            <a:ext cx="457199" cy="457199"/>
          </a:xfrm>
          <a:prstGeom prst="rect">
            <a:avLst/>
          </a:prstGeom>
        </p:spPr>
      </p:pic>
      <p:pic>
        <p:nvPicPr>
          <p:cNvPr id="26" name="Graphic 25" descr="Magnifying glass with solid fill">
            <a:extLst>
              <a:ext uri="{FF2B5EF4-FFF2-40B4-BE49-F238E27FC236}">
                <a16:creationId xmlns:a16="http://schemas.microsoft.com/office/drawing/2014/main" id="{EB670656-E039-CF94-5F78-DFE981463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4496" y="2495555"/>
            <a:ext cx="457199" cy="45719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4EEE27-7790-816F-93F0-6BAEAF9F8021}"/>
              </a:ext>
            </a:extLst>
          </p:cNvPr>
          <p:cNvCxnSpPr>
            <a:cxnSpLocks/>
          </p:cNvCxnSpPr>
          <p:nvPr/>
        </p:nvCxnSpPr>
        <p:spPr>
          <a:xfrm>
            <a:off x="4495203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55ECCD-39FF-CCA8-7A12-51DBEE28A669}"/>
              </a:ext>
            </a:extLst>
          </p:cNvPr>
          <p:cNvCxnSpPr>
            <a:cxnSpLocks/>
          </p:cNvCxnSpPr>
          <p:nvPr/>
        </p:nvCxnSpPr>
        <p:spPr>
          <a:xfrm>
            <a:off x="4776183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A481D-307C-847F-B2F1-0C2C98167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E44C2C-AE89-9A7E-0DBB-47A8EE8FEDA0}"/>
              </a:ext>
            </a:extLst>
          </p:cNvPr>
          <p:cNvCxnSpPr/>
          <p:nvPr/>
        </p:nvCxnSpPr>
        <p:spPr>
          <a:xfrm>
            <a:off x="2767018" y="3252786"/>
            <a:ext cx="4619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F42AF4-820B-6BFD-D357-C8D6B5D6F72A}"/>
              </a:ext>
            </a:extLst>
          </p:cNvPr>
          <p:cNvCxnSpPr>
            <a:cxnSpLocks/>
          </p:cNvCxnSpPr>
          <p:nvPr/>
        </p:nvCxnSpPr>
        <p:spPr>
          <a:xfrm>
            <a:off x="2714625" y="2624143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C9C1E3-57BF-581A-DBC1-D304040A83CB}"/>
              </a:ext>
            </a:extLst>
          </p:cNvPr>
          <p:cNvCxnSpPr>
            <a:cxnSpLocks/>
          </p:cNvCxnSpPr>
          <p:nvPr/>
        </p:nvCxnSpPr>
        <p:spPr>
          <a:xfrm>
            <a:off x="2714625" y="2752731"/>
            <a:ext cx="56578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C7D21AF2-C79F-C3BD-BF02-19805959A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5606" y="2495554"/>
            <a:ext cx="457199" cy="457199"/>
          </a:xfrm>
          <a:prstGeom prst="rect">
            <a:avLst/>
          </a:prstGeom>
        </p:spPr>
      </p:pic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DCFD35F9-3519-E81C-26FD-65AEB3273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980" y="2495555"/>
            <a:ext cx="457199" cy="457199"/>
          </a:xfrm>
          <a:prstGeom prst="rect">
            <a:avLst/>
          </a:prstGeom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1EB81947-DBD2-4362-A8F5-2E3502635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7147" y="2495555"/>
            <a:ext cx="457199" cy="45719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EC0EB9-5106-1402-D101-A1020E1D4F98}"/>
              </a:ext>
            </a:extLst>
          </p:cNvPr>
          <p:cNvCxnSpPr>
            <a:cxnSpLocks/>
          </p:cNvCxnSpPr>
          <p:nvPr/>
        </p:nvCxnSpPr>
        <p:spPr>
          <a:xfrm>
            <a:off x="3976084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7B982-F4D4-8F47-A101-11DE9425D99C}"/>
              </a:ext>
            </a:extLst>
          </p:cNvPr>
          <p:cNvCxnSpPr>
            <a:cxnSpLocks/>
          </p:cNvCxnSpPr>
          <p:nvPr/>
        </p:nvCxnSpPr>
        <p:spPr>
          <a:xfrm>
            <a:off x="4257064" y="2686050"/>
            <a:ext cx="0" cy="2052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6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25599FAC-D157-7692-AD8E-177125253879}"/>
              </a:ext>
            </a:extLst>
          </p:cNvPr>
          <p:cNvGrpSpPr/>
          <p:nvPr/>
        </p:nvGrpSpPr>
        <p:grpSpPr>
          <a:xfrm>
            <a:off x="428625" y="2247511"/>
            <a:ext cx="2679700" cy="1362334"/>
            <a:chOff x="428625" y="2247511"/>
            <a:chExt cx="2679700" cy="136233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3928D5-FE2F-56A9-1EB2-04FB7DA64D97}"/>
                </a:ext>
              </a:extLst>
            </p:cNvPr>
            <p:cNvSpPr/>
            <p:nvPr/>
          </p:nvSpPr>
          <p:spPr>
            <a:xfrm>
              <a:off x="428625" y="2247511"/>
              <a:ext cx="2679700" cy="13623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CE1DC3-23C8-4AF9-DBEE-91E1C778D22E}"/>
                </a:ext>
              </a:extLst>
            </p:cNvPr>
            <p:cNvSpPr/>
            <p:nvPr/>
          </p:nvSpPr>
          <p:spPr>
            <a:xfrm>
              <a:off x="1543050" y="2476500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E4038BC-EDA0-9FD1-51C2-5BCB77F620EF}"/>
                </a:ext>
              </a:extLst>
            </p:cNvPr>
            <p:cNvSpPr/>
            <p:nvPr/>
          </p:nvSpPr>
          <p:spPr>
            <a:xfrm rot="5400000">
              <a:off x="2371542" y="3021012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Bent 7">
              <a:extLst>
                <a:ext uri="{FF2B5EF4-FFF2-40B4-BE49-F238E27FC236}">
                  <a16:creationId xmlns:a16="http://schemas.microsoft.com/office/drawing/2014/main" id="{76B0FFDC-9F49-5DC8-380D-393933D3E5F6}"/>
                </a:ext>
              </a:extLst>
            </p:cNvPr>
            <p:cNvSpPr/>
            <p:nvPr/>
          </p:nvSpPr>
          <p:spPr>
            <a:xfrm rot="16200000" flipV="1">
              <a:off x="1347045" y="2832713"/>
              <a:ext cx="361615" cy="385994"/>
            </a:xfrm>
            <a:prstGeom prst="ben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" name="Graphic 9" descr="Flashlight with solid fill">
              <a:extLst>
                <a:ext uri="{FF2B5EF4-FFF2-40B4-BE49-F238E27FC236}">
                  <a16:creationId xmlns:a16="http://schemas.microsoft.com/office/drawing/2014/main" id="{63D2EDFB-DA38-B575-1A8F-EFD6D0FD45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700000">
              <a:off x="842385" y="2901374"/>
              <a:ext cx="518677" cy="518677"/>
            </a:xfrm>
            <a:prstGeom prst="rect">
              <a:avLst/>
            </a:prstGeom>
          </p:spPr>
        </p:pic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799E2070-AAC8-60B5-4838-E005FE0868B2}"/>
                </a:ext>
              </a:extLst>
            </p:cNvPr>
            <p:cNvSpPr/>
            <p:nvPr/>
          </p:nvSpPr>
          <p:spPr>
            <a:xfrm>
              <a:off x="1334853" y="3071812"/>
              <a:ext cx="913047" cy="177800"/>
            </a:xfrm>
            <a:prstGeom prst="righ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apezoid 12">
              <a:extLst>
                <a:ext uri="{FF2B5EF4-FFF2-40B4-BE49-F238E27FC236}">
                  <a16:creationId xmlns:a16="http://schemas.microsoft.com/office/drawing/2014/main" id="{999240F6-7D50-7FEF-B896-ED2E06AA7B22}"/>
                </a:ext>
              </a:extLst>
            </p:cNvPr>
            <p:cNvSpPr/>
            <p:nvPr/>
          </p:nvSpPr>
          <p:spPr>
            <a:xfrm>
              <a:off x="1489030" y="2737320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653CD136-25E3-97C2-2304-E9E0AC8301A1}"/>
                </a:ext>
              </a:extLst>
            </p:cNvPr>
            <p:cNvSpPr/>
            <p:nvPr/>
          </p:nvSpPr>
          <p:spPr>
            <a:xfrm rot="5400000">
              <a:off x="2142122" y="3108209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049443-D6DA-9B48-29F0-A2D0B0A4AA80}"/>
                </a:ext>
              </a:extLst>
            </p:cNvPr>
            <p:cNvSpPr txBox="1"/>
            <p:nvPr/>
          </p:nvSpPr>
          <p:spPr>
            <a:xfrm flipH="1">
              <a:off x="1979428" y="2887146"/>
              <a:ext cx="96202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Beam Line Detector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4C194B-D7B0-E2C0-7900-C3EA08778D59}"/>
                </a:ext>
              </a:extLst>
            </p:cNvPr>
            <p:cNvSpPr txBox="1"/>
            <p:nvPr/>
          </p:nvSpPr>
          <p:spPr>
            <a:xfrm flipH="1">
              <a:off x="1102380" y="2333366"/>
              <a:ext cx="12183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Off the Beam Line Detector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D6792D-EF1D-74B6-DA51-B144128FF391}"/>
                </a:ext>
              </a:extLst>
            </p:cNvPr>
            <p:cNvSpPr txBox="1"/>
            <p:nvPr/>
          </p:nvSpPr>
          <p:spPr>
            <a:xfrm flipH="1">
              <a:off x="761884" y="2928678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Light Source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573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43F2CCF-7C66-8710-8D35-02CA9B1E5B4C}"/>
              </a:ext>
            </a:extLst>
          </p:cNvPr>
          <p:cNvGrpSpPr/>
          <p:nvPr/>
        </p:nvGrpSpPr>
        <p:grpSpPr>
          <a:xfrm>
            <a:off x="422275" y="2254055"/>
            <a:ext cx="2519180" cy="1803789"/>
            <a:chOff x="422275" y="2254055"/>
            <a:chExt cx="2519180" cy="18037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CEFEE2-E6F4-EAB6-6B0A-56572145281E}"/>
                </a:ext>
              </a:extLst>
            </p:cNvPr>
            <p:cNvSpPr/>
            <p:nvPr/>
          </p:nvSpPr>
          <p:spPr>
            <a:xfrm>
              <a:off x="422275" y="2254055"/>
              <a:ext cx="2447925" cy="180378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E18682A-2059-3BF3-6B41-1C918CF28CC0}"/>
                </a:ext>
              </a:extLst>
            </p:cNvPr>
            <p:cNvSpPr/>
            <p:nvPr/>
          </p:nvSpPr>
          <p:spPr>
            <a:xfrm>
              <a:off x="1543050" y="2476500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DD1C9B8-7814-761A-5475-B8676EDAA114}"/>
                </a:ext>
              </a:extLst>
            </p:cNvPr>
            <p:cNvSpPr/>
            <p:nvPr/>
          </p:nvSpPr>
          <p:spPr>
            <a:xfrm rot="5400000">
              <a:off x="2371542" y="3021012"/>
              <a:ext cx="177800" cy="279400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05D96BFF-93A7-FCBE-39C1-6D0812CC75C4}"/>
                </a:ext>
              </a:extLst>
            </p:cNvPr>
            <p:cNvSpPr/>
            <p:nvPr/>
          </p:nvSpPr>
          <p:spPr>
            <a:xfrm rot="16200000" flipV="1">
              <a:off x="1347045" y="2832713"/>
              <a:ext cx="361615" cy="385994"/>
            </a:xfrm>
            <a:prstGeom prst="ben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1" name="Graphic 10" descr="Flashlight with solid fill">
              <a:extLst>
                <a:ext uri="{FF2B5EF4-FFF2-40B4-BE49-F238E27FC236}">
                  <a16:creationId xmlns:a16="http://schemas.microsoft.com/office/drawing/2014/main" id="{EE4C366C-0BAD-CE8C-1578-D1C864E656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700000">
              <a:off x="842385" y="2901374"/>
              <a:ext cx="518677" cy="518677"/>
            </a:xfrm>
            <a:prstGeom prst="rect">
              <a:avLst/>
            </a:prstGeom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78CBA959-807B-20AA-1177-65F8811B3440}"/>
                </a:ext>
              </a:extLst>
            </p:cNvPr>
            <p:cNvSpPr/>
            <p:nvPr/>
          </p:nvSpPr>
          <p:spPr>
            <a:xfrm>
              <a:off x="1334853" y="3071812"/>
              <a:ext cx="913047" cy="177800"/>
            </a:xfrm>
            <a:prstGeom prst="rightArrow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9E918602-34A7-39B5-85DC-7BB68CE43956}"/>
                </a:ext>
              </a:extLst>
            </p:cNvPr>
            <p:cNvSpPr/>
            <p:nvPr/>
          </p:nvSpPr>
          <p:spPr>
            <a:xfrm>
              <a:off x="1489030" y="2737320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4F0E34AA-E366-DB82-1CF4-CA9C7A0DA43F}"/>
                </a:ext>
              </a:extLst>
            </p:cNvPr>
            <p:cNvSpPr/>
            <p:nvPr/>
          </p:nvSpPr>
          <p:spPr>
            <a:xfrm rot="5400000">
              <a:off x="2142122" y="3108209"/>
              <a:ext cx="279400" cy="105007"/>
            </a:xfrm>
            <a:prstGeom prst="trapezoid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0BA997-9CA1-3F5B-53C2-52FE1083E497}"/>
                </a:ext>
              </a:extLst>
            </p:cNvPr>
            <p:cNvSpPr txBox="1"/>
            <p:nvPr/>
          </p:nvSpPr>
          <p:spPr>
            <a:xfrm flipH="1">
              <a:off x="1979428" y="2887146"/>
              <a:ext cx="96202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Beam Line Detector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B975E-2D67-7407-BC7E-C35B94137F48}"/>
                </a:ext>
              </a:extLst>
            </p:cNvPr>
            <p:cNvSpPr txBox="1"/>
            <p:nvPr/>
          </p:nvSpPr>
          <p:spPr>
            <a:xfrm flipH="1">
              <a:off x="1102380" y="2333366"/>
              <a:ext cx="121836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Off the Beam Line Detector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407710-A1AD-D399-6E30-A411FADE02D4}"/>
                </a:ext>
              </a:extLst>
            </p:cNvPr>
            <p:cNvSpPr txBox="1"/>
            <p:nvPr/>
          </p:nvSpPr>
          <p:spPr>
            <a:xfrm flipH="1">
              <a:off x="761884" y="2928678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Light Source</a:t>
              </a:r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940DC2C5-F385-E6A4-FBA5-548D1471B8E6}"/>
                </a:ext>
              </a:extLst>
            </p:cNvPr>
            <p:cNvSpPr/>
            <p:nvPr/>
          </p:nvSpPr>
          <p:spPr>
            <a:xfrm>
              <a:off x="687383" y="2476500"/>
              <a:ext cx="93299" cy="67945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Left Brace 25">
              <a:extLst>
                <a:ext uri="{FF2B5EF4-FFF2-40B4-BE49-F238E27FC236}">
                  <a16:creationId xmlns:a16="http://schemas.microsoft.com/office/drawing/2014/main" id="{D577B799-758C-701C-4B2A-577949E84DE6}"/>
                </a:ext>
              </a:extLst>
            </p:cNvPr>
            <p:cNvSpPr/>
            <p:nvPr/>
          </p:nvSpPr>
          <p:spPr>
            <a:xfrm rot="16200000">
              <a:off x="1208293" y="2969954"/>
              <a:ext cx="93299" cy="67945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A14923-249E-CFD9-209D-8DEDFB22F0FB}"/>
                </a:ext>
              </a:extLst>
            </p:cNvPr>
            <p:cNvSpPr txBox="1"/>
            <p:nvPr/>
          </p:nvSpPr>
          <p:spPr>
            <a:xfrm rot="16200000" flipH="1">
              <a:off x="308585" y="2723892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15mm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57834D-C66F-BFC9-1221-2543514059C8}"/>
                </a:ext>
              </a:extLst>
            </p:cNvPr>
            <p:cNvSpPr txBox="1"/>
            <p:nvPr/>
          </p:nvSpPr>
          <p:spPr>
            <a:xfrm flipH="1">
              <a:off x="915217" y="3317006"/>
              <a:ext cx="6405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</a:rPr>
                <a:t>75.5mm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671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7A506-8321-BE3B-28AC-188C3776C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919301"/>
            <a:ext cx="10658475" cy="301939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C043817-0EA5-C7AA-70BB-F9004AC3674D}"/>
              </a:ext>
            </a:extLst>
          </p:cNvPr>
          <p:cNvSpPr/>
          <p:nvPr/>
        </p:nvSpPr>
        <p:spPr>
          <a:xfrm>
            <a:off x="2711450" y="2520950"/>
            <a:ext cx="355600" cy="3556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80D1D1-6E93-3912-E999-1BF513CFAC1A}"/>
              </a:ext>
            </a:extLst>
          </p:cNvPr>
          <p:cNvCxnSpPr/>
          <p:nvPr/>
        </p:nvCxnSpPr>
        <p:spPr>
          <a:xfrm>
            <a:off x="2889250" y="2876550"/>
            <a:ext cx="0" cy="14668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205F4A-E26A-7F96-CC0B-6FC9F31C3B9D}"/>
              </a:ext>
            </a:extLst>
          </p:cNvPr>
          <p:cNvSpPr txBox="1"/>
          <p:nvPr/>
        </p:nvSpPr>
        <p:spPr>
          <a:xfrm>
            <a:off x="2603504" y="4343400"/>
            <a:ext cx="571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75mm</a:t>
            </a:r>
          </a:p>
        </p:txBody>
      </p:sp>
    </p:spTree>
    <p:extLst>
      <p:ext uri="{BB962C8B-B14F-4D97-AF65-F5344CB8AC3E}">
        <p14:creationId xmlns:p14="http://schemas.microsoft.com/office/powerpoint/2010/main" val="1655192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FD87CF-E1DE-91E2-F3BD-CD9EB43D2004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8BE4B1-5691-A9A5-43B6-DABCA5E68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68A4776-C05F-648E-7C33-3BA3B5C233C7}"/>
                </a:ext>
              </a:extLst>
            </p:cNvPr>
            <p:cNvSpPr/>
            <p:nvPr/>
          </p:nvSpPr>
          <p:spPr>
            <a:xfrm>
              <a:off x="2000249" y="3232150"/>
              <a:ext cx="355600" cy="355600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2DFD35E-59A2-EDF0-533C-59C64393E960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429000"/>
              <a:ext cx="0" cy="10223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41EDA1-5AC1-92E5-E34B-696DC169A0BF}"/>
                </a:ext>
              </a:extLst>
            </p:cNvPr>
            <p:cNvSpPr txBox="1"/>
            <p:nvPr/>
          </p:nvSpPr>
          <p:spPr>
            <a:xfrm>
              <a:off x="1797055" y="4525089"/>
              <a:ext cx="6667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75.5mm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24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149A3D7-8962-C846-E034-E06801914764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472584-CC57-5BDB-796D-16F5178D895E}"/>
                </a:ext>
              </a:extLst>
            </p:cNvPr>
            <p:cNvGrpSpPr/>
            <p:nvPr/>
          </p:nvGrpSpPr>
          <p:grpSpPr>
            <a:xfrm>
              <a:off x="0" y="1702088"/>
              <a:ext cx="12192000" cy="3453824"/>
              <a:chOff x="0" y="1702088"/>
              <a:chExt cx="12192000" cy="345382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598D1AB-1BB7-4DBC-89E2-A98F24ED1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1702088"/>
                <a:ext cx="12192000" cy="3453824"/>
              </a:xfrm>
              <a:prstGeom prst="rect">
                <a:avLst/>
              </a:prstGeom>
            </p:spPr>
          </p:pic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DFF6058-66EF-7689-5409-3C4EE3B1CA63}"/>
                  </a:ext>
                </a:extLst>
              </p:cNvPr>
              <p:cNvSpPr/>
              <p:nvPr/>
            </p:nvSpPr>
            <p:spPr>
              <a:xfrm>
                <a:off x="1974849" y="2389029"/>
                <a:ext cx="355600" cy="355600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DB74A224-F013-D6C6-3F04-5066E6493A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2650" y="2635250"/>
                <a:ext cx="0" cy="1896189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885298-63C9-22C3-9278-A3D7983CFD7A}"/>
                  </a:ext>
                </a:extLst>
              </p:cNvPr>
              <p:cNvSpPr txBox="1"/>
              <p:nvPr/>
            </p:nvSpPr>
            <p:spPr>
              <a:xfrm>
                <a:off x="1819279" y="4531439"/>
                <a:ext cx="66674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/>
                    </a:solidFill>
                  </a:rPr>
                  <a:t>75.5mm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FA28164-64AF-3575-FBAA-24FA909C6202}"/>
                  </a:ext>
                </a:extLst>
              </p:cNvPr>
              <p:cNvSpPr/>
              <p:nvPr/>
            </p:nvSpPr>
            <p:spPr>
              <a:xfrm>
                <a:off x="1981198" y="2813050"/>
                <a:ext cx="355600" cy="355600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3B8A1C0-C233-A30A-E9EB-AF6F666138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6014" y="2589212"/>
                <a:ext cx="0" cy="447675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5796C265-4248-2B7F-3357-C1F74821CD30}"/>
                  </a:ext>
                </a:extLst>
              </p:cNvPr>
              <p:cNvSpPr/>
              <p:nvPr/>
            </p:nvSpPr>
            <p:spPr>
              <a:xfrm>
                <a:off x="1971674" y="2389029"/>
                <a:ext cx="355600" cy="355600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09069B1-E59A-440E-1EC8-5D47CC767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9475" y="2635250"/>
                <a:ext cx="0" cy="1896189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A972C02-0968-AE55-57C5-A2F79B04D9F0}"/>
                  </a:ext>
                </a:extLst>
              </p:cNvPr>
              <p:cNvSpPr/>
              <p:nvPr/>
            </p:nvSpPr>
            <p:spPr>
              <a:xfrm>
                <a:off x="1978023" y="2813050"/>
                <a:ext cx="355600" cy="355600"/>
              </a:xfrm>
              <a:prstGeom prst="ellips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17D9A4-B303-0CDC-7F35-74E386974F09}"/>
                </a:ext>
              </a:extLst>
            </p:cNvPr>
            <p:cNvSpPr txBox="1"/>
            <p:nvPr/>
          </p:nvSpPr>
          <p:spPr>
            <a:xfrm>
              <a:off x="1152539" y="2689938"/>
              <a:ext cx="66674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97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227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50809E-A110-BA04-EED5-A918627245FB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70CE1FF-CC25-A802-F979-1D14E7B2F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0E8F32D-1E3D-9039-D4B3-489DA3D95970}"/>
                </a:ext>
              </a:extLst>
            </p:cNvPr>
            <p:cNvSpPr/>
            <p:nvPr/>
          </p:nvSpPr>
          <p:spPr>
            <a:xfrm>
              <a:off x="1424609" y="2405574"/>
              <a:ext cx="1736748" cy="1083213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E0F0E59-2E52-0BA3-F9B4-D9DBE847BF1F}"/>
                </a:ext>
              </a:extLst>
            </p:cNvPr>
            <p:cNvSpPr/>
            <p:nvPr/>
          </p:nvSpPr>
          <p:spPr>
            <a:xfrm>
              <a:off x="1683027" y="3591645"/>
              <a:ext cx="1643982" cy="52315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7FCCF5-B546-F4E2-9687-81218D1E35E6}"/>
                </a:ext>
              </a:extLst>
            </p:cNvPr>
            <p:cNvSpPr txBox="1"/>
            <p:nvPr/>
          </p:nvSpPr>
          <p:spPr>
            <a:xfrm>
              <a:off x="2505018" y="2639404"/>
              <a:ext cx="1159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z=65mm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A082AD-6F05-4F35-23CC-9E9A70430B3A}"/>
                </a:ext>
              </a:extLst>
            </p:cNvPr>
            <p:cNvSpPr txBox="1"/>
            <p:nvPr/>
          </p:nvSpPr>
          <p:spPr>
            <a:xfrm>
              <a:off x="2458635" y="3591645"/>
              <a:ext cx="1159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z=75mm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3192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E57FD-4BB8-0650-9313-0B32B9DC3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088"/>
            <a:ext cx="12192000" cy="345382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91CFBF2-9BDB-DDCD-0F26-8B01A6E9B4CE}"/>
              </a:ext>
            </a:extLst>
          </p:cNvPr>
          <p:cNvSpPr/>
          <p:nvPr/>
        </p:nvSpPr>
        <p:spPr>
          <a:xfrm>
            <a:off x="1424609" y="2405574"/>
            <a:ext cx="1736748" cy="1083213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A8E548-C37F-610A-CB9D-7EC46719268D}"/>
              </a:ext>
            </a:extLst>
          </p:cNvPr>
          <p:cNvSpPr/>
          <p:nvPr/>
        </p:nvSpPr>
        <p:spPr>
          <a:xfrm>
            <a:off x="1683027" y="3591645"/>
            <a:ext cx="1643982" cy="523156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E121A-7986-1201-C501-F44CF44C9917}"/>
              </a:ext>
            </a:extLst>
          </p:cNvPr>
          <p:cNvSpPr txBox="1"/>
          <p:nvPr/>
        </p:nvSpPr>
        <p:spPr>
          <a:xfrm>
            <a:off x="2292983" y="2550534"/>
            <a:ext cx="1159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z=65mm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56665-7574-EB01-074E-A394A6DA38FB}"/>
              </a:ext>
            </a:extLst>
          </p:cNvPr>
          <p:cNvSpPr txBox="1"/>
          <p:nvPr/>
        </p:nvSpPr>
        <p:spPr>
          <a:xfrm>
            <a:off x="2458635" y="3591645"/>
            <a:ext cx="1159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z=75mm</a:t>
            </a:r>
          </a:p>
        </p:txBody>
      </p:sp>
    </p:spTree>
    <p:extLst>
      <p:ext uri="{BB962C8B-B14F-4D97-AF65-F5344CB8AC3E}">
        <p14:creationId xmlns:p14="http://schemas.microsoft.com/office/powerpoint/2010/main" val="903226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DD3545C-CADF-6C7C-DB64-25A8961CC052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EE13F9-0681-2C7F-F950-8304AF7E5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229373B-F027-025D-FDAF-CCCD9B659D2A}"/>
                </a:ext>
              </a:extLst>
            </p:cNvPr>
            <p:cNvCxnSpPr>
              <a:cxnSpLocks/>
            </p:cNvCxnSpPr>
            <p:nvPr/>
          </p:nvCxnSpPr>
          <p:spPr>
            <a:xfrm>
              <a:off x="1680934" y="2576556"/>
              <a:ext cx="0" cy="44767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928E364-EDE3-728E-BAAE-C7D4E56DCE1B}"/>
                </a:ext>
              </a:extLst>
            </p:cNvPr>
            <p:cNvSpPr/>
            <p:nvPr/>
          </p:nvSpPr>
          <p:spPr>
            <a:xfrm>
              <a:off x="1854199" y="2414429"/>
              <a:ext cx="355600" cy="355600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056B8C8-FE59-3352-DD92-8265D3C25AEC}"/>
                </a:ext>
              </a:extLst>
            </p:cNvPr>
            <p:cNvCxnSpPr>
              <a:cxnSpLocks/>
            </p:cNvCxnSpPr>
            <p:nvPr/>
          </p:nvCxnSpPr>
          <p:spPr>
            <a:xfrm>
              <a:off x="2022475" y="2581275"/>
              <a:ext cx="0" cy="189618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9B20FE-696C-8DD7-4506-91C10EE31879}"/>
                </a:ext>
              </a:extLst>
            </p:cNvPr>
            <p:cNvSpPr/>
            <p:nvPr/>
          </p:nvSpPr>
          <p:spPr>
            <a:xfrm>
              <a:off x="1860548" y="2838450"/>
              <a:ext cx="355600" cy="355600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68D904-68E5-1664-A61D-7FE3EC978A3C}"/>
                </a:ext>
              </a:extLst>
            </p:cNvPr>
            <p:cNvSpPr txBox="1"/>
            <p:nvPr/>
          </p:nvSpPr>
          <p:spPr>
            <a:xfrm>
              <a:off x="1187459" y="2677282"/>
              <a:ext cx="66674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FD7DE2-D38C-0AED-0A66-8A26E6A7108E}"/>
                </a:ext>
              </a:extLst>
            </p:cNvPr>
            <p:cNvSpPr txBox="1"/>
            <p:nvPr/>
          </p:nvSpPr>
          <p:spPr>
            <a:xfrm>
              <a:off x="1598389" y="4477464"/>
              <a:ext cx="78921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78.3 mm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91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6802E7D-E23E-4C4B-DFB8-D6359F278899}"/>
              </a:ext>
            </a:extLst>
          </p:cNvPr>
          <p:cNvGrpSpPr/>
          <p:nvPr/>
        </p:nvGrpSpPr>
        <p:grpSpPr>
          <a:xfrm>
            <a:off x="1524000" y="1313542"/>
            <a:ext cx="9144000" cy="3955144"/>
            <a:chOff x="1524000" y="1313542"/>
            <a:chExt cx="9144000" cy="395514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471F65A-0FBB-5D3D-D317-34339D0DF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154" b="23175"/>
            <a:stretch>
              <a:fillRect/>
            </a:stretch>
          </p:blipFill>
          <p:spPr>
            <a:xfrm>
              <a:off x="1524000" y="1313542"/>
              <a:ext cx="9144000" cy="395514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8F476-65E3-CC67-B54B-6DC457479E0A}"/>
                </a:ext>
              </a:extLst>
            </p:cNvPr>
            <p:cNvCxnSpPr/>
            <p:nvPr/>
          </p:nvCxnSpPr>
          <p:spPr>
            <a:xfrm>
              <a:off x="2709863" y="2957512"/>
              <a:ext cx="56673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CF5EDF9-03F4-E2B6-9CF8-1A7E226609C9}"/>
                </a:ext>
              </a:extLst>
            </p:cNvPr>
            <p:cNvCxnSpPr/>
            <p:nvPr/>
          </p:nvCxnSpPr>
          <p:spPr>
            <a:xfrm>
              <a:off x="2709863" y="3128962"/>
              <a:ext cx="56673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01339EB0-4AE0-76B3-AF4F-2D795D8624C0}"/>
                </a:ext>
              </a:extLst>
            </p:cNvPr>
            <p:cNvCxnSpPr>
              <a:cxnSpLocks/>
            </p:cNvCxnSpPr>
            <p:nvPr/>
          </p:nvCxnSpPr>
          <p:spPr>
            <a:xfrm>
              <a:off x="1866900" y="2738438"/>
              <a:ext cx="842963" cy="561975"/>
            </a:xfrm>
            <a:prstGeom prst="curvedConnector3">
              <a:avLst>
                <a:gd name="adj1" fmla="val 70339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FCA810-AA08-55FD-DFC8-6C936D7BDC9B}"/>
                </a:ext>
              </a:extLst>
            </p:cNvPr>
            <p:cNvSpPr txBox="1"/>
            <p:nvPr/>
          </p:nvSpPr>
          <p:spPr>
            <a:xfrm>
              <a:off x="1524000" y="2519691"/>
              <a:ext cx="8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Source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6EC1C-D738-CA04-DAC2-D35F36A5D587}"/>
                    </a:ext>
                  </a:extLst>
                </p:cNvPr>
                <p:cNvSpPr txBox="1"/>
                <p:nvPr/>
              </p:nvSpPr>
              <p:spPr>
                <a:xfrm>
                  <a:off x="8558213" y="1687297"/>
                  <a:ext cx="1371600" cy="43088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</a:rPr>
                    <a:t>Measurement at distance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a14:m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6EC1C-D738-CA04-DAC2-D35F36A5D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8213" y="1687297"/>
                  <a:ext cx="1371600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162831-4917-407E-4AA4-94F091851993}"/>
                    </a:ext>
                  </a:extLst>
                </p:cNvPr>
                <p:cNvSpPr txBox="1"/>
                <p:nvPr/>
              </p:nvSpPr>
              <p:spPr>
                <a:xfrm>
                  <a:off x="8624887" y="4520985"/>
                  <a:ext cx="1371600" cy="430887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</a:rPr>
                    <a:t>Measurement at distance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1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</m:t>
                      </m:r>
                    </m:oMath>
                  </a14:m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4162831-4917-407E-4AA4-94F0918519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4887" y="4520985"/>
                  <a:ext cx="1371600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5B59110F-A86B-6112-C414-F7AC9F6D460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8377238" y="2118184"/>
              <a:ext cx="866775" cy="83932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B9707475-7EBB-C803-83ED-291E2DE23166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rot="16200000" flipH="1">
              <a:off x="8147950" y="3358248"/>
              <a:ext cx="1392024" cy="93345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Graphic 46" descr="Magnifying glass with solid fill">
              <a:extLst>
                <a:ext uri="{FF2B5EF4-FFF2-40B4-BE49-F238E27FC236}">
                  <a16:creationId xmlns:a16="http://schemas.microsoft.com/office/drawing/2014/main" id="{444E70E9-1A1E-3822-98B6-9B3F43C4A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55178" y="2795584"/>
              <a:ext cx="333377" cy="333377"/>
            </a:xfrm>
            <a:prstGeom prst="rect">
              <a:avLst/>
            </a:prstGeom>
          </p:spPr>
        </p:pic>
        <p:pic>
          <p:nvPicPr>
            <p:cNvPr id="49" name="Graphic 48" descr="Magnifying glass with solid fill">
              <a:extLst>
                <a:ext uri="{FF2B5EF4-FFF2-40B4-BE49-F238E27FC236}">
                  <a16:creationId xmlns:a16="http://schemas.microsoft.com/office/drawing/2014/main" id="{7AC0CF23-0B44-F95C-4CAC-EA293AC3EC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02728" y="2986086"/>
              <a:ext cx="333377" cy="333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13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A6B577B-9404-5360-580A-48C8983F091F}"/>
              </a:ext>
            </a:extLst>
          </p:cNvPr>
          <p:cNvGrpSpPr/>
          <p:nvPr/>
        </p:nvGrpSpPr>
        <p:grpSpPr>
          <a:xfrm>
            <a:off x="0" y="1702088"/>
            <a:ext cx="12192000" cy="3453824"/>
            <a:chOff x="0" y="1702088"/>
            <a:chExt cx="12192000" cy="34538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38CC93-68E7-4D55-8D36-745F6C822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02088"/>
              <a:ext cx="12192000" cy="3453824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77BDA5F-82AD-7ACE-D27E-E698D0D5BB85}"/>
                </a:ext>
              </a:extLst>
            </p:cNvPr>
            <p:cNvSpPr/>
            <p:nvPr/>
          </p:nvSpPr>
          <p:spPr>
            <a:xfrm>
              <a:off x="2216605" y="3040742"/>
              <a:ext cx="214539" cy="214539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2662E0-8B6D-878C-5335-44B6F15B28CB}"/>
                </a:ext>
              </a:extLst>
            </p:cNvPr>
            <p:cNvSpPr/>
            <p:nvPr/>
          </p:nvSpPr>
          <p:spPr>
            <a:xfrm>
              <a:off x="2216605" y="2797175"/>
              <a:ext cx="214539" cy="214539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198C95-D7EA-B670-DEDB-33ABF7A5648A}"/>
                </a:ext>
              </a:extLst>
            </p:cNvPr>
            <p:cNvSpPr/>
            <p:nvPr/>
          </p:nvSpPr>
          <p:spPr>
            <a:xfrm>
              <a:off x="2216604" y="2582636"/>
              <a:ext cx="214539" cy="214539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D504006-311C-104B-756F-EB52DCBF2834}"/>
                </a:ext>
              </a:extLst>
            </p:cNvPr>
            <p:cNvSpPr/>
            <p:nvPr/>
          </p:nvSpPr>
          <p:spPr>
            <a:xfrm>
              <a:off x="2216604" y="3321730"/>
              <a:ext cx="214539" cy="214539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AE0195-60B1-AFC6-362C-0F5623606927}"/>
                </a:ext>
              </a:extLst>
            </p:cNvPr>
            <p:cNvSpPr/>
            <p:nvPr/>
          </p:nvSpPr>
          <p:spPr>
            <a:xfrm>
              <a:off x="2216604" y="3784992"/>
              <a:ext cx="214539" cy="214539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733134A-64EE-F784-38B0-EAF9136D7E06}"/>
                </a:ext>
              </a:extLst>
            </p:cNvPr>
            <p:cNvCxnSpPr/>
            <p:nvPr/>
          </p:nvCxnSpPr>
          <p:spPr>
            <a:xfrm>
              <a:off x="2155825" y="3428999"/>
              <a:ext cx="0" cy="57053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6EBE449-395F-97BB-F052-040571023CBB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3117850"/>
              <a:ext cx="0" cy="30726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47A5F1B-83FC-85DC-9EEA-4E14FF456B3C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2864983"/>
              <a:ext cx="0" cy="2435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A357F66-C891-7E05-AF45-021F9BF69419}"/>
                </a:ext>
              </a:extLst>
            </p:cNvPr>
            <p:cNvCxnSpPr>
              <a:cxnSpLocks/>
            </p:cNvCxnSpPr>
            <p:nvPr/>
          </p:nvCxnSpPr>
          <p:spPr>
            <a:xfrm>
              <a:off x="2155825" y="2621416"/>
              <a:ext cx="0" cy="2435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1050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79E1F-0444-6657-943A-CE65A560C581}"/>
              </a:ext>
            </a:extLst>
          </p:cNvPr>
          <p:cNvSpPr txBox="1"/>
          <p:nvPr/>
        </p:nvSpPr>
        <p:spPr>
          <a:xfrm>
            <a:off x="3048000" y="30994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C:\Users\kavol\OneDrive\Desktop\ReserachNotebook_CUDA\GPGPU_Research\MonteCarlo</a:t>
            </a:r>
          </a:p>
        </p:txBody>
      </p:sp>
    </p:spTree>
    <p:extLst>
      <p:ext uri="{BB962C8B-B14F-4D97-AF65-F5344CB8AC3E}">
        <p14:creationId xmlns:p14="http://schemas.microsoft.com/office/powerpoint/2010/main" val="9808987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18211</TotalTime>
  <Words>681</Words>
  <Application>Microsoft Office PowerPoint</Application>
  <PresentationFormat>Widescreen</PresentationFormat>
  <Paragraphs>138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Cambria Math</vt:lpstr>
      <vt:lpstr>Century Gothic</vt:lpstr>
      <vt:lpstr>Wingdings 3</vt:lpstr>
      <vt:lpstr>Ion</vt:lpstr>
      <vt:lpstr>Turbidity Meter Simulation</vt:lpstr>
      <vt:lpstr>The Experimental Setup</vt:lpstr>
      <vt:lpstr>Simulation Innerworkings</vt:lpstr>
      <vt:lpstr>PowerPoint Presentation</vt:lpstr>
      <vt:lpstr>Monte Carlo Simulation Result</vt:lpstr>
      <vt:lpstr>PowerPoint Presentation</vt:lpstr>
      <vt:lpstr>Angle test</vt:lpstr>
      <vt:lpstr>A better way</vt:lpstr>
      <vt:lpstr>Results for the off beam detector at 50 mm </vt:lpstr>
      <vt:lpstr>Results for the off beam detector at 50 mm continued</vt:lpstr>
      <vt:lpstr>Results on the face perpendicular to the beamline at 100mm</vt:lpstr>
      <vt:lpstr>What if we go higher off the beam?</vt:lpstr>
      <vt:lpstr>Sanity Checks</vt:lpstr>
      <vt:lpstr>Zero Scattering Check</vt:lpstr>
      <vt:lpstr>Absorption/Beer-Lambert Crosscheck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Kaan Volkan</dc:creator>
  <cp:lastModifiedBy>Kaan Volkan</cp:lastModifiedBy>
  <cp:revision>22</cp:revision>
  <dcterms:created xsi:type="dcterms:W3CDTF">2026-08-17T19:46:41Z</dcterms:created>
  <dcterms:modified xsi:type="dcterms:W3CDTF">2026-10-12T23:57:22Z</dcterms:modified>
</cp:coreProperties>
</file>